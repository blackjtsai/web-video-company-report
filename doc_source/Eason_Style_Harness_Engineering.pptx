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852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大家好，今天想跟大家分享我們團隊在 AI 輔助開發這條路上，這一年多來走出來的一個實踐方法。AI 開發有很多流派，沒有唯一的對與錯，這次分享的是我們自己走過的路，給大家當個參考。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在開始之前，想先說一個很多工程師都有的體驗：你丟一個需求給 AI，它回來的東西看起來有道理，但仔細一看，命名不對、架構歪了、或者超出你要的範圍。然後你花更多時間在修正 AI 的輸出，而不是在解決真正的問題。這個問題的根源不是 AI 的能力，而是我們跟 AI 互動的方式還停留在很早期的階段。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要理解我們的方法，先從 AI 工程這幾年的演進說起。第一個階段是 Prompt Engineering，大家最熟悉的：想辦法把問題問清楚，寫出好的 prompt，讓 AI 回答得更準確。第二個階段是 Context Engineering，Andrej Karpathy 提出的概念：一個 prompt 不夠，你需要把正確的資訊、文件、歷史記錄、工具定義全部填進 AI 的上下文視窗。第三個階段，也就是現在正在爆火的概念，是 Harness Engineering。它的問題更根本：你不只要問對問題、給對資訊，你要設計 AI 運作的整個環境。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Harness Engineering 的核心公式：Agent 等於 Model 加上 Harness。Model 是 AI 本身，這個你選定了就不太變。Harness 包含四個部分：工具層 — 你給 AI 配備了哪些技能和工具；約束層 — 告訴 AI 不能做什麼；記憶層 — AI 在執行任務時能參考什麼；回饋迴圈 — 每個關鍵節點有沒有機制來驗證結果。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Stripe 這家公司，在 2025 年下半年做了一個實驗：完全用 AI 來寫生產程式碼。5 個月內，7 位工程師監督整個過程，產出了大約 100 萬行程式碼、1,500 個 PR，都 merge 進了 production。這件事的關鍵不是他們用了更厲害的 AI 模型，而是他們花了大量時間設計 Harness。這就是 Harness Engineering 的核心價值：不是讓 AI 更聰明，而是讓 AI 在你設計的框架裡工作。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我們在 Portal 系統開發的過程中，遇到了這些問題。AI 寫出來的程式看起來沒錯，但 Table 命名跟我們的規範不一樣。UC 沒有正式文件，SA 跟 PM 各自的理解不太一樣，AI 只好自己猜。這些問題讓我意識到：問題不在 AI，在於我們沒有建立一個清楚的框架讓整個團隊（包含 AI）在裡面協作。</a:t>
            </a:r>
            <a:r>
              <a:rPr lang="en-US"/>
              <a:t>這就是 Eason-Style </a:t>
            </a:r>
            <a:r>
              <a:rPr lang="en-US" dirty="0"/>
              <a:t>開始形成的背景。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Eason-Style </a:t>
            </a:r>
            <a:r>
              <a:rPr lang="en-US" dirty="0"/>
              <a:t>的核心不是工具，是三個哲學。第一個，問題在紙上解決：在 AI 開始寫程式之前，我們要先對「做什麼」達成共識，用文件確認下來。第二個，每個迭代都有依據：AI 產出的每一份文件、每一行程式碼，都要能對應到一個明確的規格。第三個，AI 是協作者，不是黑盒子：AI 的每一個重要決策點，都有人介入確認。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讓我把 Eason-Style </a:t>
            </a:r>
            <a:r>
              <a:rPr lang="en-US" dirty="0"/>
              <a:t>和 Harness Engineering 對應起來，你會看到它們其實是同一件事的兩個切面。CLAUDE.md 是約束層，TAI-BUILDER 裡的 Skill 是工具層，UC 文件和架構藍圖是記憶層，OpenSpec 的完整流程是回饋迴圈。Harness Engineering </a:t>
            </a:r>
            <a:r>
              <a:rPr lang="en-US"/>
              <a:t>是骨架，Eason-Style </a:t>
            </a:r>
            <a:r>
              <a:rPr lang="en-US" dirty="0"/>
              <a:t>是讓骨架動起來的具體實作。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這張圖是整個閉環的全貌。從 PM 提出需求開始，SA 呼叫 SA Skill 自動產出 UC 草稿，SA 審閱確認後，進入 OpenSpec 的 propose 階段。然後是三方審核：PM 確認 proposal、SA 確認需求邊界、SD 確認架構設計。三方都沒問題才進 apply，PG 依據 tasks.md 逐項實作，QA 驗收後 archive 封存，進入下一個迭代。整個流程的關鍵在於：每一步都有依據，每一個節點都有人確認。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這套方法帶來的效益，對不同角色的感受不一樣。對工程師來說，任務清楚了；對 SA 和 SD，文件對齊了，口頭溝通變少；對長官和 PM，進度可見、AI 不亂跑、品質穩定。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最後想說的是，這套方法不是一個已經完成的產品，我們自己也還在路上。系統架構藍圖和 UC 主規格已經建立，OpenSpec 的開發環境也設置好了。但 TAI-BUILDER 裡的各個 Skill 還在持續打磨。Harness 的設計本來就是一個持續迭代的過程。今天分享這些，希望大家看到：AI 輔助開發是可以被系統化管理的，它不應該是一個靠直覺操作的黑盒子。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謝謝大家，開放提問。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Eason-Style 方法與哲學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Harness Engineering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如何實踐 AI 協作閉環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E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網站技術課  |  台灣大哥大資訊群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為什麼想分享這個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8046720" cy="27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4864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05840"/>
            <a:ext cx="7955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工具越來越普及，每個人都在用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但實際開發中，常遇到：AI 寫的東西跑偏、不符規範、要來回修改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這不是 AI 不夠強，而是我們還沒找到跟 AI 協作的正確姿勢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今天分享的是：我們怎麼解這道題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工程的演進：三個階段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8046720" cy="27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D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" y="2240280"/>
            <a:ext cx="2423160" cy="27432"/>
          </a:xfrm>
          <a:prstGeom prst="rect">
            <a:avLst/>
          </a:prstGeom>
          <a:solidFill>
            <a:srgbClr val="2D6A8C"/>
          </a:solidFill>
          <a:ln w="12700">
            <a:solidFill>
              <a:srgbClr val="2D6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340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核心問題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怎麼問對問題？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3364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寫好 prompt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2103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0128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10128" y="2240280"/>
            <a:ext cx="242316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340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核心問題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怎麼給對資訊？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10128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3364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動態填充上下文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2103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080760" y="960120"/>
            <a:ext cx="2651760" cy="3566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90488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0488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190488" y="2240280"/>
            <a:ext cx="2423160" cy="27432"/>
          </a:xfrm>
          <a:prstGeom prst="rect">
            <a:avLst/>
          </a:prstGeom>
          <a:solidFill>
            <a:srgbClr val="CCFFEE"/>
          </a:solidFill>
          <a:ln w="12700">
            <a:solidFill>
              <a:srgbClr val="CCFF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2340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核心問題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0488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怎麼設計對環境？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90488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0488" y="3364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 AI 運作的框架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每個階段都是對前一個階段的補足，不是取代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Harness Engineering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82296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1005840"/>
            <a:ext cx="5120640" cy="822960"/>
          </a:xfrm>
          <a:prstGeom prst="rect">
            <a:avLst/>
          </a:prstGeom>
          <a:solidFill>
            <a:srgbClr val="1E2D4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0" y="1005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=  Model  +  Harness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114800" cy="1051560"/>
          </a:xfrm>
          <a:prstGeom prst="rect">
            <a:avLst/>
          </a:prstGeom>
          <a:solidFill>
            <a:srgbClr val="1E2D4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工具層（Tools）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能用哪些技能與工具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2011680"/>
            <a:ext cx="4114800" cy="1051560"/>
          </a:xfrm>
          <a:prstGeom prst="rect">
            <a:avLst/>
          </a:prstGeom>
          <a:solidFill>
            <a:srgbClr val="1E2D4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約束層（Constraints）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不能做什麼、必須遵守什麼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4114800" cy="1051560"/>
          </a:xfrm>
          <a:prstGeom prst="rect">
            <a:avLst/>
          </a:prstGeom>
          <a:solidFill>
            <a:srgbClr val="1E2D4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記憶層（Memory）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記得什麼、能參考什麼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3246120"/>
            <a:ext cx="4114800" cy="1051560"/>
          </a:xfrm>
          <a:prstGeom prst="rect">
            <a:avLst/>
          </a:prstGeom>
          <a:solidFill>
            <a:srgbClr val="1E2D4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回饋迴圈（Feedback Loop）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每個節點如何驗證與修正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「你設計的不是 prompt，是 AI 運作的環境」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真實案例：Stripe 怎麼做到的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82296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874520" cy="2377440"/>
          </a:xfrm>
          <a:prstGeom prst="rect">
            <a:avLst/>
          </a:prstGeom>
          <a:solidFill>
            <a:srgbClr val="1E2D4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完整開發週期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1874520" cy="2377440"/>
          </a:xfrm>
          <a:prstGeom prst="rect">
            <a:avLst/>
          </a:prstGeom>
          <a:solidFill>
            <a:srgbClr val="1E2D4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188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60320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位工程師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4505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負責監督與協調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874520" cy="2377440"/>
          </a:xfrm>
          <a:prstGeom prst="rect">
            <a:avLst/>
          </a:prstGeom>
          <a:solidFill>
            <a:srgbClr val="1E2D4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188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100萬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0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行程式碼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4505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全部由 AI 生成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1874520" cy="2377440"/>
          </a:xfrm>
          <a:prstGeom prst="rect">
            <a:avLst/>
          </a:prstGeom>
          <a:solidFill>
            <a:srgbClr val="1E2D4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188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766560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 PR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24505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進 production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1E2D4E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靠的不是更好的 prompt — 靠的是精心設計的 Harness 環境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Eason-Style 的誕生背景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8046720" cy="27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3291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我們在 Portal 系統開發過程中遇到的真實問題：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7955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08760"/>
            <a:ext cx="64008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命名不一致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產出的 Table 命名不符合系統規範，每次都要重新解釋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258568"/>
            <a:ext cx="7955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258568"/>
            <a:ext cx="64008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無依據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5786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需求沒有正式文件，開發到一半方向就跑偏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008376"/>
            <a:ext cx="7955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008376"/>
            <a:ext cx="64008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多方意見不同步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3284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/ SA / SD 在不同時間點說不同的話，AI 不知道聽誰的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758184"/>
            <a:ext cx="7955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758184"/>
            <a:ext cx="64008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803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無法追溯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0782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每個迭代完成後，沒有文件可以查看當初的決策依據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4572000"/>
            <a:ext cx="79552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720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結論：我們需要的不是更好的 prompt，是一套開發協作的框架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Eason-Style 的核心哲學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8046720" cy="27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9768" y="1691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問題在紙上解決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" y="2331720"/>
            <a:ext cx="2423160" cy="27432"/>
          </a:xfrm>
          <a:prstGeom prst="rect">
            <a:avLst/>
          </a:prstGeom>
          <a:solidFill>
            <a:srgbClr val="D8E8F0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450592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先定規格，再寫程式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邊界在開始前就清楚，不在程式碼裡猜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65176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1691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每個迭代都有依據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10128" y="2331720"/>
            <a:ext cx="2423160" cy="27432"/>
          </a:xfrm>
          <a:prstGeom prst="rect">
            <a:avLst/>
          </a:prstGeom>
          <a:solidFill>
            <a:srgbClr val="D8E8F0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450592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不讓 AI 憑空發揮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每次產出都有文件支撐，可查可追溯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05840"/>
            <a:ext cx="265176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90488" y="1691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是協作者，不是黑盒子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0488" y="2331720"/>
            <a:ext cx="2423160" cy="27432"/>
          </a:xfrm>
          <a:prstGeom prst="rect">
            <a:avLst/>
          </a:prstGeom>
          <a:solidFill>
            <a:srgbClr val="D8E8F0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2450592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每個節點都有人確認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的決定可以被追溯與修正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Eason-Style 如何對應 Harness Engineering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8046720" cy="27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2860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的層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005840"/>
            <a:ext cx="22860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005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Eason-Style 實作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49240" y="1005840"/>
            <a:ext cx="33375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0058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54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約束層（Constraints）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1554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命名規範、禁止行為、防幻覺規則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212848"/>
            <a:ext cx="8229600" cy="685800"/>
          </a:xfrm>
          <a:prstGeom prst="rect">
            <a:avLst/>
          </a:prstGeom>
          <a:solidFill>
            <a:srgbClr val="EEF4F8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04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工具層（Tools）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2304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TAI-BUILDER / Skills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2304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Skill / Web / API / Backend Skill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540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記憶層（Memory）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0" y="30540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文件 + 架構藍圖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30540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系統架構、Table 設計、UC 編號規範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12464"/>
            <a:ext cx="8229600" cy="685800"/>
          </a:xfrm>
          <a:prstGeom prst="rect">
            <a:avLst/>
          </a:prstGeom>
          <a:solidFill>
            <a:srgbClr val="EEF4F8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03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回饋迴圈（Feedback）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71800" y="38039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流程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38039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→ 審核 → apply → QA → archive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</a:t>
            </a:r>
            <a:r>
              <a:rPr lang="en-US" sz="1300" i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是骨架</a:t>
            </a: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Eason-Style 是讓骨架動起來的肌肉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閉環是怎麼運作的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8046720" cy="27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554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提需求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0" y="1005840"/>
            <a:ext cx="1554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44475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Skill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 UC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1005840"/>
            <a:ext cx="1554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144475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審閱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100584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C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1005840"/>
            <a:ext cx="1554480" cy="347472"/>
          </a:xfrm>
          <a:prstGeom prst="rect">
            <a:avLst/>
          </a:prstGeom>
          <a:solidFill>
            <a:srgbClr val="2C7A3A"/>
          </a:solidFill>
          <a:ln w="12700">
            <a:solidFill>
              <a:srgbClr val="2C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144475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1005840"/>
            <a:ext cx="1645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3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3760" y="1005840"/>
            <a:ext cx="1645920" cy="347472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1444752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三方審核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3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108960"/>
            <a:ext cx="1554480" cy="347472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154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54787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011680" y="310896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C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0" y="3108960"/>
            <a:ext cx="1554480" cy="347472"/>
          </a:xfrm>
          <a:prstGeom prst="rect">
            <a:avLst/>
          </a:prstGeom>
          <a:solidFill>
            <a:srgbClr val="2C7A3A"/>
          </a:solidFill>
          <a:ln w="12700">
            <a:solidFill>
              <a:srgbClr val="2C7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84832" y="3154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354787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驗收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49040" y="310896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49040" y="3108960"/>
            <a:ext cx="1554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22192" y="3154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40480" y="3547872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封存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0" y="3108960"/>
            <a:ext cx="3383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0" y="3108960"/>
            <a:ext cx="338328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54787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下一個迭代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783080" y="1691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3520440" y="1691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257800" y="1691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95160" y="1691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7724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↓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783080" y="3794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3520440" y="3794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257800" y="3794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5486400" y="960120"/>
            <a:ext cx="1600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B3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實際效益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8046720" cy="27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332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工程師（PG）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" y="1627632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任務邊界清楚，不用猜需求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有規格文件可以對照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減少「做了才發現做錯」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517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0332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/ SD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10128" y="1627632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文件即溝通，減少口頭反覆確認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每次變更都有可追溯的紀錄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設計問題在前期就解決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005840"/>
            <a:ext cx="2651760" cy="50292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103327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長官 / PM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0488" y="1627632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每個迭代都有產出文件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行為在框架內，不會亂跑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品質穩定，進度可見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還在路上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82296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solidFill>
            <a:srgbClr val="1E2D4E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07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系統架構藍圖與 UC 主規格已建立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594360"/>
          </a:xfrm>
          <a:prstGeom prst="rect">
            <a:avLst/>
          </a:prstGeom>
          <a:solidFill>
            <a:srgbClr val="1E2D4E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0756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開發環境已初始化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34056"/>
            <a:ext cx="8229600" cy="594360"/>
          </a:xfrm>
          <a:prstGeom prst="rect">
            <a:avLst/>
          </a:prstGeom>
          <a:solidFill>
            <a:srgbClr val="1E2D4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8072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82549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TAI-BUILDER Skill 持續完善中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83864"/>
            <a:ext cx="8229600" cy="594360"/>
          </a:xfrm>
          <a:prstGeom prst="rect">
            <a:avLst/>
          </a:prstGeom>
          <a:solidFill>
            <a:srgbClr val="1E2D4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5570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575304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共用規範制定中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1E2D4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這套方法論仍在演進 — 歡迎各處的工程師與團隊交流不同的做法與經驗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歡迎提問  ·  交流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E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謝謝大家的聆聽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827</Words>
  <Application>Microsoft Office PowerPoint</Application>
  <PresentationFormat>如螢幕大小 (16:9)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Tsai-Style × Harness Engineering</dc:title>
  <dc:subject>PptxGenJS Presentation</dc:subject>
  <dc:creator>PptxGenJS</dc:creator>
  <cp:lastModifiedBy>育興 蔡</cp:lastModifiedBy>
  <cp:revision>2</cp:revision>
  <dcterms:created xsi:type="dcterms:W3CDTF">2026-05-01T13:37:57Z</dcterms:created>
  <dcterms:modified xsi:type="dcterms:W3CDTF">2026-05-03T17:53:26Z</dcterms:modified>
</cp:coreProperties>
</file>