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4"/>
  </p:sldMasterIdLst>
  <p:notesMasterIdLst>
    <p:notesMasterId r:id="rId97"/>
  </p:notesMasterIdLst>
  <p:handoutMasterIdLst>
    <p:handoutMasterId r:id="rId98"/>
  </p:handoutMasterIdLst>
  <p:sldIdLst>
    <p:sldId id="286" r:id="rId5"/>
    <p:sldId id="2147476255" r:id="rId6"/>
    <p:sldId id="2147476307" r:id="rId7"/>
    <p:sldId id="2147476218" r:id="rId8"/>
    <p:sldId id="2147476296" r:id="rId9"/>
    <p:sldId id="3444" r:id="rId10"/>
    <p:sldId id="2147476221" r:id="rId11"/>
    <p:sldId id="2147476283" r:id="rId12"/>
    <p:sldId id="2147476282" r:id="rId13"/>
    <p:sldId id="2147476237" r:id="rId14"/>
    <p:sldId id="2147476277" r:id="rId15"/>
    <p:sldId id="2147476250" r:id="rId16"/>
    <p:sldId id="2147476230" r:id="rId17"/>
    <p:sldId id="2147476233" r:id="rId18"/>
    <p:sldId id="2147476234" r:id="rId19"/>
    <p:sldId id="2147476224" r:id="rId20"/>
    <p:sldId id="2147476226" r:id="rId21"/>
    <p:sldId id="2147476272" r:id="rId22"/>
    <p:sldId id="2147476227" r:id="rId23"/>
    <p:sldId id="2147476228" r:id="rId24"/>
    <p:sldId id="2147476229" r:id="rId25"/>
    <p:sldId id="2147476235" r:id="rId26"/>
    <p:sldId id="2147476238" r:id="rId27"/>
    <p:sldId id="2147476239" r:id="rId28"/>
    <p:sldId id="2147476241" r:id="rId29"/>
    <p:sldId id="2147476308" r:id="rId30"/>
    <p:sldId id="2147476240" r:id="rId31"/>
    <p:sldId id="2147476242" r:id="rId32"/>
    <p:sldId id="2147476243" r:id="rId33"/>
    <p:sldId id="2147476244" r:id="rId34"/>
    <p:sldId id="2147476249" r:id="rId35"/>
    <p:sldId id="2147476258" r:id="rId36"/>
    <p:sldId id="2147476279" r:id="rId37"/>
    <p:sldId id="2147476253" r:id="rId38"/>
    <p:sldId id="2147476268" r:id="rId39"/>
    <p:sldId id="2147476254" r:id="rId40"/>
    <p:sldId id="2147476259" r:id="rId41"/>
    <p:sldId id="2147476260" r:id="rId42"/>
    <p:sldId id="2147476264" r:id="rId43"/>
    <p:sldId id="2147476266" r:id="rId44"/>
    <p:sldId id="2147476273" r:id="rId45"/>
    <p:sldId id="2147476274" r:id="rId46"/>
    <p:sldId id="2147476275" r:id="rId47"/>
    <p:sldId id="2147476284" r:id="rId48"/>
    <p:sldId id="2147476285" r:id="rId49"/>
    <p:sldId id="2147476286" r:id="rId50"/>
    <p:sldId id="2147476287" r:id="rId51"/>
    <p:sldId id="2147476289" r:id="rId52"/>
    <p:sldId id="2147476291" r:id="rId53"/>
    <p:sldId id="2147476292" r:id="rId54"/>
    <p:sldId id="2147476247" r:id="rId55"/>
    <p:sldId id="2147476245" r:id="rId56"/>
    <p:sldId id="2147476246" r:id="rId57"/>
    <p:sldId id="2147476252" r:id="rId58"/>
    <p:sldId id="2147476262" r:id="rId59"/>
    <p:sldId id="2147476269" r:id="rId60"/>
    <p:sldId id="2147476257" r:id="rId61"/>
    <p:sldId id="2147476276" r:id="rId62"/>
    <p:sldId id="2147476278" r:id="rId63"/>
    <p:sldId id="2147476288" r:id="rId64"/>
    <p:sldId id="2147476293" r:id="rId65"/>
    <p:sldId id="2147476294" r:id="rId66"/>
    <p:sldId id="2147476295" r:id="rId67"/>
    <p:sldId id="2147476297" r:id="rId68"/>
    <p:sldId id="2147476306" r:id="rId69"/>
    <p:sldId id="2147476309" r:id="rId70"/>
    <p:sldId id="2147476298" r:id="rId71"/>
    <p:sldId id="2147476300" r:id="rId72"/>
    <p:sldId id="2147476301" r:id="rId73"/>
    <p:sldId id="2147476303" r:id="rId74"/>
    <p:sldId id="2147476304" r:id="rId75"/>
    <p:sldId id="3464" r:id="rId76"/>
    <p:sldId id="2147476256" r:id="rId77"/>
    <p:sldId id="2147476270" r:id="rId78"/>
    <p:sldId id="2147476271" r:id="rId79"/>
    <p:sldId id="2147476280" r:id="rId80"/>
    <p:sldId id="2147476281" r:id="rId81"/>
    <p:sldId id="3465" r:id="rId82"/>
    <p:sldId id="2147476225" r:id="rId83"/>
    <p:sldId id="3438" r:id="rId84"/>
    <p:sldId id="3440" r:id="rId85"/>
    <p:sldId id="3391" r:id="rId86"/>
    <p:sldId id="3446" r:id="rId87"/>
    <p:sldId id="2147476219" r:id="rId88"/>
    <p:sldId id="3448" r:id="rId89"/>
    <p:sldId id="3447" r:id="rId90"/>
    <p:sldId id="3449" r:id="rId91"/>
    <p:sldId id="3450" r:id="rId92"/>
    <p:sldId id="3451" r:id="rId93"/>
    <p:sldId id="3452" r:id="rId94"/>
    <p:sldId id="3453" r:id="rId95"/>
    <p:sldId id="3454" r:id="rId96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9437"/>
    <a:srgbClr val="F68430"/>
    <a:srgbClr val="FF6700"/>
    <a:srgbClr val="FF6240"/>
    <a:srgbClr val="EC6A28"/>
    <a:srgbClr val="BF5721"/>
    <a:srgbClr val="AF511F"/>
    <a:srgbClr val="CD5E24"/>
    <a:srgbClr val="DEEBF7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407BD-ADD9-1D26-26AA-F967E39F158F}" v="116" dt="2026-04-08T08:01:19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tableStyles" Target="tableStyle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notesMaster" Target="notesMasters/notesMaster1.xml"/><Relationship Id="rId104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ason Tsai ( 蔡育興 )" userId="6d7541d5-9ac5-47e7-b2ff-83fa73f8c2c7" providerId="ADAL" clId="{629B16A5-37EF-4F23-A445-7BFED6907DEE}"/>
    <pc:docChg chg="undo custSel addSld delSld modSld">
      <pc:chgData name="Eason Tsai ( 蔡育興 )" userId="6d7541d5-9ac5-47e7-b2ff-83fa73f8c2c7" providerId="ADAL" clId="{629B16A5-37EF-4F23-A445-7BFED6907DEE}" dt="2026-04-08T07:17:05.428" v="640" actId="20577"/>
      <pc:docMkLst>
        <pc:docMk/>
      </pc:docMkLst>
      <pc:sldChg chg="addSp modSp mod">
        <pc:chgData name="Eason Tsai ( 蔡育興 )" userId="6d7541d5-9ac5-47e7-b2ff-83fa73f8c2c7" providerId="ADAL" clId="{629B16A5-37EF-4F23-A445-7BFED6907DEE}" dt="2026-04-08T06:44:55.778" v="611" actId="207"/>
        <pc:sldMkLst>
          <pc:docMk/>
          <pc:sldMk cId="905742654" sldId="2147476239"/>
        </pc:sldMkLst>
        <pc:spChg chg="add mod">
          <ac:chgData name="Eason Tsai ( 蔡育興 )" userId="6d7541d5-9ac5-47e7-b2ff-83fa73f8c2c7" providerId="ADAL" clId="{629B16A5-37EF-4F23-A445-7BFED6907DEE}" dt="2026-04-08T06:44:55.778" v="611" actId="207"/>
          <ac:spMkLst>
            <pc:docMk/>
            <pc:sldMk cId="905742654" sldId="2147476239"/>
            <ac:spMk id="4" creationId="{0D76D9F9-4A05-6957-FB01-482F293DC317}"/>
          </ac:spMkLst>
        </pc:spChg>
      </pc:sldChg>
      <pc:sldChg chg="addSp modSp">
        <pc:chgData name="Eason Tsai ( 蔡育興 )" userId="6d7541d5-9ac5-47e7-b2ff-83fa73f8c2c7" providerId="ADAL" clId="{629B16A5-37EF-4F23-A445-7BFED6907DEE}" dt="2026-04-08T06:45:11.888" v="615"/>
        <pc:sldMkLst>
          <pc:docMk/>
          <pc:sldMk cId="2159921040" sldId="2147476240"/>
        </pc:sldMkLst>
        <pc:spChg chg="add mod">
          <ac:chgData name="Eason Tsai ( 蔡育興 )" userId="6d7541d5-9ac5-47e7-b2ff-83fa73f8c2c7" providerId="ADAL" clId="{629B16A5-37EF-4F23-A445-7BFED6907DEE}" dt="2026-04-08T06:45:11.888" v="615"/>
          <ac:spMkLst>
            <pc:docMk/>
            <pc:sldMk cId="2159921040" sldId="2147476240"/>
            <ac:spMk id="2" creationId="{ADCA1329-E326-1F42-417A-4813D7DE4C21}"/>
          </ac:spMkLst>
        </pc:spChg>
      </pc:sldChg>
      <pc:sldChg chg="addSp modSp mod">
        <pc:chgData name="Eason Tsai ( 蔡育興 )" userId="6d7541d5-9ac5-47e7-b2ff-83fa73f8c2c7" providerId="ADAL" clId="{629B16A5-37EF-4F23-A445-7BFED6907DEE}" dt="2026-04-08T06:45:06.203" v="614"/>
        <pc:sldMkLst>
          <pc:docMk/>
          <pc:sldMk cId="887314030" sldId="2147476241"/>
        </pc:sldMkLst>
        <pc:spChg chg="add mod">
          <ac:chgData name="Eason Tsai ( 蔡育興 )" userId="6d7541d5-9ac5-47e7-b2ff-83fa73f8c2c7" providerId="ADAL" clId="{629B16A5-37EF-4F23-A445-7BFED6907DEE}" dt="2026-04-08T06:45:06.203" v="614"/>
          <ac:spMkLst>
            <pc:docMk/>
            <pc:sldMk cId="887314030" sldId="2147476241"/>
            <ac:spMk id="2" creationId="{4630E00D-F74F-4036-1B68-E68DBE3510DC}"/>
          </ac:spMkLst>
        </pc:spChg>
        <pc:spChg chg="mod">
          <ac:chgData name="Eason Tsai ( 蔡育興 )" userId="6d7541d5-9ac5-47e7-b2ff-83fa73f8c2c7" providerId="ADAL" clId="{629B16A5-37EF-4F23-A445-7BFED6907DEE}" dt="2026-04-08T06:45:01.440" v="613" actId="20577"/>
          <ac:spMkLst>
            <pc:docMk/>
            <pc:sldMk cId="887314030" sldId="2147476241"/>
            <ac:spMk id="22" creationId="{D583245A-D564-1B12-1C93-75C3E3BAF9F3}"/>
          </ac:spMkLst>
        </pc:spChg>
      </pc:sldChg>
      <pc:sldChg chg="modSp mod">
        <pc:chgData name="Eason Tsai ( 蔡育興 )" userId="6d7541d5-9ac5-47e7-b2ff-83fa73f8c2c7" providerId="ADAL" clId="{629B16A5-37EF-4F23-A445-7BFED6907DEE}" dt="2026-04-08T07:14:40.051" v="628" actId="6549"/>
        <pc:sldMkLst>
          <pc:docMk/>
          <pc:sldMk cId="3885637748" sldId="2147476287"/>
        </pc:sldMkLst>
        <pc:spChg chg="mod">
          <ac:chgData name="Eason Tsai ( 蔡育興 )" userId="6d7541d5-9ac5-47e7-b2ff-83fa73f8c2c7" providerId="ADAL" clId="{629B16A5-37EF-4F23-A445-7BFED6907DEE}" dt="2026-04-08T07:14:40.051" v="628" actId="6549"/>
          <ac:spMkLst>
            <pc:docMk/>
            <pc:sldMk cId="3885637748" sldId="2147476287"/>
            <ac:spMk id="3" creationId="{F9F141E3-1E6F-0CA2-5C6B-2DD65A6D6313}"/>
          </ac:spMkLst>
        </pc:spChg>
      </pc:sldChg>
      <pc:sldChg chg="delSp modSp add mod delAnim">
        <pc:chgData name="Eason Tsai ( 蔡育興 )" userId="6d7541d5-9ac5-47e7-b2ff-83fa73f8c2c7" providerId="ADAL" clId="{629B16A5-37EF-4F23-A445-7BFED6907DEE}" dt="2026-04-08T06:46:04.923" v="627" actId="478"/>
        <pc:sldMkLst>
          <pc:docMk/>
          <pc:sldMk cId="3703011156" sldId="2147476308"/>
        </pc:sldMkLst>
        <pc:spChg chg="mod">
          <ac:chgData name="Eason Tsai ( 蔡育興 )" userId="6d7541d5-9ac5-47e7-b2ff-83fa73f8c2c7" providerId="ADAL" clId="{629B16A5-37EF-4F23-A445-7BFED6907DEE}" dt="2026-04-08T06:45:41.040" v="621" actId="20577"/>
          <ac:spMkLst>
            <pc:docMk/>
            <pc:sldMk cId="3703011156" sldId="2147476308"/>
            <ac:spMk id="3" creationId="{2CDFAB72-A973-8500-06BA-171F4F4C2682}"/>
          </ac:spMkLst>
        </pc:spChg>
        <pc:spChg chg="del">
          <ac:chgData name="Eason Tsai ( 蔡育興 )" userId="6d7541d5-9ac5-47e7-b2ff-83fa73f8c2c7" providerId="ADAL" clId="{629B16A5-37EF-4F23-A445-7BFED6907DEE}" dt="2026-04-08T06:45:38.790" v="620" actId="478"/>
          <ac:spMkLst>
            <pc:docMk/>
            <pc:sldMk cId="3703011156" sldId="2147476308"/>
            <ac:spMk id="4" creationId="{EB366F24-9C49-A3E7-39D8-B6FF8F90CA12}"/>
          </ac:spMkLst>
        </pc:spChg>
        <pc:spChg chg="del">
          <ac:chgData name="Eason Tsai ( 蔡育興 )" userId="6d7541d5-9ac5-47e7-b2ff-83fa73f8c2c7" providerId="ADAL" clId="{629B16A5-37EF-4F23-A445-7BFED6907DEE}" dt="2026-04-08T06:45:38.790" v="620" actId="478"/>
          <ac:spMkLst>
            <pc:docMk/>
            <pc:sldMk cId="3703011156" sldId="2147476308"/>
            <ac:spMk id="5" creationId="{5E57854D-D48C-EEF4-7C11-9537484AEB4B}"/>
          </ac:spMkLst>
        </pc:spChg>
        <pc:spChg chg="del">
          <ac:chgData name="Eason Tsai ( 蔡育興 )" userId="6d7541d5-9ac5-47e7-b2ff-83fa73f8c2c7" providerId="ADAL" clId="{629B16A5-37EF-4F23-A445-7BFED6907DEE}" dt="2026-04-08T06:46:04.923" v="627" actId="478"/>
          <ac:spMkLst>
            <pc:docMk/>
            <pc:sldMk cId="3703011156" sldId="2147476308"/>
            <ac:spMk id="24" creationId="{BDB219CB-25A9-E81B-B6AC-3DCD96E1ABC1}"/>
          </ac:spMkLst>
        </pc:spChg>
        <pc:spChg chg="del">
          <ac:chgData name="Eason Tsai ( 蔡育興 )" userId="6d7541d5-9ac5-47e7-b2ff-83fa73f8c2c7" providerId="ADAL" clId="{629B16A5-37EF-4F23-A445-7BFED6907DEE}" dt="2026-04-08T06:46:02.121" v="622" actId="478"/>
          <ac:spMkLst>
            <pc:docMk/>
            <pc:sldMk cId="3703011156" sldId="2147476308"/>
            <ac:spMk id="25" creationId="{83DFE16F-2EA4-549D-7AAE-8685F8299317}"/>
          </ac:spMkLst>
        </pc:spChg>
        <pc:spChg chg="del">
          <ac:chgData name="Eason Tsai ( 蔡育興 )" userId="6d7541d5-9ac5-47e7-b2ff-83fa73f8c2c7" providerId="ADAL" clId="{629B16A5-37EF-4F23-A445-7BFED6907DEE}" dt="2026-04-08T06:46:02.763" v="623" actId="478"/>
          <ac:spMkLst>
            <pc:docMk/>
            <pc:sldMk cId="3703011156" sldId="2147476308"/>
            <ac:spMk id="26" creationId="{47993A8F-2FFB-8CB7-57B0-E3CDBE6E078A}"/>
          </ac:spMkLst>
        </pc:spChg>
        <pc:spChg chg="del">
          <ac:chgData name="Eason Tsai ( 蔡育興 )" userId="6d7541d5-9ac5-47e7-b2ff-83fa73f8c2c7" providerId="ADAL" clId="{629B16A5-37EF-4F23-A445-7BFED6907DEE}" dt="2026-04-08T06:46:03.747" v="625" actId="478"/>
          <ac:spMkLst>
            <pc:docMk/>
            <pc:sldMk cId="3703011156" sldId="2147476308"/>
            <ac:spMk id="27" creationId="{46E59300-FE1B-5C11-0B81-C6A24F48707A}"/>
          </ac:spMkLst>
        </pc:spChg>
        <pc:spChg chg="del">
          <ac:chgData name="Eason Tsai ( 蔡育興 )" userId="6d7541d5-9ac5-47e7-b2ff-83fa73f8c2c7" providerId="ADAL" clId="{629B16A5-37EF-4F23-A445-7BFED6907DEE}" dt="2026-04-08T06:46:04.275" v="626" actId="478"/>
          <ac:spMkLst>
            <pc:docMk/>
            <pc:sldMk cId="3703011156" sldId="2147476308"/>
            <ac:spMk id="28" creationId="{8BCBB94F-A9E8-3E82-2AEA-19FC83EA0749}"/>
          </ac:spMkLst>
        </pc:spChg>
        <pc:spChg chg="del">
          <ac:chgData name="Eason Tsai ( 蔡育興 )" userId="6d7541d5-9ac5-47e7-b2ff-83fa73f8c2c7" providerId="ADAL" clId="{629B16A5-37EF-4F23-A445-7BFED6907DEE}" dt="2026-04-08T06:46:03.197" v="624" actId="478"/>
          <ac:spMkLst>
            <pc:docMk/>
            <pc:sldMk cId="3703011156" sldId="2147476308"/>
            <ac:spMk id="29" creationId="{8E9ED893-A95C-52C9-17AD-8AD6004CD4E5}"/>
          </ac:spMkLst>
        </pc:spChg>
        <pc:graphicFrameChg chg="del">
          <ac:chgData name="Eason Tsai ( 蔡育興 )" userId="6d7541d5-9ac5-47e7-b2ff-83fa73f8c2c7" providerId="ADAL" clId="{629B16A5-37EF-4F23-A445-7BFED6907DEE}" dt="2026-04-08T06:45:38.790" v="620" actId="478"/>
          <ac:graphicFrameMkLst>
            <pc:docMk/>
            <pc:sldMk cId="3703011156" sldId="2147476308"/>
            <ac:graphicFrameMk id="17" creationId="{8A2C0710-16B4-4080-6F40-FB888F53D601}"/>
          </ac:graphicFrameMkLst>
        </pc:graphicFrameChg>
      </pc:sldChg>
      <pc:sldChg chg="delSp modSp add mod delAnim">
        <pc:chgData name="Eason Tsai ( 蔡育興 )" userId="6d7541d5-9ac5-47e7-b2ff-83fa73f8c2c7" providerId="ADAL" clId="{629B16A5-37EF-4F23-A445-7BFED6907DEE}" dt="2026-04-08T07:17:05.428" v="640" actId="20577"/>
        <pc:sldMkLst>
          <pc:docMk/>
          <pc:sldMk cId="1510605163" sldId="2147476309"/>
        </pc:sldMkLst>
        <pc:spChg chg="mod">
          <ac:chgData name="Eason Tsai ( 蔡育興 )" userId="6d7541d5-9ac5-47e7-b2ff-83fa73f8c2c7" providerId="ADAL" clId="{629B16A5-37EF-4F23-A445-7BFED6907DEE}" dt="2026-04-08T07:17:05.428" v="640" actId="20577"/>
          <ac:spMkLst>
            <pc:docMk/>
            <pc:sldMk cId="1510605163" sldId="2147476309"/>
            <ac:spMk id="3" creationId="{877E872F-BACC-887A-A205-482DD5DA2844}"/>
          </ac:spMkLst>
        </pc:spChg>
        <pc:spChg chg="del">
          <ac:chgData name="Eason Tsai ( 蔡育興 )" userId="6d7541d5-9ac5-47e7-b2ff-83fa73f8c2c7" providerId="ADAL" clId="{629B16A5-37EF-4F23-A445-7BFED6907DEE}" dt="2026-04-08T07:17:00.913" v="639" actId="478"/>
          <ac:spMkLst>
            <pc:docMk/>
            <pc:sldMk cId="1510605163" sldId="2147476309"/>
            <ac:spMk id="4" creationId="{25887EC1-8F20-2CCB-4368-440742E45004}"/>
          </ac:spMkLst>
        </pc:spChg>
        <pc:spChg chg="del">
          <ac:chgData name="Eason Tsai ( 蔡育興 )" userId="6d7541d5-9ac5-47e7-b2ff-83fa73f8c2c7" providerId="ADAL" clId="{629B16A5-37EF-4F23-A445-7BFED6907DEE}" dt="2026-04-08T07:17:00.913" v="639" actId="478"/>
          <ac:spMkLst>
            <pc:docMk/>
            <pc:sldMk cId="1510605163" sldId="2147476309"/>
            <ac:spMk id="5" creationId="{49A44EAE-0FF8-491B-E499-C8D2776F9462}"/>
          </ac:spMkLst>
        </pc:spChg>
        <pc:spChg chg="del">
          <ac:chgData name="Eason Tsai ( 蔡育興 )" userId="6d7541d5-9ac5-47e7-b2ff-83fa73f8c2c7" providerId="ADAL" clId="{629B16A5-37EF-4F23-A445-7BFED6907DEE}" dt="2026-04-08T07:17:00.913" v="639" actId="478"/>
          <ac:spMkLst>
            <pc:docMk/>
            <pc:sldMk cId="1510605163" sldId="2147476309"/>
            <ac:spMk id="6" creationId="{D9A0C796-7BB1-A07F-C858-4695B0F3453B}"/>
          </ac:spMkLst>
        </pc:spChg>
        <pc:graphicFrameChg chg="del">
          <ac:chgData name="Eason Tsai ( 蔡育興 )" userId="6d7541d5-9ac5-47e7-b2ff-83fa73f8c2c7" providerId="ADAL" clId="{629B16A5-37EF-4F23-A445-7BFED6907DEE}" dt="2026-04-08T07:17:00.913" v="639" actId="478"/>
          <ac:graphicFrameMkLst>
            <pc:docMk/>
            <pc:sldMk cId="1510605163" sldId="2147476309"/>
            <ac:graphicFrameMk id="7" creationId="{3A961D60-5CC2-C8A2-63F9-9C8E70BEB702}"/>
          </ac:graphicFrameMkLst>
        </pc:graphicFrameChg>
      </pc:sldChg>
      <pc:sldChg chg="add del">
        <pc:chgData name="Eason Tsai ( 蔡育興 )" userId="6d7541d5-9ac5-47e7-b2ff-83fa73f8c2c7" providerId="ADAL" clId="{629B16A5-37EF-4F23-A445-7BFED6907DEE}" dt="2026-04-08T06:45:31.184" v="618"/>
        <pc:sldMkLst>
          <pc:docMk/>
          <pc:sldMk cId="4267019642" sldId="2147476309"/>
        </pc:sldMkLst>
      </pc:sldChg>
    </pc:docChg>
  </pc:docChgLst>
  <pc:docChgLst>
    <pc:chgData name="Jason Wang ( 王志雄 )" userId="S::jasonwang@taiwanmobile.com::5893e254-ee6d-4ca3-ba1a-04867a86378d" providerId="AD" clId="Web-{352407BD-ADD9-1D26-26AA-F967E39F158F}"/>
    <pc:docChg chg="modSld">
      <pc:chgData name="Jason Wang ( 王志雄 )" userId="S::jasonwang@taiwanmobile.com::5893e254-ee6d-4ca3-ba1a-04867a86378d" providerId="AD" clId="Web-{352407BD-ADD9-1D26-26AA-F967E39F158F}" dt="2026-04-08T08:00:10.118" v="107"/>
      <pc:docMkLst>
        <pc:docMk/>
      </pc:docMkLst>
      <pc:sldChg chg="addSp delSp modSp addAnim">
        <pc:chgData name="Jason Wang ( 王志雄 )" userId="S::jasonwang@taiwanmobile.com::5893e254-ee6d-4ca3-ba1a-04867a86378d" providerId="AD" clId="Web-{352407BD-ADD9-1D26-26AA-F967E39F158F}" dt="2026-04-08T08:00:10.118" v="107"/>
        <pc:sldMkLst>
          <pc:docMk/>
          <pc:sldMk cId="1510605163" sldId="2147476309"/>
        </pc:sldMkLst>
        <pc:spChg chg="add del mod">
          <ac:chgData name="Jason Wang ( 王志雄 )" userId="S::jasonwang@taiwanmobile.com::5893e254-ee6d-4ca3-ba1a-04867a86378d" providerId="AD" clId="Web-{352407BD-ADD9-1D26-26AA-F967E39F158F}" dt="2026-04-08T07:23:18.207" v="7"/>
          <ac:spMkLst>
            <pc:docMk/>
            <pc:sldMk cId="1510605163" sldId="2147476309"/>
            <ac:spMk id="2" creationId="{AEFFB452-04C1-54BF-8634-0F7981E7C6BA}"/>
          </ac:spMkLst>
        </pc:spChg>
        <pc:spChg chg="mod">
          <ac:chgData name="Jason Wang ( 王志雄 )" userId="S::jasonwang@taiwanmobile.com::5893e254-ee6d-4ca3-ba1a-04867a86378d" providerId="AD" clId="Web-{352407BD-ADD9-1D26-26AA-F967E39F158F}" dt="2026-04-08T07:22:22.061" v="3" actId="20577"/>
          <ac:spMkLst>
            <pc:docMk/>
            <pc:sldMk cId="1510605163" sldId="2147476309"/>
            <ac:spMk id="3" creationId="{877E872F-BACC-887A-A205-482DD5DA2844}"/>
          </ac:spMkLst>
        </pc:spChg>
        <pc:spChg chg="add mod">
          <ac:chgData name="Jason Wang ( 王志雄 )" userId="S::jasonwang@taiwanmobile.com::5893e254-ee6d-4ca3-ba1a-04867a86378d" providerId="AD" clId="Web-{352407BD-ADD9-1D26-26AA-F967E39F158F}" dt="2026-04-08T07:57:50.162" v="19" actId="20577"/>
          <ac:spMkLst>
            <pc:docMk/>
            <pc:sldMk cId="1510605163" sldId="2147476309"/>
            <ac:spMk id="4" creationId="{5BBF9FB4-7D0C-1EA6-AE27-698B6496116C}"/>
          </ac:spMkLst>
        </pc:spChg>
        <pc:graphicFrameChg chg="add mod modGraphic">
          <ac:chgData name="Jason Wang ( 王志雄 )" userId="S::jasonwang@taiwanmobile.com::5893e254-ee6d-4ca3-ba1a-04867a86378d" providerId="AD" clId="Web-{352407BD-ADD9-1D26-26AA-F967E39F158F}" dt="2026-04-08T08:00:10.118" v="107"/>
          <ac:graphicFrameMkLst>
            <pc:docMk/>
            <pc:sldMk cId="1510605163" sldId="2147476309"/>
            <ac:graphicFrameMk id="5" creationId="{D5AC66E1-AF38-7876-479A-9A4A0A87D581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C3B7A7E-D49C-4C4C-8F71-1F46345AC9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ADCB88E-A972-1A4D-B412-A76E9AAD26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8C611C5-A088-4384-BF00-F8126D5BD31D}" type="datetimeFigureOut">
              <a:rPr lang="zh-TW" altLang="en-US"/>
              <a:pPr>
                <a:defRPr/>
              </a:pPr>
              <a:t>2026/4/8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8FE9D79-314C-2043-944B-F5D0A1D505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5050CC-85DA-0F49-BBF7-7744545938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63CB215-12EF-4481-86EC-96A3EF95D00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26T10:18:06.7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31406 7064 16383 0 0,'0'5'0'0'0,"10"2"0"0"0,8 4 0 0 0,11 1 0 0 0,5-3 0 0 0,2-1 0 0 0,0-3 0 0 0,-1-3 0 0 0,-2-1 0 0 0,-2 0 0 0 0,0-2 0 0 0,-2 1 0 0 0,-5 4 0 0 0,-2 2 0 0 0,1 0 0 0 0,0-1 0 0 0,3-1 0 0 0,0-2 0 0 0,2-1 0 0 0,-5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26T10:18:06.7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31247 6429 16383 0 0,'5'0'0'0'0,"7"0"0"0"0,5 0 0 0 0,6 5 0 0 0,4 2 0 0 0,-4 4 0 0 0,5 1 0 0 0,3-3 0 0 0,0-1 0 0 0,1-3 0 0 0,-1-3 0 0 0,0-1 0 0 0,4 5 0 0 0,1 0 0 0 0,4 0 0 0 0,1-2 0 0 0,-3-1 0 0 0,-1-1 0 0 0,-4-1 0 0 0,-6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F05AC44-D01C-3B43-B621-9506FF7ABF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3BECB0D-1702-544F-BB58-683701CAB8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6938DF6-0FD9-4C95-B759-73E59CE5E3F7}" type="datetimeFigureOut">
              <a:rPr lang="zh-TW" altLang="en-US"/>
              <a:pPr>
                <a:defRPr/>
              </a:pPr>
              <a:t>2026/4/8</a:t>
            </a:fld>
            <a:endParaRPr lang="zh-TW" altLang="en-US"/>
          </a:p>
        </p:txBody>
      </p:sp>
      <p:sp>
        <p:nvSpPr>
          <p:cNvPr id="4" name="投影片影像版面配置區 3">
            <a:extLst>
              <a:ext uri="{FF2B5EF4-FFF2-40B4-BE49-F238E27FC236}">
                <a16:creationId xmlns:a16="http://schemas.microsoft.com/office/drawing/2014/main" id="{05454F98-2E89-AA4A-98FD-FBB241C697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9CB01E57-C848-764A-9608-E7DCB03FE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C455A9-F201-CC47-98DC-E4750B8EFF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DE02EC-9C9E-8148-8862-F73161BA1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BBEBF69-623A-4588-AE10-FA26188D3A3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ith headline">
    <p:bg>
      <p:bgPr>
        <a:blipFill dpi="0" rotWithShape="0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/>
          <p:cNvSpPr>
            <a:spLocks noGrp="1"/>
          </p:cNvSpPr>
          <p:nvPr>
            <p:ph type="body" sz="quarter" idx="10"/>
          </p:nvPr>
        </p:nvSpPr>
        <p:spPr>
          <a:xfrm>
            <a:off x="0" y="2900495"/>
            <a:ext cx="12229214" cy="617537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6"/>
          <p:cNvSpPr>
            <a:spLocks noGrp="1"/>
          </p:cNvSpPr>
          <p:nvPr>
            <p:ph type="body" sz="quarter" idx="11"/>
          </p:nvPr>
        </p:nvSpPr>
        <p:spPr>
          <a:xfrm>
            <a:off x="0" y="3581830"/>
            <a:ext cx="12229214" cy="617537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版面配置區 6">
            <a:extLst>
              <a:ext uri="{FF2B5EF4-FFF2-40B4-BE49-F238E27FC236}">
                <a16:creationId xmlns:a16="http://schemas.microsoft.com/office/drawing/2014/main" id="{4BC2EF7A-C2EA-EA4D-8254-50FC59E344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10655"/>
            <a:ext cx="12229214" cy="617537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07559925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Agenda">
    <p:bg>
      <p:bgPr>
        <a:gradFill rotWithShape="0">
          <a:gsLst>
            <a:gs pos="0">
              <a:srgbClr val="FFCC00"/>
            </a:gs>
            <a:gs pos="39999">
              <a:srgbClr val="FF8D00"/>
            </a:gs>
            <a:gs pos="100000">
              <a:srgbClr val="FF4E00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線條"/>
          <p:cNvSpPr>
            <a:spLocks noChangeShapeType="1"/>
          </p:cNvSpPr>
          <p:nvPr userDrawn="1"/>
        </p:nvSpPr>
        <p:spPr bwMode="auto">
          <a:xfrm flipV="1">
            <a:off x="3643313" y="500063"/>
            <a:ext cx="0" cy="5888037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8" tIns="45718" rIns="45718" bIns="45718"/>
          <a:lstStyle/>
          <a:p>
            <a:endParaRPr lang="zh-TW" altLang="en-US"/>
          </a:p>
        </p:txBody>
      </p:sp>
      <p:sp>
        <p:nvSpPr>
          <p:cNvPr id="4" name="圖表概覽">
            <a:extLst>
              <a:ext uri="{FF2B5EF4-FFF2-40B4-BE49-F238E27FC236}">
                <a16:creationId xmlns:a16="http://schemas.microsoft.com/office/drawing/2014/main" id="{AC427110-E0C9-B648-819F-06842E445E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2463" y="2799177"/>
            <a:ext cx="2760662" cy="1031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91438" tIns="91438" rIns="91438" bIns="91438" anchor="ctr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algn="r" eaLnBrk="1">
              <a:defRPr/>
            </a:pPr>
            <a:r>
              <a:rPr kumimoji="0" lang="zh-TW" altLang="zh-TW" sz="5500">
                <a:solidFill>
                  <a:srgbClr val="FFFFFF"/>
                </a:solidFill>
                <a:latin typeface="+mn-lt"/>
                <a:cs typeface="Tahoma" panose="020B0604030504040204" pitchFamily="34" charset="0"/>
                <a:sym typeface="Tahoma" panose="020B0604030504040204" pitchFamily="34" charset="0"/>
              </a:rPr>
              <a:t>Ag</a:t>
            </a:r>
            <a:r>
              <a:rPr kumimoji="0" lang="en-US" altLang="zh-TW" sz="5500">
                <a:solidFill>
                  <a:srgbClr val="FFFFFF"/>
                </a:solidFill>
                <a:latin typeface="+mn-lt"/>
                <a:cs typeface="Tahoma" panose="020B0604030504040204" pitchFamily="34" charset="0"/>
                <a:sym typeface="Tahoma" panose="020B0604030504040204" pitchFamily="34" charset="0"/>
              </a:rPr>
              <a:t>e</a:t>
            </a:r>
            <a:r>
              <a:rPr kumimoji="0" lang="zh-TW" altLang="zh-TW" sz="5500">
                <a:solidFill>
                  <a:srgbClr val="FFFFFF"/>
                </a:solidFill>
                <a:latin typeface="+mn-lt"/>
                <a:cs typeface="Tahoma" panose="020B0604030504040204" pitchFamily="34" charset="0"/>
                <a:sym typeface="Tahoma" panose="020B0604030504040204" pitchFamily="34" charset="0"/>
              </a:rPr>
              <a:t>nda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39491" y="3040417"/>
            <a:ext cx="6365213" cy="812860"/>
          </a:xfrm>
          <a:prstGeom prst="rect">
            <a:avLst/>
          </a:prstGeom>
        </p:spPr>
        <p:txBody>
          <a:bodyPr/>
          <a:lstStyle>
            <a:lvl1pPr>
              <a:defRPr sz="3000" b="1" baseline="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03850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Agenda">
    <p:bg>
      <p:bgPr>
        <a:gradFill rotWithShape="0">
          <a:gsLst>
            <a:gs pos="0">
              <a:srgbClr val="FFCC00"/>
            </a:gs>
            <a:gs pos="39999">
              <a:srgbClr val="FF8D00"/>
            </a:gs>
            <a:gs pos="100000">
              <a:srgbClr val="FF4E00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表概覽">
            <a:extLst>
              <a:ext uri="{FF2B5EF4-FFF2-40B4-BE49-F238E27FC236}">
                <a16:creationId xmlns:a16="http://schemas.microsoft.com/office/drawing/2014/main" id="{A15AA6FA-8441-0844-A844-F510FAC038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2463" y="2806700"/>
            <a:ext cx="27606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91438" tIns="91438" rIns="91438" bIns="91438" anchor="b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algn="r" eaLnBrk="1">
              <a:defRPr/>
            </a:pPr>
            <a:r>
              <a:rPr kumimoji="0" lang="zh-TW" altLang="zh-TW" sz="5400">
                <a:solidFill>
                  <a:srgbClr val="FFFFFF"/>
                </a:solidFill>
                <a:cs typeface="Tahoma" panose="020B0604030504040204" pitchFamily="34" charset="0"/>
                <a:sym typeface="Tahoma" panose="020B0604030504040204" pitchFamily="34" charset="0"/>
              </a:rPr>
              <a:t>Ag</a:t>
            </a:r>
            <a:r>
              <a:rPr kumimoji="0" lang="en-US" altLang="zh-TW" sz="5400">
                <a:solidFill>
                  <a:srgbClr val="FFFFFF"/>
                </a:solidFill>
                <a:cs typeface="Tahoma" panose="020B0604030504040204" pitchFamily="34" charset="0"/>
                <a:sym typeface="Tahoma" panose="020B0604030504040204" pitchFamily="34" charset="0"/>
              </a:rPr>
              <a:t>e</a:t>
            </a:r>
            <a:r>
              <a:rPr kumimoji="0" lang="zh-TW" altLang="zh-TW" sz="5400">
                <a:solidFill>
                  <a:srgbClr val="FFFFFF"/>
                </a:solidFill>
                <a:cs typeface="Tahoma" panose="020B0604030504040204" pitchFamily="34" charset="0"/>
                <a:sym typeface="Tahoma" panose="020B0604030504040204" pitchFamily="34" charset="0"/>
              </a:rPr>
              <a:t>nda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39491" y="3040417"/>
            <a:ext cx="6365213" cy="81286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918566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副標題 2"/>
          <p:cNvSpPr>
            <a:spLocks noGrp="1"/>
          </p:cNvSpPr>
          <p:nvPr>
            <p:ph type="subTitle" idx="1"/>
          </p:nvPr>
        </p:nvSpPr>
        <p:spPr>
          <a:xfrm>
            <a:off x="838200" y="1100138"/>
            <a:ext cx="105156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03531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與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0"/>
          </p:nvPr>
        </p:nvSpPr>
        <p:spPr>
          <a:xfrm>
            <a:off x="838200" y="1835151"/>
            <a:ext cx="10515600" cy="4500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副標題 2"/>
          <p:cNvSpPr>
            <a:spLocks noGrp="1"/>
          </p:cNvSpPr>
          <p:nvPr>
            <p:ph type="subTitle" idx="1"/>
          </p:nvPr>
        </p:nvSpPr>
        <p:spPr>
          <a:xfrm>
            <a:off x="838200" y="1100138"/>
            <a:ext cx="105156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75184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0377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80377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11149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algn="l"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809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83405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1843912"/>
            <a:ext cx="10515600" cy="4812919"/>
          </a:xfrm>
          <a:prstGeom prst="rect">
            <a:avLst/>
          </a:prstGeom>
        </p:spPr>
        <p:txBody>
          <a:bodyPr vert="eaVert"/>
          <a:lstStyle>
            <a:lvl1pPr>
              <a:defRPr sz="25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1555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628900" cy="6236843"/>
          </a:xfrm>
          <a:prstGeom prst="rect">
            <a:avLst/>
          </a:prstGeom>
        </p:spPr>
        <p:txBody>
          <a:bodyPr vert="eaVert"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4"/>
            <a:ext cx="7734300" cy="6236843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0916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blipFill dpi="0" rotWithShape="0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EE868A8-CB14-0B4A-8CED-43078B5141E2}"/>
              </a:ext>
            </a:extLst>
          </p:cNvPr>
          <p:cNvSpPr txBox="1"/>
          <p:nvPr userDrawn="1"/>
        </p:nvSpPr>
        <p:spPr>
          <a:xfrm>
            <a:off x="4630738" y="3132138"/>
            <a:ext cx="2930525" cy="742950"/>
          </a:xfrm>
          <a:prstGeom prst="rect">
            <a:avLst/>
          </a:prstGeom>
          <a:noFill/>
        </p:spPr>
        <p:txBody>
          <a:bodyPr wrap="none" lIns="81043" tIns="40522" rIns="81043" bIns="4052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4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Thank You</a:t>
            </a:r>
            <a:endParaRPr kumimoji="0" lang="zh-TW" altLang="en-US" sz="4300" b="1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6973655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 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838200" y="1100138"/>
            <a:ext cx="105156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51951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與內容 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0"/>
          </p:nvPr>
        </p:nvSpPr>
        <p:spPr>
          <a:xfrm>
            <a:off x="838200" y="1835151"/>
            <a:ext cx="10515600" cy="4500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副標題 2"/>
          <p:cNvSpPr>
            <a:spLocks noGrp="1"/>
          </p:cNvSpPr>
          <p:nvPr>
            <p:ph type="subTitle" idx="1"/>
          </p:nvPr>
        </p:nvSpPr>
        <p:spPr>
          <a:xfrm>
            <a:off x="838200" y="1100138"/>
            <a:ext cx="105156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780611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 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6">
            <a:extLst>
              <a:ext uri="{FF2B5EF4-FFF2-40B4-BE49-F238E27FC236}">
                <a16:creationId xmlns:a16="http://schemas.microsoft.com/office/drawing/2014/main" id="{B59A9809-D5C7-B442-AC9F-095554D1A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78DF8838-1529-4041-9416-522A54C2711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7663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 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7541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 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72219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 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1843912"/>
            <a:ext cx="10515600" cy="4812919"/>
          </a:xfrm>
          <a:prstGeom prst="rect">
            <a:avLst/>
          </a:prstGeom>
        </p:spPr>
        <p:txBody>
          <a:bodyPr vert="eaVert"/>
          <a:lstStyle>
            <a:lvl1pPr>
              <a:defRPr sz="25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1013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  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628900" cy="6236843"/>
          </a:xfrm>
          <a:prstGeom prst="rect">
            <a:avLst/>
          </a:prstGeom>
        </p:spPr>
        <p:txBody>
          <a:bodyPr vert="eaVert"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4"/>
            <a:ext cx="7734300" cy="6236843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67840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BB8FDB-A522-DB45-8712-3F6A507D2D17}"/>
              </a:ext>
            </a:extLst>
          </p:cNvPr>
          <p:cNvSpPr/>
          <p:nvPr userDrawn="1"/>
        </p:nvSpPr>
        <p:spPr>
          <a:xfrm>
            <a:off x="606556" y="-370323"/>
            <a:ext cx="585418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 defTabSz="1828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TW" altLang="en-US" sz="1200" b="1">
                <a:solidFill>
                  <a:schemeClr val="bg1">
                    <a:lumMod val="50000"/>
                  </a:schemeClr>
                </a:solidFill>
                <a:effectLst>
                  <a:glow rad="88900">
                    <a:schemeClr val="bg1"/>
                  </a:glow>
                </a:effectLst>
                <a:latin typeface="Arial" panose="020B0604020202020204"/>
                <a:ea typeface="微軟正黑體" charset="-120"/>
                <a:sym typeface="微軟正黑體 Bold"/>
              </a:rPr>
              <a:t>機密</a:t>
            </a:r>
            <a:r>
              <a:rPr kumimoji="0" lang="zh-TW" altLang="en-US" sz="1200" b="1">
                <a:solidFill>
                  <a:srgbClr val="FF0000"/>
                </a:solidFill>
                <a:effectLst>
                  <a:glow rad="88900">
                    <a:schemeClr val="bg1"/>
                  </a:glow>
                </a:effectLst>
                <a:latin typeface="Arial" panose="020B0604020202020204"/>
                <a:ea typeface="微軟正黑體" charset="-120"/>
                <a:sym typeface="微軟正黑體 Bold"/>
              </a:rPr>
              <a:t>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D5E1BB-6180-AD41-80D0-2AFF57B51023}"/>
              </a:ext>
            </a:extLst>
          </p:cNvPr>
          <p:cNvSpPr/>
          <p:nvPr userDrawn="1"/>
        </p:nvSpPr>
        <p:spPr>
          <a:xfrm>
            <a:off x="1191974" y="-370324"/>
            <a:ext cx="492444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 defTabSz="1828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TW" altLang="en-US" sz="1200" b="1">
                <a:solidFill>
                  <a:schemeClr val="bg1">
                    <a:lumMod val="50000"/>
                  </a:schemeClr>
                </a:solidFill>
                <a:effectLst>
                  <a:glow rad="88900">
                    <a:schemeClr val="bg1"/>
                  </a:glow>
                </a:effectLst>
                <a:latin typeface="Arial" panose="020B0604020202020204"/>
                <a:ea typeface="微軟正黑體" charset="-120"/>
                <a:sym typeface="微軟正黑體 Bold"/>
              </a:rPr>
              <a:t>密</a:t>
            </a:r>
            <a:r>
              <a:rPr kumimoji="0" lang="zh-TW" altLang="en-US" sz="1200" b="1">
                <a:solidFill>
                  <a:srgbClr val="FF0000"/>
                </a:solidFill>
                <a:effectLst>
                  <a:glow rad="88900">
                    <a:schemeClr val="bg1"/>
                  </a:glow>
                </a:effectLst>
                <a:latin typeface="Arial" panose="020B0604020202020204"/>
                <a:ea typeface="微軟正黑體" charset="-120"/>
                <a:sym typeface="微軟正黑體 Bold"/>
              </a:rPr>
              <a:t>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927951-FB59-1747-9CC2-C22816B272CC}"/>
              </a:ext>
            </a:extLst>
          </p:cNvPr>
          <p:cNvSpPr/>
          <p:nvPr userDrawn="1"/>
        </p:nvSpPr>
        <p:spPr>
          <a:xfrm>
            <a:off x="-76943" y="-382963"/>
            <a:ext cx="739305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 defTabSz="1828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TW" altLang="en-US" sz="1200" b="1">
                <a:solidFill>
                  <a:schemeClr val="bg1">
                    <a:lumMod val="50000"/>
                  </a:schemeClr>
                </a:solidFill>
                <a:effectLst>
                  <a:glow rad="88900">
                    <a:schemeClr val="bg1"/>
                  </a:glow>
                </a:effectLst>
                <a:latin typeface="Arial" panose="020B0604020202020204"/>
                <a:ea typeface="微軟正黑體" charset="-120"/>
                <a:sym typeface="微軟正黑體 Bold"/>
              </a:rPr>
              <a:t>極機密</a:t>
            </a:r>
            <a:r>
              <a:rPr kumimoji="0" lang="zh-TW" altLang="en-US" sz="1200" b="1">
                <a:solidFill>
                  <a:srgbClr val="FF0000"/>
                </a:solidFill>
                <a:effectLst>
                  <a:glow rad="88900">
                    <a:schemeClr val="bg1"/>
                  </a:glow>
                </a:effectLst>
                <a:latin typeface="Arial" panose="020B0604020202020204"/>
                <a:ea typeface="微軟正黑體" charset="-120"/>
                <a:sym typeface="微軟正黑體 Bold"/>
              </a:rPr>
              <a:t>◎</a:t>
            </a:r>
          </a:p>
        </p:txBody>
      </p:sp>
      <p:pic>
        <p:nvPicPr>
          <p:cNvPr id="1029" name="圖片 5"/>
          <p:cNvPicPr>
            <a:picLocks noChangeAspect="1" noChangeArrowheads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450" y="236538"/>
            <a:ext cx="555625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軟正黑體" panose="020B0604030504040204" pitchFamily="34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軟正黑體" panose="020B0604030504040204" pitchFamily="34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軟正黑體" panose="020B0604030504040204" pitchFamily="34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軟正黑體" panose="020B0604030504040204" pitchFamily="34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軟正黑體" panose="020B0604030504040204" pitchFamily="34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軟正黑體" panose="020B0604030504040204" pitchFamily="34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軟正黑體" panose="020B0604030504040204" pitchFamily="34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軟正黑體" panose="020B0604030504040204" pitchFamily="34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customXml" Target="../ink/ink2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xxxxx.xxom/event/20255111/" TargetMode="Externa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xxxx.xxxxx.xxx/%7bfile_path" TargetMode="Externa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文字版面配置區 1"/>
          <p:cNvSpPr>
            <a:spLocks noGrp="1"/>
          </p:cNvSpPr>
          <p:nvPr>
            <p:ph type="body" sz="quarter" idx="10"/>
          </p:nvPr>
        </p:nvSpPr>
        <p:spPr bwMode="auto">
          <a:xfrm>
            <a:off x="-80683" y="2702859"/>
            <a:ext cx="12192000" cy="11878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TW"/>
              <a:t>Portal </a:t>
            </a:r>
            <a:r>
              <a:rPr lang="zh-TW" altLang="en-US"/>
              <a:t>基礎架構</a:t>
            </a:r>
            <a:endParaRPr lang="en-US" altLang="zh-TW"/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96630BA9-F70F-4F83-3A8A-FA3FB48131DA}"/>
              </a:ext>
            </a:extLst>
          </p:cNvPr>
          <p:cNvSpPr txBox="1">
            <a:spLocks/>
          </p:cNvSpPr>
          <p:nvPr/>
        </p:nvSpPr>
        <p:spPr bwMode="auto">
          <a:xfrm>
            <a:off x="0" y="5091953"/>
            <a:ext cx="12192000" cy="1335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6858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ts val="1200"/>
              </a:lnSpc>
              <a:spcBef>
                <a:spcPts val="1000"/>
              </a:spcBef>
            </a:pPr>
            <a:r>
              <a:rPr kumimoji="0" lang="zh-TW" altLang="en-US" sz="2000" b="1">
                <a:solidFill>
                  <a:schemeClr val="bg1"/>
                </a:solidFill>
                <a:latin typeface="+mn-ea"/>
                <a:ea typeface="+mn-ea"/>
              </a:rPr>
              <a:t>網站技術課 </a:t>
            </a:r>
            <a:r>
              <a:rPr kumimoji="0" lang="en-US" altLang="zh-TW" sz="2000" b="1">
                <a:solidFill>
                  <a:schemeClr val="bg1"/>
                </a:solidFill>
                <a:latin typeface="+mn-ea"/>
                <a:ea typeface="+mn-ea"/>
              </a:rPr>
              <a:t>Eason</a:t>
            </a:r>
          </a:p>
          <a:p>
            <a:pPr algn="ctr" eaLnBrk="1" hangingPunct="1">
              <a:lnSpc>
                <a:spcPts val="1200"/>
              </a:lnSpc>
              <a:spcBef>
                <a:spcPts val="1000"/>
              </a:spcBef>
            </a:pPr>
            <a:r>
              <a:rPr kumimoji="0" lang="en-US" altLang="zh-TW" sz="2000" b="1">
                <a:solidFill>
                  <a:schemeClr val="bg1"/>
                </a:solidFill>
                <a:latin typeface="+mn-ea"/>
                <a:ea typeface="+mn-ea"/>
              </a:rPr>
              <a:t>2025/04/08</a:t>
            </a:r>
            <a:endParaRPr kumimoji="0" lang="zh-TW" altLang="en-US" sz="2000" b="1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B4611-6DE0-6B49-05AE-E9C169D5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AD6C0-021B-0A1C-344D-A5FE43B1E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Infra</a:t>
            </a:r>
            <a:r>
              <a:rPr lang="zh-TW" altLang="en-US"/>
              <a:t> 系統環境架構說明</a:t>
            </a:r>
            <a:br>
              <a:rPr lang="en-US" altLang="zh-TW"/>
            </a:b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728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6D382-ADDE-0EB4-0674-84C15941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>
            <a:extLst>
              <a:ext uri="{FF2B5EF4-FFF2-40B4-BE49-F238E27FC236}">
                <a16:creationId xmlns:a16="http://schemas.microsoft.com/office/drawing/2014/main" id="{F25A965F-E73F-239C-074D-BF4325965C9D}"/>
              </a:ext>
            </a:extLst>
          </p:cNvPr>
          <p:cNvSpPr/>
          <p:nvPr/>
        </p:nvSpPr>
        <p:spPr>
          <a:xfrm>
            <a:off x="1182353" y="1185845"/>
            <a:ext cx="4515489" cy="5173153"/>
          </a:xfrm>
          <a:prstGeom prst="rect">
            <a:avLst/>
          </a:prstGeom>
          <a:solidFill>
            <a:schemeClr val="accent4">
              <a:alpha val="2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 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A461575A-4400-2BE6-E6ED-5A8D27298497}"/>
              </a:ext>
            </a:extLst>
          </p:cNvPr>
          <p:cNvSpPr/>
          <p:nvPr/>
        </p:nvSpPr>
        <p:spPr>
          <a:xfrm>
            <a:off x="5697842" y="1136814"/>
            <a:ext cx="6156455" cy="5222184"/>
          </a:xfrm>
          <a:prstGeom prst="rect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9782BC7-6B21-A879-74A6-217E1DDE7479}"/>
              </a:ext>
            </a:extLst>
          </p:cNvPr>
          <p:cNvSpPr/>
          <p:nvPr/>
        </p:nvSpPr>
        <p:spPr>
          <a:xfrm>
            <a:off x="5213169" y="2030964"/>
            <a:ext cx="1057147" cy="4853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/>
              <a:t>L4 /</a:t>
            </a:r>
            <a:r>
              <a:rPr lang="zh-TW" altLang="en-US" sz="1000"/>
              <a:t> </a:t>
            </a:r>
            <a:r>
              <a:rPr lang="en-US" altLang="zh-TW" sz="1000"/>
              <a:t>FW</a:t>
            </a:r>
          </a:p>
        </p:txBody>
      </p:sp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8CA69784-FC20-A7D3-FBF2-C99B2276E7DE}"/>
              </a:ext>
            </a:extLst>
          </p:cNvPr>
          <p:cNvCxnSpPr>
            <a:cxnSpLocks/>
            <a:endCxn id="77" idx="1"/>
          </p:cNvCxnSpPr>
          <p:nvPr/>
        </p:nvCxnSpPr>
        <p:spPr>
          <a:xfrm flipV="1">
            <a:off x="1117188" y="2100021"/>
            <a:ext cx="866851" cy="2706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標題 2">
            <a:extLst>
              <a:ext uri="{FF2B5EF4-FFF2-40B4-BE49-F238E27FC236}">
                <a16:creationId xmlns:a16="http://schemas.microsoft.com/office/drawing/2014/main" id="{CDA996C4-0803-B062-3288-742259B0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系統環境架構 </a:t>
            </a: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C8A5DFA3-143E-31A4-730B-885ABB887437}"/>
              </a:ext>
            </a:extLst>
          </p:cNvPr>
          <p:cNvCxnSpPr/>
          <p:nvPr/>
        </p:nvCxnSpPr>
        <p:spPr>
          <a:xfrm>
            <a:off x="2268715" y="352545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64E34899-E782-6646-B046-F458BF3645A7}"/>
              </a:ext>
            </a:extLst>
          </p:cNvPr>
          <p:cNvGrpSpPr/>
          <p:nvPr/>
        </p:nvGrpSpPr>
        <p:grpSpPr>
          <a:xfrm>
            <a:off x="-200696" y="2459613"/>
            <a:ext cx="1281022" cy="621652"/>
            <a:chOff x="3712068" y="1677137"/>
            <a:chExt cx="1281022" cy="621652"/>
          </a:xfrm>
        </p:grpSpPr>
        <p:pic>
          <p:nvPicPr>
            <p:cNvPr id="72" name="圖形 71" descr="使用者 以實心填滿">
              <a:extLst>
                <a:ext uri="{FF2B5EF4-FFF2-40B4-BE49-F238E27FC236}">
                  <a16:creationId xmlns:a16="http://schemas.microsoft.com/office/drawing/2014/main" id="{70A0C3D5-D06E-8C9F-E7C8-D0BF3FF1BF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36796" y="1677137"/>
              <a:ext cx="442532" cy="442532"/>
            </a:xfrm>
            <a:prstGeom prst="rect">
              <a:avLst/>
            </a:prstGeom>
          </p:spPr>
        </p:pic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4FDE379-1B6C-B3A2-1F91-2E1080ECE0ED}"/>
                </a:ext>
              </a:extLst>
            </p:cNvPr>
            <p:cNvSpPr txBox="1"/>
            <p:nvPr/>
          </p:nvSpPr>
          <p:spPr>
            <a:xfrm>
              <a:off x="3712068" y="2021790"/>
              <a:ext cx="12810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200" b="1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customer</a:t>
              </a:r>
              <a:endParaRPr lang="zh-TW" altLang="en-US" sz="1200"/>
            </a:p>
          </p:txBody>
        </p:sp>
      </p:grp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F00F304F-12CD-E2A3-88BF-CA1FF8AD9D77}"/>
              </a:ext>
            </a:extLst>
          </p:cNvPr>
          <p:cNvSpPr txBox="1"/>
          <p:nvPr/>
        </p:nvSpPr>
        <p:spPr>
          <a:xfrm>
            <a:off x="68068" y="3323457"/>
            <a:ext cx="1739088" cy="4616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altLang="zh-TW" sz="800">
                <a:solidFill>
                  <a:schemeClr val="bg1"/>
                </a:solidFill>
              </a:rPr>
              <a:t>eservice.twmsolution.com</a:t>
            </a:r>
          </a:p>
          <a:p>
            <a:r>
              <a:rPr lang="en-US" altLang="zh-TW" sz="800">
                <a:solidFill>
                  <a:schemeClr val="bg1"/>
                </a:solidFill>
              </a:rPr>
              <a:t>sit-eservice.twmsolution.com</a:t>
            </a:r>
          </a:p>
          <a:p>
            <a:r>
              <a:rPr lang="en-US" altLang="zh-TW" sz="800" err="1">
                <a:solidFill>
                  <a:schemeClr val="bg1"/>
                </a:solidFill>
              </a:rPr>
              <a:t>uat-eservice.twmsolution.comin</a:t>
            </a:r>
            <a:endParaRPr lang="zh-TW" altLang="en-US" sz="800">
              <a:solidFill>
                <a:schemeClr val="bg1"/>
              </a:solidFill>
            </a:endParaRPr>
          </a:p>
        </p:txBody>
      </p:sp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4D316A71-01BF-9B12-7928-0F68822477FD}"/>
              </a:ext>
            </a:extLst>
          </p:cNvPr>
          <p:cNvCxnSpPr>
            <a:cxnSpLocks/>
            <a:stCxn id="177" idx="0"/>
            <a:endCxn id="32" idx="2"/>
          </p:cNvCxnSpPr>
          <p:nvPr/>
        </p:nvCxnSpPr>
        <p:spPr>
          <a:xfrm flipH="1" flipV="1">
            <a:off x="8790718" y="4313929"/>
            <a:ext cx="655041" cy="10663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163856B2-F846-6BEF-D70A-20A52BE20F6F}"/>
              </a:ext>
            </a:extLst>
          </p:cNvPr>
          <p:cNvCxnSpPr>
            <a:cxnSpLocks/>
            <a:stCxn id="77" idx="2"/>
            <a:endCxn id="17" idx="0"/>
          </p:cNvCxnSpPr>
          <p:nvPr/>
        </p:nvCxnSpPr>
        <p:spPr>
          <a:xfrm>
            <a:off x="3131543" y="2669429"/>
            <a:ext cx="1407702" cy="115370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8" name="矩形: 圓角 137">
            <a:extLst>
              <a:ext uri="{FF2B5EF4-FFF2-40B4-BE49-F238E27FC236}">
                <a16:creationId xmlns:a16="http://schemas.microsoft.com/office/drawing/2014/main" id="{80403EA8-75AE-70A7-9B49-04806F8B166E}"/>
              </a:ext>
            </a:extLst>
          </p:cNvPr>
          <p:cNvSpPr/>
          <p:nvPr/>
        </p:nvSpPr>
        <p:spPr>
          <a:xfrm>
            <a:off x="10757230" y="4042115"/>
            <a:ext cx="1048591" cy="58511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/>
              <a:t>DB</a:t>
            </a:r>
          </a:p>
          <a:p>
            <a:pPr algn="ctr"/>
            <a:r>
              <a:rPr lang="en-US" altLang="zh-TW" sz="1200" err="1"/>
              <a:t>postgresql</a:t>
            </a:r>
            <a:endParaRPr lang="zh-TW" altLang="en-US" sz="1200"/>
          </a:p>
        </p:txBody>
      </p:sp>
      <p:cxnSp>
        <p:nvCxnSpPr>
          <p:cNvPr id="139" name="直線接點 138">
            <a:extLst>
              <a:ext uri="{FF2B5EF4-FFF2-40B4-BE49-F238E27FC236}">
                <a16:creationId xmlns:a16="http://schemas.microsoft.com/office/drawing/2014/main" id="{7E6ED61D-5579-2E56-9DF7-7DB3BB211661}"/>
              </a:ext>
            </a:extLst>
          </p:cNvPr>
          <p:cNvCxnSpPr>
            <a:cxnSpLocks/>
            <a:stCxn id="17" idx="3"/>
            <a:endCxn id="32" idx="1"/>
          </p:cNvCxnSpPr>
          <p:nvPr/>
        </p:nvCxnSpPr>
        <p:spPr>
          <a:xfrm flipV="1">
            <a:off x="5311760" y="3744521"/>
            <a:ext cx="2331454" cy="32974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A9E7B1C3-EE9F-443C-2E45-C0D7BFD41C5C}"/>
              </a:ext>
            </a:extLst>
          </p:cNvPr>
          <p:cNvCxnSpPr>
            <a:cxnSpLocks/>
            <a:stCxn id="77" idx="3"/>
            <a:endCxn id="6" idx="2"/>
          </p:cNvCxnSpPr>
          <p:nvPr/>
        </p:nvCxnSpPr>
        <p:spPr>
          <a:xfrm>
            <a:off x="4279046" y="2100021"/>
            <a:ext cx="934123" cy="1736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862ECE60-74E0-9CEC-2BCD-AF2B797A7EC5}"/>
              </a:ext>
            </a:extLst>
          </p:cNvPr>
          <p:cNvCxnSpPr>
            <a:cxnSpLocks/>
            <a:stCxn id="32" idx="0"/>
            <a:endCxn id="25" idx="2"/>
          </p:cNvCxnSpPr>
          <p:nvPr/>
        </p:nvCxnSpPr>
        <p:spPr>
          <a:xfrm flipH="1" flipV="1">
            <a:off x="7663042" y="2805519"/>
            <a:ext cx="1127676" cy="3695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D3BDDBC6-0AA9-645C-8A4F-91CF8A1B9FB1}"/>
              </a:ext>
            </a:extLst>
          </p:cNvPr>
          <p:cNvSpPr txBox="1"/>
          <p:nvPr/>
        </p:nvSpPr>
        <p:spPr>
          <a:xfrm>
            <a:off x="8639258" y="6223918"/>
            <a:ext cx="2151726" cy="4726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zh-TW" sz="800"/>
              <a:t>eservice.backend.twmsolution.com</a:t>
            </a:r>
          </a:p>
          <a:p>
            <a:r>
              <a:rPr lang="en-US" altLang="zh-TW" sz="800"/>
              <a:t>sit-eservice.backend.twmsolution.com</a:t>
            </a:r>
          </a:p>
          <a:p>
            <a:r>
              <a:rPr lang="en-US" altLang="zh-TW" sz="800"/>
              <a:t>uat-eservice.backend.twmsolution.com</a:t>
            </a:r>
            <a:endParaRPr lang="zh-TW" altLang="en-US" sz="800"/>
          </a:p>
        </p:txBody>
      </p: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424C7FAD-A9EF-1365-D539-6B06FBCBAC64}"/>
              </a:ext>
            </a:extLst>
          </p:cNvPr>
          <p:cNvCxnSpPr>
            <a:cxnSpLocks/>
            <a:stCxn id="25" idx="3"/>
            <a:endCxn id="138" idx="1"/>
          </p:cNvCxnSpPr>
          <p:nvPr/>
        </p:nvCxnSpPr>
        <p:spPr>
          <a:xfrm>
            <a:off x="8810545" y="2236111"/>
            <a:ext cx="1946685" cy="209856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8016D142-4336-9CA4-9597-AA287788C220}"/>
              </a:ext>
            </a:extLst>
          </p:cNvPr>
          <p:cNvSpPr txBox="1"/>
          <p:nvPr/>
        </p:nvSpPr>
        <p:spPr>
          <a:xfrm>
            <a:off x="1182353" y="1026890"/>
            <a:ext cx="4532831" cy="276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altLang="zh-TW" sz="1200">
                <a:solidFill>
                  <a:schemeClr val="bg1"/>
                </a:solidFill>
              </a:rPr>
              <a:t>DMZ</a:t>
            </a:r>
            <a:endParaRPr lang="zh-TW" altLang="en-US" sz="1200">
              <a:solidFill>
                <a:schemeClr val="bg1"/>
              </a:solidFill>
            </a:endParaRPr>
          </a:p>
        </p:txBody>
      </p: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B3B8E047-421B-88FF-F675-1653014B7B70}"/>
              </a:ext>
            </a:extLst>
          </p:cNvPr>
          <p:cNvSpPr txBox="1"/>
          <p:nvPr/>
        </p:nvSpPr>
        <p:spPr>
          <a:xfrm>
            <a:off x="5721666" y="1030650"/>
            <a:ext cx="6132631" cy="276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altLang="zh-TW" sz="1200">
                <a:solidFill>
                  <a:schemeClr val="bg1"/>
                </a:solidFill>
              </a:rPr>
              <a:t>INTRA</a:t>
            </a:r>
            <a:endParaRPr lang="zh-TW" altLang="en-US" sz="1200">
              <a:solidFill>
                <a:schemeClr val="bg1"/>
              </a:solidFill>
            </a:endParaRPr>
          </a:p>
        </p:txBody>
      </p:sp>
      <p:cxnSp>
        <p:nvCxnSpPr>
          <p:cNvPr id="165" name="直線接點 164">
            <a:extLst>
              <a:ext uri="{FF2B5EF4-FFF2-40B4-BE49-F238E27FC236}">
                <a16:creationId xmlns:a16="http://schemas.microsoft.com/office/drawing/2014/main" id="{68EB173F-4E3F-54BB-E807-E0BE9A43097F}"/>
              </a:ext>
            </a:extLst>
          </p:cNvPr>
          <p:cNvCxnSpPr>
            <a:cxnSpLocks/>
            <a:stCxn id="72" idx="3"/>
            <a:endCxn id="76" idx="2"/>
          </p:cNvCxnSpPr>
          <p:nvPr/>
        </p:nvCxnSpPr>
        <p:spPr>
          <a:xfrm flipV="1">
            <a:off x="666564" y="2353979"/>
            <a:ext cx="185627" cy="3269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D94ABB20-C317-CA1E-ECC4-0E5346912F5C}"/>
              </a:ext>
            </a:extLst>
          </p:cNvPr>
          <p:cNvGrpSpPr/>
          <p:nvPr/>
        </p:nvGrpSpPr>
        <p:grpSpPr>
          <a:xfrm>
            <a:off x="8807878" y="5380270"/>
            <a:ext cx="1281022" cy="634366"/>
            <a:chOff x="4729395" y="984326"/>
            <a:chExt cx="1281022" cy="634366"/>
          </a:xfrm>
        </p:grpSpPr>
        <p:pic>
          <p:nvPicPr>
            <p:cNvPr id="177" name="圖形 176" descr="使用者 以實心填滿">
              <a:extLst>
                <a:ext uri="{FF2B5EF4-FFF2-40B4-BE49-F238E27FC236}">
                  <a16:creationId xmlns:a16="http://schemas.microsoft.com/office/drawing/2014/main" id="{D4F8D8AC-A3A6-8C55-6123-9EB614EA7B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46010" y="984326"/>
              <a:ext cx="442532" cy="442532"/>
            </a:xfrm>
            <a:prstGeom prst="rect">
              <a:avLst/>
            </a:prstGeom>
          </p:spPr>
        </p:pic>
        <p:sp>
          <p:nvSpPr>
            <p:cNvPr id="178" name="文字方塊 177">
              <a:extLst>
                <a:ext uri="{FF2B5EF4-FFF2-40B4-BE49-F238E27FC236}">
                  <a16:creationId xmlns:a16="http://schemas.microsoft.com/office/drawing/2014/main" id="{BCAD964B-EF55-24DA-7530-2DEFF71FC55A}"/>
                </a:ext>
              </a:extLst>
            </p:cNvPr>
            <p:cNvSpPr txBox="1"/>
            <p:nvPr/>
          </p:nvSpPr>
          <p:spPr>
            <a:xfrm>
              <a:off x="4729395" y="1341693"/>
              <a:ext cx="12810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200" b="1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user</a:t>
              </a:r>
              <a:endParaRPr lang="zh-TW" altLang="en-US" sz="1200"/>
            </a:p>
          </p:txBody>
        </p:sp>
      </p:grpSp>
      <p:sp>
        <p:nvSpPr>
          <p:cNvPr id="182" name="文字方塊 181">
            <a:extLst>
              <a:ext uri="{FF2B5EF4-FFF2-40B4-BE49-F238E27FC236}">
                <a16:creationId xmlns:a16="http://schemas.microsoft.com/office/drawing/2014/main" id="{6F3BA2D4-6A31-4944-30D5-0D72F8E20A93}"/>
              </a:ext>
            </a:extLst>
          </p:cNvPr>
          <p:cNvSpPr txBox="1"/>
          <p:nvPr/>
        </p:nvSpPr>
        <p:spPr>
          <a:xfrm>
            <a:off x="87118" y="3054499"/>
            <a:ext cx="1518110" cy="2769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前台網站服務</a:t>
            </a:r>
          </a:p>
        </p:txBody>
      </p:sp>
      <p:sp>
        <p:nvSpPr>
          <p:cNvPr id="188" name="矩形: 圓角 187">
            <a:extLst>
              <a:ext uri="{FF2B5EF4-FFF2-40B4-BE49-F238E27FC236}">
                <a16:creationId xmlns:a16="http://schemas.microsoft.com/office/drawing/2014/main" id="{4226B9BB-77F8-5696-53D3-366350CDD129}"/>
              </a:ext>
            </a:extLst>
          </p:cNvPr>
          <p:cNvSpPr/>
          <p:nvPr/>
        </p:nvSpPr>
        <p:spPr>
          <a:xfrm>
            <a:off x="10841034" y="1935085"/>
            <a:ext cx="880983" cy="6199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/>
              <a:t>異質系統</a:t>
            </a:r>
          </a:p>
        </p:txBody>
      </p:sp>
      <p:cxnSp>
        <p:nvCxnSpPr>
          <p:cNvPr id="190" name="直線接點 189">
            <a:extLst>
              <a:ext uri="{FF2B5EF4-FFF2-40B4-BE49-F238E27FC236}">
                <a16:creationId xmlns:a16="http://schemas.microsoft.com/office/drawing/2014/main" id="{FE2B2DF3-5BE5-FB36-C8F2-3AE1E30CBF2A}"/>
              </a:ext>
            </a:extLst>
          </p:cNvPr>
          <p:cNvCxnSpPr>
            <a:cxnSpLocks/>
            <a:stCxn id="25" idx="3"/>
            <a:endCxn id="188" idx="1"/>
          </p:cNvCxnSpPr>
          <p:nvPr/>
        </p:nvCxnSpPr>
        <p:spPr>
          <a:xfrm>
            <a:off x="8810545" y="2236111"/>
            <a:ext cx="2030489" cy="89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3" name="文字方塊 192">
            <a:extLst>
              <a:ext uri="{FF2B5EF4-FFF2-40B4-BE49-F238E27FC236}">
                <a16:creationId xmlns:a16="http://schemas.microsoft.com/office/drawing/2014/main" id="{6A8E73B4-BEB2-297A-F081-664D99D491E2}"/>
              </a:ext>
            </a:extLst>
          </p:cNvPr>
          <p:cNvSpPr txBox="1"/>
          <p:nvPr/>
        </p:nvSpPr>
        <p:spPr>
          <a:xfrm>
            <a:off x="3735170" y="3332163"/>
            <a:ext cx="746887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zh-TW">
                <a:solidFill>
                  <a:schemeClr val="tx1"/>
                </a:solidFill>
              </a:rPr>
              <a:t>mount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4" name="文字方塊 193">
            <a:extLst>
              <a:ext uri="{FF2B5EF4-FFF2-40B4-BE49-F238E27FC236}">
                <a16:creationId xmlns:a16="http://schemas.microsoft.com/office/drawing/2014/main" id="{2EEC90E5-F443-5AA8-F981-5A978B43393E}"/>
              </a:ext>
            </a:extLst>
          </p:cNvPr>
          <p:cNvSpPr txBox="1"/>
          <p:nvPr/>
        </p:nvSpPr>
        <p:spPr>
          <a:xfrm>
            <a:off x="5791750" y="3930026"/>
            <a:ext cx="647335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zh-TW">
                <a:solidFill>
                  <a:schemeClr val="tx1"/>
                </a:solidFill>
              </a:rPr>
              <a:t>mount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1" name="矩形: 圓角 200">
            <a:extLst>
              <a:ext uri="{FF2B5EF4-FFF2-40B4-BE49-F238E27FC236}">
                <a16:creationId xmlns:a16="http://schemas.microsoft.com/office/drawing/2014/main" id="{CDE90F7D-C118-FEFF-98E3-81A83577DD84}"/>
              </a:ext>
            </a:extLst>
          </p:cNvPr>
          <p:cNvSpPr/>
          <p:nvPr/>
        </p:nvSpPr>
        <p:spPr>
          <a:xfrm>
            <a:off x="6006659" y="3090437"/>
            <a:ext cx="849147" cy="29152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/>
              <a:t>ELK</a:t>
            </a:r>
            <a:endParaRPr lang="zh-TW" altLang="en-US" sz="160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FDD7042-E9C1-56FD-EEE5-C279573E7B7B}"/>
              </a:ext>
            </a:extLst>
          </p:cNvPr>
          <p:cNvSpPr/>
          <p:nvPr/>
        </p:nvSpPr>
        <p:spPr>
          <a:xfrm>
            <a:off x="3766729" y="3823129"/>
            <a:ext cx="1545031" cy="50227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/>
              <a:t>DATA</a:t>
            </a:r>
            <a:r>
              <a:rPr lang="zh-TW" altLang="en-US" sz="1200"/>
              <a:t> 空間</a:t>
            </a:r>
            <a:r>
              <a:rPr lang="en-US" altLang="zh-TW" sz="1200"/>
              <a:t>A</a:t>
            </a:r>
            <a:br>
              <a:rPr lang="en-US" altLang="zh-TW" sz="1200"/>
            </a:br>
            <a:r>
              <a:rPr lang="en-US" altLang="zh-TW" sz="1200"/>
              <a:t>NAS</a:t>
            </a:r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25173399-9637-87FA-3B54-3B4175758B5D}"/>
              </a:ext>
            </a:extLst>
          </p:cNvPr>
          <p:cNvCxnSpPr>
            <a:cxnSpLocks/>
            <a:stCxn id="32" idx="3"/>
            <a:endCxn id="138" idx="1"/>
          </p:cNvCxnSpPr>
          <p:nvPr/>
        </p:nvCxnSpPr>
        <p:spPr>
          <a:xfrm>
            <a:off x="9938221" y="3744521"/>
            <a:ext cx="819009" cy="59015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5" name="群組 4">
            <a:extLst>
              <a:ext uri="{FF2B5EF4-FFF2-40B4-BE49-F238E27FC236}">
                <a16:creationId xmlns:a16="http://schemas.microsoft.com/office/drawing/2014/main" id="{A1A5C6C6-B1AB-BC01-C095-AFD410F80889}"/>
              </a:ext>
            </a:extLst>
          </p:cNvPr>
          <p:cNvGrpSpPr/>
          <p:nvPr/>
        </p:nvGrpSpPr>
        <p:grpSpPr>
          <a:xfrm>
            <a:off x="1984039" y="1445937"/>
            <a:ext cx="2295007" cy="1223492"/>
            <a:chOff x="1984039" y="1445937"/>
            <a:chExt cx="2950236" cy="1742240"/>
          </a:xfrm>
        </p:grpSpPr>
        <p:sp>
          <p:nvSpPr>
            <p:cNvPr id="77" name="矩形: 圓角 76">
              <a:extLst>
                <a:ext uri="{FF2B5EF4-FFF2-40B4-BE49-F238E27FC236}">
                  <a16:creationId xmlns:a16="http://schemas.microsoft.com/office/drawing/2014/main" id="{82E92E90-0303-54DC-A529-4C9FDDCB3712}"/>
                </a:ext>
              </a:extLst>
            </p:cNvPr>
            <p:cNvSpPr/>
            <p:nvPr/>
          </p:nvSpPr>
          <p:spPr>
            <a:xfrm>
              <a:off x="1984039" y="1566515"/>
              <a:ext cx="2950236" cy="16216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9994952F-75AB-DC7E-6763-E3A3D6984F14}"/>
                </a:ext>
              </a:extLst>
            </p:cNvPr>
            <p:cNvSpPr/>
            <p:nvPr/>
          </p:nvSpPr>
          <p:spPr>
            <a:xfrm>
              <a:off x="2062847" y="1976839"/>
              <a:ext cx="1281022" cy="73501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/>
                <a:t>load balance</a:t>
              </a:r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665DAFFF-1ADB-A83B-FB5B-496ABF4F0B64}"/>
                </a:ext>
              </a:extLst>
            </p:cNvPr>
            <p:cNvSpPr/>
            <p:nvPr/>
          </p:nvSpPr>
          <p:spPr>
            <a:xfrm>
              <a:off x="3462520" y="1825681"/>
              <a:ext cx="1176747" cy="5022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/>
                <a:t>WEB Pod 1  </a:t>
              </a:r>
            </a:p>
          </p:txBody>
        </p:sp>
        <p:sp>
          <p:nvSpPr>
            <p:cNvPr id="199" name="矩形: 圓角 198">
              <a:extLst>
                <a:ext uri="{FF2B5EF4-FFF2-40B4-BE49-F238E27FC236}">
                  <a16:creationId xmlns:a16="http://schemas.microsoft.com/office/drawing/2014/main" id="{8966DD08-1BD8-E879-7B01-87B0488F7C41}"/>
                </a:ext>
              </a:extLst>
            </p:cNvPr>
            <p:cNvSpPr/>
            <p:nvPr/>
          </p:nvSpPr>
          <p:spPr>
            <a:xfrm>
              <a:off x="2350114" y="1445937"/>
              <a:ext cx="751828" cy="30255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K8S</a:t>
              </a:r>
              <a:endParaRPr lang="zh-TW" altLang="en-US" sz="1200"/>
            </a:p>
          </p:txBody>
        </p:sp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17795D2E-311E-C23C-631E-E54983FD756E}"/>
                </a:ext>
              </a:extLst>
            </p:cNvPr>
            <p:cNvSpPr/>
            <p:nvPr/>
          </p:nvSpPr>
          <p:spPr>
            <a:xfrm>
              <a:off x="3451452" y="2436583"/>
              <a:ext cx="1176747" cy="5022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/>
                <a:t>WEB Pod 2 </a:t>
              </a: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0DA0B2E6-E561-1D8A-C5E5-AEEBC2A1C2EA}"/>
              </a:ext>
            </a:extLst>
          </p:cNvPr>
          <p:cNvGrpSpPr/>
          <p:nvPr/>
        </p:nvGrpSpPr>
        <p:grpSpPr>
          <a:xfrm>
            <a:off x="6285698" y="4944189"/>
            <a:ext cx="1863417" cy="842410"/>
            <a:chOff x="1954779" y="1445934"/>
            <a:chExt cx="2950236" cy="1742243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CA8C481B-B637-2419-611B-CB9B6316DBB8}"/>
                </a:ext>
              </a:extLst>
            </p:cNvPr>
            <p:cNvSpPr/>
            <p:nvPr/>
          </p:nvSpPr>
          <p:spPr>
            <a:xfrm>
              <a:off x="1954779" y="1566515"/>
              <a:ext cx="2950236" cy="16216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DBCCA629-2A64-E4D9-7853-6C4C282586D4}"/>
                </a:ext>
              </a:extLst>
            </p:cNvPr>
            <p:cNvSpPr/>
            <p:nvPr/>
          </p:nvSpPr>
          <p:spPr>
            <a:xfrm>
              <a:off x="2796265" y="2132118"/>
              <a:ext cx="1449296" cy="65760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/>
                <a:t>Job Pod </a:t>
              </a: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8B6130C2-921B-7373-8F14-7B935E51277F}"/>
                </a:ext>
              </a:extLst>
            </p:cNvPr>
            <p:cNvSpPr/>
            <p:nvPr/>
          </p:nvSpPr>
          <p:spPr>
            <a:xfrm>
              <a:off x="2350114" y="1445934"/>
              <a:ext cx="892301" cy="51280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K8S</a:t>
              </a:r>
              <a:endParaRPr lang="zh-TW" altLang="en-US" sz="1200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BC906A7B-19C6-A634-7587-9B52599767C9}"/>
              </a:ext>
            </a:extLst>
          </p:cNvPr>
          <p:cNvGrpSpPr/>
          <p:nvPr/>
        </p:nvGrpSpPr>
        <p:grpSpPr>
          <a:xfrm>
            <a:off x="1268930" y="4042115"/>
            <a:ext cx="2295007" cy="1223492"/>
            <a:chOff x="1984039" y="1445937"/>
            <a:chExt cx="2950236" cy="1742240"/>
          </a:xfrm>
        </p:grpSpPr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75082A51-E378-13E0-89E2-9B14995110A3}"/>
                </a:ext>
              </a:extLst>
            </p:cNvPr>
            <p:cNvSpPr/>
            <p:nvPr/>
          </p:nvSpPr>
          <p:spPr>
            <a:xfrm>
              <a:off x="1984039" y="1566515"/>
              <a:ext cx="2950236" cy="16216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AEE1AA46-8227-0211-40E0-288517D26FFD}"/>
                </a:ext>
              </a:extLst>
            </p:cNvPr>
            <p:cNvSpPr/>
            <p:nvPr/>
          </p:nvSpPr>
          <p:spPr>
            <a:xfrm>
              <a:off x="2096339" y="2126643"/>
              <a:ext cx="2759504" cy="5076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/>
                <a:t>Radis Pod 1  </a:t>
              </a:r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237353FF-A3FC-0C0B-9D45-BC8CCBCFD5DB}"/>
                </a:ext>
              </a:extLst>
            </p:cNvPr>
            <p:cNvSpPr/>
            <p:nvPr/>
          </p:nvSpPr>
          <p:spPr>
            <a:xfrm>
              <a:off x="2350114" y="1445937"/>
              <a:ext cx="751828" cy="30255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K8S</a:t>
              </a:r>
              <a:endParaRPr lang="zh-TW" altLang="en-US" sz="1200"/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0ED946E-2DA0-B71B-76B8-04D03E4D7929}"/>
              </a:ext>
            </a:extLst>
          </p:cNvPr>
          <p:cNvGrpSpPr/>
          <p:nvPr/>
        </p:nvGrpSpPr>
        <p:grpSpPr>
          <a:xfrm>
            <a:off x="6515538" y="1582027"/>
            <a:ext cx="2295007" cy="1223492"/>
            <a:chOff x="1984039" y="1445937"/>
            <a:chExt cx="2950236" cy="1742240"/>
          </a:xfrm>
        </p:grpSpPr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7B0CC3E0-77F1-6BC6-AB3A-80117B1437B6}"/>
                </a:ext>
              </a:extLst>
            </p:cNvPr>
            <p:cNvSpPr/>
            <p:nvPr/>
          </p:nvSpPr>
          <p:spPr>
            <a:xfrm>
              <a:off x="1984039" y="1566515"/>
              <a:ext cx="2950236" cy="16216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08E350E-7BA0-02C6-5168-DE5DB3425BF0}"/>
                </a:ext>
              </a:extLst>
            </p:cNvPr>
            <p:cNvSpPr/>
            <p:nvPr/>
          </p:nvSpPr>
          <p:spPr>
            <a:xfrm>
              <a:off x="2082769" y="1970973"/>
              <a:ext cx="1281022" cy="73501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/>
                <a:t>load balance</a:t>
              </a:r>
            </a:p>
          </p:txBody>
        </p:sp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68B70529-6C39-A526-8685-169929B09BD8}"/>
                </a:ext>
              </a:extLst>
            </p:cNvPr>
            <p:cNvSpPr/>
            <p:nvPr/>
          </p:nvSpPr>
          <p:spPr>
            <a:xfrm>
              <a:off x="3462520" y="1825681"/>
              <a:ext cx="1176747" cy="5022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/>
                <a:t>API Pod 1  </a:t>
              </a:r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71880010-C49F-E08C-7EF0-6B836824EA3E}"/>
                </a:ext>
              </a:extLst>
            </p:cNvPr>
            <p:cNvSpPr/>
            <p:nvPr/>
          </p:nvSpPr>
          <p:spPr>
            <a:xfrm>
              <a:off x="2350114" y="1445937"/>
              <a:ext cx="751828" cy="30255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K8S</a:t>
              </a:r>
              <a:endParaRPr lang="zh-TW" altLang="en-US" sz="1200"/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E3CB5985-50F7-F22A-191E-078AEAD8EF8E}"/>
                </a:ext>
              </a:extLst>
            </p:cNvPr>
            <p:cNvSpPr/>
            <p:nvPr/>
          </p:nvSpPr>
          <p:spPr>
            <a:xfrm>
              <a:off x="3451452" y="2436583"/>
              <a:ext cx="1176747" cy="5022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/>
                <a:t>API Pod 2 </a:t>
              </a:r>
            </a:p>
          </p:txBody>
        </p:sp>
      </p:grp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7CF12E83-1BDF-A95E-256C-2573A2374069}"/>
              </a:ext>
            </a:extLst>
          </p:cNvPr>
          <p:cNvCxnSpPr>
            <a:cxnSpLocks/>
            <a:stCxn id="77" idx="2"/>
            <a:endCxn id="16" idx="0"/>
          </p:cNvCxnSpPr>
          <p:nvPr/>
        </p:nvCxnSpPr>
        <p:spPr>
          <a:xfrm flipH="1">
            <a:off x="2416434" y="2669429"/>
            <a:ext cx="715109" cy="14573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67B0E802-6E64-CA2F-C1A2-2E05C8175427}"/>
              </a:ext>
            </a:extLst>
          </p:cNvPr>
          <p:cNvCxnSpPr>
            <a:cxnSpLocks/>
            <a:stCxn id="8" idx="0"/>
            <a:endCxn id="25" idx="2"/>
          </p:cNvCxnSpPr>
          <p:nvPr/>
        </p:nvCxnSpPr>
        <p:spPr>
          <a:xfrm flipV="1">
            <a:off x="7217407" y="2805519"/>
            <a:ext cx="445635" cy="21969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6" name="文字方塊 185">
            <a:extLst>
              <a:ext uri="{FF2B5EF4-FFF2-40B4-BE49-F238E27FC236}">
                <a16:creationId xmlns:a16="http://schemas.microsoft.com/office/drawing/2014/main" id="{476BF1B1-B4C4-EF1B-A801-9943E6A23565}"/>
              </a:ext>
            </a:extLst>
          </p:cNvPr>
          <p:cNvSpPr txBox="1"/>
          <p:nvPr/>
        </p:nvSpPr>
        <p:spPr>
          <a:xfrm>
            <a:off x="8460180" y="1288458"/>
            <a:ext cx="1156051" cy="2769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zh-TW"/>
              <a:t>API</a:t>
            </a:r>
            <a:endParaRPr lang="zh-TW" altLang="en-US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99B5BE6C-A638-434F-BBBE-1DAB50676D39}"/>
              </a:ext>
            </a:extLst>
          </p:cNvPr>
          <p:cNvCxnSpPr>
            <a:cxnSpLocks/>
            <a:stCxn id="8" idx="3"/>
            <a:endCxn id="138" idx="1"/>
          </p:cNvCxnSpPr>
          <p:nvPr/>
        </p:nvCxnSpPr>
        <p:spPr>
          <a:xfrm flipV="1">
            <a:off x="8149115" y="4334671"/>
            <a:ext cx="2608115" cy="105987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CBF08814-E406-B0BA-A46F-86F72F20EB5F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113383" y="2273652"/>
            <a:ext cx="2099786" cy="407227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8F9A5D7B-406D-7233-5C01-B6727EBA1F1D}"/>
              </a:ext>
            </a:extLst>
          </p:cNvPr>
          <p:cNvCxnSpPr>
            <a:cxnSpLocks/>
            <a:stCxn id="6" idx="6"/>
            <a:endCxn id="25" idx="1"/>
          </p:cNvCxnSpPr>
          <p:nvPr/>
        </p:nvCxnSpPr>
        <p:spPr>
          <a:xfrm flipV="1">
            <a:off x="6270316" y="2236111"/>
            <a:ext cx="245222" cy="375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CDEBE7B9-F424-BCE5-B067-C2586E05085B}"/>
              </a:ext>
            </a:extLst>
          </p:cNvPr>
          <p:cNvCxnSpPr>
            <a:cxnSpLocks/>
            <a:stCxn id="25" idx="2"/>
            <a:endCxn id="201" idx="0"/>
          </p:cNvCxnSpPr>
          <p:nvPr/>
        </p:nvCxnSpPr>
        <p:spPr>
          <a:xfrm flipH="1">
            <a:off x="6431233" y="2805519"/>
            <a:ext cx="1231809" cy="284918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A31E5F8D-2C15-916C-5A59-8D63DBB38322}"/>
              </a:ext>
            </a:extLst>
          </p:cNvPr>
          <p:cNvCxnSpPr>
            <a:cxnSpLocks/>
            <a:stCxn id="32" idx="1"/>
            <a:endCxn id="201" idx="2"/>
          </p:cNvCxnSpPr>
          <p:nvPr/>
        </p:nvCxnSpPr>
        <p:spPr>
          <a:xfrm flipH="1" flipV="1">
            <a:off x="6431233" y="3381965"/>
            <a:ext cx="1211981" cy="362556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A6E1D7EE-537D-488F-2267-71B21FA36543}"/>
              </a:ext>
            </a:extLst>
          </p:cNvPr>
          <p:cNvCxnSpPr>
            <a:cxnSpLocks/>
            <a:stCxn id="8" idx="0"/>
            <a:endCxn id="201" idx="2"/>
          </p:cNvCxnSpPr>
          <p:nvPr/>
        </p:nvCxnSpPr>
        <p:spPr>
          <a:xfrm flipH="1" flipV="1">
            <a:off x="6431233" y="3381965"/>
            <a:ext cx="786174" cy="1620527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0E601054-12DA-6D03-DE1C-1B0B8A0F2C81}"/>
              </a:ext>
            </a:extLst>
          </p:cNvPr>
          <p:cNvGrpSpPr/>
          <p:nvPr/>
        </p:nvGrpSpPr>
        <p:grpSpPr>
          <a:xfrm>
            <a:off x="7643214" y="3090437"/>
            <a:ext cx="2295007" cy="1223492"/>
            <a:chOff x="1984039" y="1445937"/>
            <a:chExt cx="2950236" cy="1742240"/>
          </a:xfrm>
        </p:grpSpPr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AA5F694A-E24F-6DCA-0D65-5C6306FFA20D}"/>
                </a:ext>
              </a:extLst>
            </p:cNvPr>
            <p:cNvSpPr/>
            <p:nvPr/>
          </p:nvSpPr>
          <p:spPr>
            <a:xfrm>
              <a:off x="1984039" y="1566515"/>
              <a:ext cx="2950236" cy="16216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9EF69BF6-685D-DC41-FE3A-EC289C1AC257}"/>
                </a:ext>
              </a:extLst>
            </p:cNvPr>
            <p:cNvSpPr/>
            <p:nvPr/>
          </p:nvSpPr>
          <p:spPr>
            <a:xfrm>
              <a:off x="2061921" y="2005932"/>
              <a:ext cx="1281022" cy="73501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/>
                <a:t>load balance</a:t>
              </a:r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ED8D6415-0D14-79F2-D146-50B595B81390}"/>
                </a:ext>
              </a:extLst>
            </p:cNvPr>
            <p:cNvSpPr/>
            <p:nvPr/>
          </p:nvSpPr>
          <p:spPr>
            <a:xfrm>
              <a:off x="3462520" y="1825681"/>
              <a:ext cx="1176747" cy="5022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/>
                <a:t>Backend Pod 1  </a:t>
              </a:r>
            </a:p>
          </p:txBody>
        </p:sp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89C8F08C-FEB5-6BDF-4642-713F3DADD9B5}"/>
                </a:ext>
              </a:extLst>
            </p:cNvPr>
            <p:cNvSpPr/>
            <p:nvPr/>
          </p:nvSpPr>
          <p:spPr>
            <a:xfrm>
              <a:off x="2350114" y="1445937"/>
              <a:ext cx="751828" cy="30255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K8S</a:t>
              </a:r>
              <a:endParaRPr lang="zh-TW" altLang="en-US" sz="1200"/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BF268D22-F0E1-6B39-E991-EB53B74AE4AE}"/>
                </a:ext>
              </a:extLst>
            </p:cNvPr>
            <p:cNvSpPr/>
            <p:nvPr/>
          </p:nvSpPr>
          <p:spPr>
            <a:xfrm>
              <a:off x="3451452" y="2436583"/>
              <a:ext cx="1176747" cy="5022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/>
                <a:t>Backend Pod 2 </a:t>
              </a:r>
            </a:p>
          </p:txBody>
        </p:sp>
      </p:grp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C8A5A1D8-95BE-6240-5542-9ACF84611B0E}"/>
              </a:ext>
            </a:extLst>
          </p:cNvPr>
          <p:cNvSpPr txBox="1"/>
          <p:nvPr/>
        </p:nvSpPr>
        <p:spPr>
          <a:xfrm>
            <a:off x="8639258" y="5960751"/>
            <a:ext cx="1146158" cy="2769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後台管理系統</a:t>
            </a:r>
          </a:p>
        </p:txBody>
      </p: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3FC11693-8C14-D3F0-BA13-8C31D6B172AF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741743" y="2516339"/>
            <a:ext cx="681548" cy="561777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4403E64D-BBE8-B8F2-76F4-F4302EAE6A05}"/>
              </a:ext>
            </a:extLst>
          </p:cNvPr>
          <p:cNvSpPr txBox="1"/>
          <p:nvPr/>
        </p:nvSpPr>
        <p:spPr>
          <a:xfrm>
            <a:off x="8463839" y="1565405"/>
            <a:ext cx="1858716" cy="4726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zh-TW" sz="800"/>
              <a:t>eservice.api.twmsolution.com</a:t>
            </a:r>
          </a:p>
          <a:p>
            <a:r>
              <a:rPr lang="en-US" altLang="zh-TW" sz="800"/>
              <a:t>sit-eservice. api.twmsolution.com</a:t>
            </a:r>
          </a:p>
          <a:p>
            <a:r>
              <a:rPr lang="en-US" altLang="zh-TW" sz="800" err="1"/>
              <a:t>uat</a:t>
            </a:r>
            <a:r>
              <a:rPr lang="en-US" altLang="zh-TW" sz="800"/>
              <a:t>-eservice. api.twmsolution.com</a:t>
            </a:r>
            <a:endParaRPr lang="zh-TW" altLang="en-US" sz="800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EBC82AB-C8FA-C2F9-DBF2-60C8D0F07B75}"/>
              </a:ext>
            </a:extLst>
          </p:cNvPr>
          <p:cNvSpPr/>
          <p:nvPr/>
        </p:nvSpPr>
        <p:spPr>
          <a:xfrm>
            <a:off x="3760819" y="4385206"/>
            <a:ext cx="1550941" cy="74471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solidFill>
                  <a:schemeClr val="tx1"/>
                </a:solidFill>
              </a:rPr>
              <a:t>DATA</a:t>
            </a:r>
            <a:r>
              <a:rPr lang="zh-TW" altLang="en-US" sz="1200">
                <a:solidFill>
                  <a:schemeClr val="tx1"/>
                </a:solidFill>
              </a:rPr>
              <a:t> 空間 </a:t>
            </a:r>
            <a:r>
              <a:rPr lang="en-US" altLang="zh-TW" sz="1200">
                <a:solidFill>
                  <a:schemeClr val="tx1"/>
                </a:solidFill>
              </a:rPr>
              <a:t>B</a:t>
            </a:r>
            <a:br>
              <a:rPr lang="en-US" altLang="zh-TW" sz="1200">
                <a:solidFill>
                  <a:schemeClr val="tx1"/>
                </a:solidFill>
              </a:rPr>
            </a:br>
            <a:r>
              <a:rPr lang="en-US" altLang="zh-TW" sz="1200">
                <a:solidFill>
                  <a:schemeClr val="tx1"/>
                </a:solidFill>
              </a:rPr>
              <a:t>VM</a:t>
            </a:r>
            <a:r>
              <a:rPr lang="zh-TW" altLang="en-US" sz="1200">
                <a:solidFill>
                  <a:schemeClr val="tx1"/>
                </a:solidFill>
              </a:rPr>
              <a:t>*</a:t>
            </a:r>
            <a:r>
              <a:rPr lang="en-US" altLang="zh-TW" sz="120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altLang="zh-TW" sz="1200">
                <a:solidFill>
                  <a:schemeClr val="tx1"/>
                </a:solidFill>
              </a:rPr>
              <a:t>OS</a:t>
            </a:r>
            <a:r>
              <a:rPr lang="zh-TW" altLang="en-US" sz="1200">
                <a:solidFill>
                  <a:schemeClr val="tx1"/>
                </a:solidFill>
              </a:rPr>
              <a:t> </a:t>
            </a:r>
            <a:r>
              <a:rPr lang="en-US" altLang="zh-TW" sz="1200">
                <a:solidFill>
                  <a:schemeClr val="tx1"/>
                </a:solidFill>
              </a:rPr>
              <a:t>:</a:t>
            </a:r>
            <a:r>
              <a:rPr lang="zh-TW" altLang="en-US" sz="1200">
                <a:solidFill>
                  <a:schemeClr val="tx1"/>
                </a:solidFill>
              </a:rPr>
              <a:t> 十分鐘 </a:t>
            </a:r>
            <a:r>
              <a:rPr lang="en-US" altLang="zh-TW" sz="1200">
                <a:solidFill>
                  <a:schemeClr val="tx1"/>
                </a:solidFill>
              </a:rPr>
              <a:t>/</a:t>
            </a:r>
            <a:r>
              <a:rPr lang="zh-TW" altLang="en-US" sz="1200">
                <a:solidFill>
                  <a:schemeClr val="tx1"/>
                </a:solidFill>
              </a:rPr>
              <a:t> 手動 </a:t>
            </a:r>
            <a:endParaRPr lang="en-US" altLang="zh-TW" sz="1200">
              <a:solidFill>
                <a:schemeClr val="tx1"/>
              </a:solidFill>
            </a:endParaRPr>
          </a:p>
          <a:p>
            <a:pPr algn="ctr"/>
            <a:r>
              <a:rPr lang="en-US" altLang="zh-TW" sz="1200">
                <a:solidFill>
                  <a:schemeClr val="tx1"/>
                </a:solidFill>
              </a:rPr>
              <a:t>(</a:t>
            </a:r>
            <a:r>
              <a:rPr lang="zh-TW" altLang="en-US" sz="1200">
                <a:solidFill>
                  <a:schemeClr val="tx1"/>
                </a:solidFill>
              </a:rPr>
              <a:t> </a:t>
            </a:r>
            <a:r>
              <a:rPr lang="en-US" altLang="zh-TW" sz="1200">
                <a:solidFill>
                  <a:schemeClr val="tx1"/>
                </a:solidFill>
              </a:rPr>
              <a:t>SOP</a:t>
            </a:r>
            <a:r>
              <a:rPr lang="zh-TW" altLang="en-US" sz="1200">
                <a:solidFill>
                  <a:schemeClr val="tx1"/>
                </a:solidFill>
              </a:rPr>
              <a:t> 五月確認 </a:t>
            </a:r>
            <a:r>
              <a:rPr lang="en-US" altLang="zh-TW" sz="1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22C33A41-15AF-8D53-6DC6-EC23A0F1E4AF}"/>
              </a:ext>
            </a:extLst>
          </p:cNvPr>
          <p:cNvSpPr/>
          <p:nvPr/>
        </p:nvSpPr>
        <p:spPr>
          <a:xfrm>
            <a:off x="852191" y="2111291"/>
            <a:ext cx="865385" cy="4853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/>
              <a:t>WAF</a:t>
            </a:r>
          </a:p>
        </p:txBody>
      </p:sp>
    </p:spTree>
    <p:extLst>
      <p:ext uri="{BB962C8B-B14F-4D97-AF65-F5344CB8AC3E}">
        <p14:creationId xmlns:p14="http://schemas.microsoft.com/office/powerpoint/2010/main" val="182041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2">
            <a:extLst>
              <a:ext uri="{FF2B5EF4-FFF2-40B4-BE49-F238E27FC236}">
                <a16:creationId xmlns:a16="http://schemas.microsoft.com/office/drawing/2014/main" id="{6AC96062-D8A1-A64C-5F01-AE42B83A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系統環境架構 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B9C30A3-C013-85A4-AD70-204C71CAA038}"/>
              </a:ext>
            </a:extLst>
          </p:cNvPr>
          <p:cNvSpPr txBox="1"/>
          <p:nvPr/>
        </p:nvSpPr>
        <p:spPr>
          <a:xfrm>
            <a:off x="1841967" y="2444118"/>
            <a:ext cx="2151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DEV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7EE9B48-3C5B-5CC8-EE24-40679C3FD135}"/>
              </a:ext>
            </a:extLst>
          </p:cNvPr>
          <p:cNvSpPr txBox="1"/>
          <p:nvPr/>
        </p:nvSpPr>
        <p:spPr>
          <a:xfrm>
            <a:off x="5103388" y="2444117"/>
            <a:ext cx="2151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UAT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31C2279-8A55-1F18-02CC-20CC383F9719}"/>
              </a:ext>
            </a:extLst>
          </p:cNvPr>
          <p:cNvSpPr txBox="1"/>
          <p:nvPr/>
        </p:nvSpPr>
        <p:spPr>
          <a:xfrm>
            <a:off x="8612222" y="2496295"/>
            <a:ext cx="2151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8FD70EB-704B-2CDD-8B57-11A13A584681}"/>
              </a:ext>
            </a:extLst>
          </p:cNvPr>
          <p:cNvSpPr txBox="1"/>
          <p:nvPr/>
        </p:nvSpPr>
        <p:spPr>
          <a:xfrm>
            <a:off x="4325074" y="4222117"/>
            <a:ext cx="39113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000" b="1">
                <a:solidFill>
                  <a:srgbClr val="EC6A2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三個環境</a:t>
            </a:r>
            <a:endParaRPr lang="en-US" altLang="zh-TW" sz="6000" b="1">
              <a:solidFill>
                <a:srgbClr val="EC6A2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4418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A621D-7EE4-BAC0-026E-F30D76DB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E2489-AEEE-04FB-4A8B-97D6ABE7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UC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92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2">
            <a:extLst>
              <a:ext uri="{FF2B5EF4-FFF2-40B4-BE49-F238E27FC236}">
                <a16:creationId xmlns:a16="http://schemas.microsoft.com/office/drawing/2014/main" id="{6AC96062-D8A1-A64C-5F01-AE42B83A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ERM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4153AA1-E463-0D82-2212-B656275C0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35" y="1387703"/>
            <a:ext cx="9707330" cy="102884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99BEBB8-3A06-4330-D751-D3A92253B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35" y="2610222"/>
            <a:ext cx="9671207" cy="388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7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2">
            <a:extLst>
              <a:ext uri="{FF2B5EF4-FFF2-40B4-BE49-F238E27FC236}">
                <a16:creationId xmlns:a16="http://schemas.microsoft.com/office/drawing/2014/main" id="{6AC96062-D8A1-A64C-5F01-AE42B83A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ERM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D1702B-744C-2F2A-68D7-988DC3EEF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1495155"/>
            <a:ext cx="9831172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4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8D62-FA7C-4BCC-EEB1-9DDECE9BB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2">
            <a:extLst>
              <a:ext uri="{FF2B5EF4-FFF2-40B4-BE49-F238E27FC236}">
                <a16:creationId xmlns:a16="http://schemas.microsoft.com/office/drawing/2014/main" id="{FBB1E5CF-C6C6-804D-6E26-2A4A6718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ERM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DE53E4A-5C9D-F4E0-4C35-E25BD6DB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5" y="1480865"/>
            <a:ext cx="9735909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4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8924-F3BD-F7EB-0438-516833EB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2">
            <a:extLst>
              <a:ext uri="{FF2B5EF4-FFF2-40B4-BE49-F238E27FC236}">
                <a16:creationId xmlns:a16="http://schemas.microsoft.com/office/drawing/2014/main" id="{69FE8C4A-6026-6D58-4D7E-C82155AE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899"/>
            <a:ext cx="10515600" cy="735013"/>
          </a:xfrm>
        </p:spPr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後台管理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38A8202-031E-93BB-A201-6032FD13A4DC}"/>
              </a:ext>
            </a:extLst>
          </p:cNvPr>
          <p:cNvSpPr/>
          <p:nvPr/>
        </p:nvSpPr>
        <p:spPr>
          <a:xfrm>
            <a:off x="6967893" y="1557168"/>
            <a:ext cx="1602685" cy="494834"/>
          </a:xfrm>
          <a:prstGeom prst="roundRect">
            <a:avLst>
              <a:gd name="adj" fmla="val 49987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n-ea"/>
              </a:rPr>
              <a:t>網頁管理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F9A9CAD0-679A-83F7-901A-EC69C3B68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58161"/>
              </p:ext>
            </p:extLst>
          </p:nvPr>
        </p:nvGraphicFramePr>
        <p:xfrm>
          <a:off x="6996359" y="2052002"/>
          <a:ext cx="1767171" cy="209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171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網站選單管理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網站頁面管理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活動頁面管理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網頁歷程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1EDC3063-CC77-8006-3E21-020A98383160}"/>
              </a:ext>
            </a:extLst>
          </p:cNvPr>
          <p:cNvSpPr/>
          <p:nvPr/>
        </p:nvSpPr>
        <p:spPr>
          <a:xfrm>
            <a:off x="3017431" y="1557168"/>
            <a:ext cx="1807231" cy="494834"/>
          </a:xfrm>
          <a:prstGeom prst="roundRect">
            <a:avLst>
              <a:gd name="adj" fmla="val 4998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n-ea"/>
              </a:rPr>
              <a:t>系統管理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04D37D63-F09F-CF3C-C543-89D37080C72A}"/>
              </a:ext>
            </a:extLst>
          </p:cNvPr>
          <p:cNvSpPr/>
          <p:nvPr/>
        </p:nvSpPr>
        <p:spPr>
          <a:xfrm>
            <a:off x="4968833" y="1557168"/>
            <a:ext cx="1825482" cy="494834"/>
          </a:xfrm>
          <a:prstGeom prst="roundRect">
            <a:avLst>
              <a:gd name="adj" fmla="val 4998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網站基礎設定</a:t>
            </a:r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4B5DD4FC-75F1-7FD8-3BA2-24D1BA962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211305"/>
              </p:ext>
            </p:extLst>
          </p:nvPr>
        </p:nvGraphicFramePr>
        <p:xfrm>
          <a:off x="3017432" y="2066926"/>
          <a:ext cx="2373718" cy="4155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18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310168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CD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基本設定檔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帳號管理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帳號登入紀錄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維運單位管理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後台目錄管理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帳號目錄管理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Job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資料管理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Job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執行紀錄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資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料庫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可視化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NAS檔案資料夾視化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A651505F-5B66-ECB3-50E7-B57940009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287561"/>
              </p:ext>
            </p:extLst>
          </p:nvPr>
        </p:nvGraphicFramePr>
        <p:xfrm>
          <a:off x="4968832" y="2031311"/>
          <a:ext cx="1767171" cy="209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171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Template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管理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網站基本資料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元件管理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zh-TW" sz="1800" b="1" i="0" u="none" strike="noStrike" noProof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Microsoft JhengHei"/>
                          <a:ea typeface="Microsoft JhengHei"/>
                        </a:rPr>
                        <a:t>選單位置管理</a:t>
                      </a:r>
                      <a:endParaRPr lang="zh-TW" altLang="en-US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88806CEF-DD97-66FF-6175-1F5C974FADDD}"/>
              </a:ext>
            </a:extLst>
          </p:cNvPr>
          <p:cNvSpPr/>
          <p:nvPr/>
        </p:nvSpPr>
        <p:spPr>
          <a:xfrm>
            <a:off x="8763991" y="1551401"/>
            <a:ext cx="1974545" cy="494834"/>
          </a:xfrm>
          <a:prstGeom prst="roundRect">
            <a:avLst>
              <a:gd name="adj" fmla="val 49987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共用管理機制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A4E4B63-2B7A-A2BF-C959-2E3CFE6F05C1}"/>
              </a:ext>
            </a:extLst>
          </p:cNvPr>
          <p:cNvSpPr/>
          <p:nvPr/>
        </p:nvSpPr>
        <p:spPr>
          <a:xfrm>
            <a:off x="1252483" y="1572092"/>
            <a:ext cx="1591370" cy="494834"/>
          </a:xfrm>
          <a:prstGeom prst="roundRect">
            <a:avLst>
              <a:gd name="adj" fmla="val 4998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n-ea"/>
              </a:rPr>
              <a:t>登入</a:t>
            </a:r>
            <a:r>
              <a:rPr lang="en-US" altLang="zh-TW" b="1">
                <a:latin typeface="+mn-ea"/>
              </a:rPr>
              <a:t>/</a:t>
            </a:r>
            <a:r>
              <a:rPr lang="zh-TW" altLang="en-US" b="1">
                <a:latin typeface="+mn-ea"/>
              </a:rPr>
              <a:t>登出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F90EAAE-3A8D-197B-D09A-58047C73B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69328"/>
              </p:ext>
            </p:extLst>
          </p:nvPr>
        </p:nvGraphicFramePr>
        <p:xfrm>
          <a:off x="1252962" y="2047492"/>
          <a:ext cx="1520129" cy="1686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12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4937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登入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登出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密碼變更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rgbClr val="FF0000"/>
                          </a:solidFill>
                        </a:rPr>
                        <a:t>儀表板</a:t>
                      </a:r>
                      <a:endParaRPr lang="en-US" altLang="zh-TW" sz="1800" b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C9F7BF97-94C6-67F7-1987-352B5BAF45BB}"/>
              </a:ext>
            </a:extLst>
          </p:cNvPr>
          <p:cNvSpPr txBox="1"/>
          <p:nvPr/>
        </p:nvSpPr>
        <p:spPr>
          <a:xfrm>
            <a:off x="8763991" y="2040468"/>
            <a:ext cx="2743200" cy="46115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b="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文件類型管理</a:t>
            </a:r>
            <a:endParaRPr lang="en-US" altLang="zh-TW" b="1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lvl="0">
              <a:lnSpc>
                <a:spcPct val="150000"/>
              </a:lnSpc>
            </a:pPr>
            <a:r>
              <a:rPr lang="zh-TW" altLang="en-US" b="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文件資料管理</a:t>
            </a:r>
            <a:endParaRPr lang="en-US" altLang="zh-TW" b="1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rPr>
              <a:t>貼標管理</a:t>
            </a:r>
            <a:endParaRPr lang="en-US" altLang="zh-TW" b="1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  <a:p>
            <a:pPr lvl="0" algn="l">
              <a:lnSpc>
                <a:spcPct val="150000"/>
              </a:lnSpc>
            </a:pPr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rPr>
              <a:t>最新消息管理</a:t>
            </a:r>
            <a:endParaRPr lang="en-US" altLang="zh-TW" b="1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  <a:p>
            <a:pPr lvl="0" algn="l">
              <a:lnSpc>
                <a:spcPct val="150000"/>
              </a:lnSpc>
            </a:pPr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rPr>
              <a:t>文章資料管理</a:t>
            </a:r>
            <a:endParaRPr lang="en-US" altLang="zh-TW" b="1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Arial"/>
              </a:rPr>
              <a:t>訊息發送資料</a:t>
            </a:r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Arial"/>
              </a:rPr>
              <a:t>(M+)</a:t>
            </a:r>
          </a:p>
          <a:p>
            <a:pPr>
              <a:lnSpc>
                <a:spcPct val="150000"/>
              </a:lnSpc>
            </a:pPr>
            <a:r>
              <a:rPr lang="zh-TW" altLang="en-US" b="1">
                <a:solidFill>
                  <a:srgbClr val="F99437"/>
                </a:solidFill>
                <a:latin typeface="+mj-ea"/>
                <a:ea typeface="+mj-ea"/>
                <a:cs typeface="Arial"/>
              </a:rPr>
              <a:t>活動資訊管理</a:t>
            </a:r>
            <a:endParaRPr lang="en-US" altLang="zh-TW" b="1">
              <a:solidFill>
                <a:srgbClr val="F99437"/>
              </a:solidFill>
              <a:latin typeface="+mj-ea"/>
              <a:ea typeface="+mj-ea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zh-TW" altLang="en-US" b="1">
                <a:solidFill>
                  <a:schemeClr val="accent5">
                    <a:lumMod val="60000"/>
                    <a:lumOff val="40000"/>
                  </a:schemeClr>
                </a:solidFill>
                <a:latin typeface="+mj-ea"/>
                <a:ea typeface="+mj-ea"/>
                <a:cs typeface="Arial"/>
              </a:rPr>
              <a:t>活動留資表單設定</a:t>
            </a:r>
            <a:endParaRPr lang="en-US" altLang="zh-TW" b="1">
              <a:solidFill>
                <a:schemeClr val="accent5">
                  <a:lumMod val="60000"/>
                  <a:lumOff val="40000"/>
                </a:schemeClr>
              </a:solidFill>
              <a:latin typeface="+mj-ea"/>
              <a:ea typeface="+mj-ea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zh-TW" altLang="en-US" b="1">
                <a:solidFill>
                  <a:schemeClr val="accent5">
                    <a:lumMod val="60000"/>
                    <a:lumOff val="40000"/>
                  </a:schemeClr>
                </a:solidFill>
                <a:latin typeface="+mj-ea"/>
                <a:ea typeface="+mj-ea"/>
                <a:cs typeface="Arial"/>
              </a:rPr>
              <a:t>活動留資資料管理</a:t>
            </a:r>
            <a:endParaRPr lang="en-US" altLang="zh-TW" b="1">
              <a:solidFill>
                <a:schemeClr val="accent5">
                  <a:lumMod val="60000"/>
                  <a:lumOff val="40000"/>
                </a:schemeClr>
              </a:solidFill>
              <a:latin typeface="+mj-ea"/>
              <a:ea typeface="+mj-ea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zh-TW" b="1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  <a:cs typeface="Arial"/>
              </a:rPr>
              <a:t>FAQ</a:t>
            </a:r>
            <a:r>
              <a:rPr lang="zh-TW" altLang="en-US" b="1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  <a:cs typeface="Arial"/>
              </a:rPr>
              <a:t>類別管理</a:t>
            </a:r>
            <a:endParaRPr lang="en-US" altLang="zh-TW" b="1">
              <a:solidFill>
                <a:schemeClr val="accent4">
                  <a:lumMod val="75000"/>
                </a:schemeClr>
              </a:solidFill>
              <a:latin typeface="+mj-ea"/>
              <a:ea typeface="+mj-ea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zh-TW" b="1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  <a:cs typeface="Arial"/>
              </a:rPr>
              <a:t>FAQ</a:t>
            </a:r>
            <a:r>
              <a:rPr lang="zh-TW" altLang="en-US" b="1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  <a:cs typeface="Arial"/>
              </a:rPr>
              <a:t>資料管理</a:t>
            </a:r>
            <a:endParaRPr lang="en-US" altLang="zh-TW" b="1">
              <a:solidFill>
                <a:schemeClr val="accent4">
                  <a:lumMod val="75000"/>
                </a:schemeClr>
              </a:solidFill>
              <a:latin typeface="+mj-ea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951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登入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portal_empy</a:t>
            </a:r>
            <a:endParaRPr lang="zh-TW" altLang="en-US" sz="1600" b="1">
              <a:latin typeface="+mj-ea"/>
              <a:ea typeface="+mj-ea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8F08A2-68B2-313B-6647-4F1E1B4EA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56796"/>
              </p:ext>
            </p:extLst>
          </p:nvPr>
        </p:nvGraphicFramePr>
        <p:xfrm>
          <a:off x="838201" y="1951413"/>
          <a:ext cx="10515599" cy="3332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分兩階段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u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第一階段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1257300" lvl="2" indent="-342900" algn="l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上單申請登入權限，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admin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後台註冊後給予密碼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1257300" lvl="2" indent="-342900" algn="l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登入時，使用員工編號</a:t>
                      </a:r>
                      <a:r>
                        <a:rPr lang="zh-TW" altLang="en-US" sz="1800" b="1" strike="sngStrike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，帳號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，密碼登入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u"/>
                      </a:pP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第二階段 </a:t>
                      </a: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(2025/2)</a:t>
                      </a:r>
                    </a:p>
                    <a:p>
                      <a:pPr marL="1257300" lvl="2" indent="-342900" algn="l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上單申請登入權限，</a:t>
                      </a: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admin </a:t>
                      </a: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後台註冊後給予密碼，以工號為key</a:t>
                      </a:r>
                      <a:endParaRPr lang="en-US" altLang="zh-TW" sz="1800" b="1" kern="1200">
                        <a:solidFill>
                          <a:srgbClr val="FF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257300" lvl="2" indent="-342900" algn="l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j-ea"/>
                          <a:ea typeface="+mn-ea"/>
                          <a:cs typeface="+mn-cs"/>
                        </a:rPr>
                        <a:t>進入任一頁面，系統進行SSO認證是否為員工若成功允許登入，若失敗則跳系統登入畫面手動登入</a:t>
                      </a:r>
                      <a:endParaRPr lang="en-US" altLang="zh-TW" sz="1800" b="1">
                        <a:solidFill>
                          <a:srgbClr val="FF000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57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395A-AB04-B25E-040F-28F8B15F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8AFA5A9-0B3E-B019-116F-21EA48DD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登入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8FEFDF0-41E9-CEFE-EB47-4AE768AE5C85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portal_empy</a:t>
            </a:r>
            <a:endParaRPr lang="zh-TW" altLang="en-US" sz="1600" b="1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E9C910-D5E3-A733-E4CF-DD07990A4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812"/>
            <a:ext cx="12192000" cy="534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38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8E19E-7ABF-A91B-F805-FBEBADAB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A8CA0F6-367B-9D04-946E-7BFFFBD5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系統管理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CD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基本設定檔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E8C7FF-EC66-FDE3-9CB4-7A56D96D7EB9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7ED96AD-5CAB-A6C6-F9C8-E9461FF1C8CB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50FEBBF-FDE5-D305-87D5-4925392FFE81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1104792-D1AE-87EB-44DB-E446D271179F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2325869-6350-7CE8-2704-243E1C4DEC97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C22E0D2-6993-1FA5-66E3-F905AAD6EAAA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6E51707-E207-7888-5CBC-9167FC0BE9D8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574500"/>
          <a:ext cx="10515599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(“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?”)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0DC7BBFD-D416-B915-49F1-233BCB595624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600" b="1">
                <a:latin typeface="+mj-ea"/>
                <a:ea typeface="+mj-ea"/>
              </a:rPr>
              <a:t>portal_definition</a:t>
            </a:r>
          </a:p>
        </p:txBody>
      </p:sp>
    </p:spTree>
    <p:extLst>
      <p:ext uri="{BB962C8B-B14F-4D97-AF65-F5344CB8AC3E}">
        <p14:creationId xmlns:p14="http://schemas.microsoft.com/office/powerpoint/2010/main" val="255192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系統管理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latin typeface="+mn-ea"/>
              </a:rPr>
              <a:t>帳號管理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13E69E7-EBD6-7C7C-BE0C-991B89EDA7C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74500"/>
          <a:ext cx="10763250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按下刪除鍵，要進行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confirm (“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確認要刪除嗎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?”)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，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[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=“Y”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CED5EECD-6A1A-60F6-C1F0-F17C4FD22B58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portal_empy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A5B487-2435-29E5-F22D-E79AD076C29B}"/>
              </a:ext>
            </a:extLst>
          </p:cNvPr>
          <p:cNvSpPr/>
          <p:nvPr/>
        </p:nvSpPr>
        <p:spPr>
          <a:xfrm>
            <a:off x="3840358" y="1155120"/>
            <a:ext cx="5151241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ECE20B5-0D8C-8D0C-A3D3-E884B2C092B3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067C605-2265-8813-A526-0B7DA2E6A345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E7D5D03-AB7C-63D7-E02E-0B187797BAB3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97A386A-A300-AD4B-16D1-832882DFB665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51B1541-3526-6B4C-396B-568465328021}"/>
              </a:ext>
            </a:extLst>
          </p:cNvPr>
          <p:cNvSpPr txBox="1"/>
          <p:nvPr/>
        </p:nvSpPr>
        <p:spPr>
          <a:xfrm>
            <a:off x="3840359" y="1890134"/>
            <a:ext cx="5151239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設定後台目錄權限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設定維運單位才出現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EF8EA8F-B198-3701-B31A-6D64D5F9050D}"/>
              </a:ext>
            </a:extLst>
          </p:cNvPr>
          <p:cNvSpPr/>
          <p:nvPr/>
        </p:nvSpPr>
        <p:spPr>
          <a:xfrm>
            <a:off x="5008951" y="1343025"/>
            <a:ext cx="212527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strike="sngStrike">
                <a:highlight>
                  <a:srgbClr val="000000"/>
                </a:highlight>
                <a:latin typeface="+mj-ea"/>
                <a:ea typeface="+mj-ea"/>
              </a:rPr>
              <a:t>設定後台目錄權限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24B36FD-B094-A668-4D7B-462A23C2CECA}"/>
              </a:ext>
            </a:extLst>
          </p:cNvPr>
          <p:cNvSpPr/>
          <p:nvPr/>
        </p:nvSpPr>
        <p:spPr>
          <a:xfrm>
            <a:off x="7191965" y="1343025"/>
            <a:ext cx="1704386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設定維運單位</a:t>
            </a:r>
          </a:p>
        </p:txBody>
      </p:sp>
    </p:spTree>
    <p:extLst>
      <p:ext uri="{BB962C8B-B14F-4D97-AF65-F5344CB8AC3E}">
        <p14:creationId xmlns:p14="http://schemas.microsoft.com/office/powerpoint/2010/main" val="402367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系統管理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latin typeface="+mn-ea"/>
              </a:rPr>
              <a:t>維運單位管理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13E69E7-EBD6-7C7C-BE0C-991B89EDA7C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74500"/>
          <a:ext cx="10763250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按下刪除鍵，要進行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confirm (“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確認要刪除嗎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?”)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，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[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=“Y”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CED5EECD-6A1A-60F6-C1F0-F17C4FD22B58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portal_page_dept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A5B487-2435-29E5-F22D-E79AD076C29B}"/>
              </a:ext>
            </a:extLst>
          </p:cNvPr>
          <p:cNvSpPr/>
          <p:nvPr/>
        </p:nvSpPr>
        <p:spPr>
          <a:xfrm>
            <a:off x="3840358" y="1155120"/>
            <a:ext cx="2655691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ECE20B5-0D8C-8D0C-A3D3-E884B2C092B3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067C605-2265-8813-A526-0B7DA2E6A345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E7D5D03-AB7C-63D7-E02E-0B187797BAB3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97A386A-A300-AD4B-16D1-832882DFB665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51B1541-3526-6B4C-396B-568465328021}"/>
              </a:ext>
            </a:extLst>
          </p:cNvPr>
          <p:cNvSpPr txBox="1"/>
          <p:nvPr/>
        </p:nvSpPr>
        <p:spPr>
          <a:xfrm>
            <a:off x="3840359" y="1890134"/>
            <a:ext cx="2655691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93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 </a:t>
            </a:r>
            <a:r>
              <a:rPr lang="zh-TW" altLang="en-US" b="1">
                <a:latin typeface="微軟正黑體"/>
                <a:ea typeface="微軟正黑體"/>
              </a:rPr>
              <a:t>系統管理 </a:t>
            </a:r>
            <a:r>
              <a:rPr lang="en-US" altLang="zh-TW" b="1">
                <a:latin typeface="微軟正黑體"/>
                <a:ea typeface="微軟正黑體"/>
              </a:rPr>
              <a:t>&gt;</a:t>
            </a:r>
            <a:r>
              <a:rPr lang="zh-TW" altLang="en-US">
                <a:latin typeface="微軟正黑體"/>
                <a:ea typeface="微軟正黑體"/>
              </a:rPr>
              <a:t>帳號登入紀錄 </a:t>
            </a:r>
            <a:br>
              <a:rPr lang="en-US" altLang="zh-TW" sz="3600" b="1"/>
            </a:br>
            <a:br>
              <a:rPr lang="en-US" altLang="zh-TW" sz="3600" b="1"/>
            </a:br>
            <a:br>
              <a:rPr lang="en-US" altLang="zh-TW" sz="3600" b="1"/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ED5EECD-6A1A-60F6-C1F0-F17C4FD22B58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portal_empy_login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067C605-2265-8813-A526-0B7DA2E6A345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E7D5D03-AB7C-63D7-E02E-0B187797BAB3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</p:spTree>
    <p:extLst>
      <p:ext uri="{BB962C8B-B14F-4D97-AF65-F5344CB8AC3E}">
        <p14:creationId xmlns:p14="http://schemas.microsoft.com/office/powerpoint/2010/main" val="3437762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系統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管理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 </a:t>
            </a:r>
            <a:r>
              <a:rPr lang="zh-TW" altLang="en-US">
                <a:solidFill>
                  <a:srgbClr val="FF0000"/>
                </a:solidFill>
              </a:rPr>
              <a:t>後台目錄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管理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A2279C9-838D-AA5D-ED58-BE4E89D59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43628"/>
              </p:ext>
            </p:extLst>
          </p:nvPr>
        </p:nvGraphicFramePr>
        <p:xfrm>
          <a:off x="838199" y="2574500"/>
          <a:ext cx="10601325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1325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按下刪除鍵，要進行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confirm (“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確認要刪除嗎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?”)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，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[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=“Y”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20" name="文字方塊 19">
            <a:extLst>
              <a:ext uri="{FF2B5EF4-FFF2-40B4-BE49-F238E27FC236}">
                <a16:creationId xmlns:a16="http://schemas.microsoft.com/office/drawing/2014/main" id="{1346B762-85CB-31F2-630E-73436A7C9E8E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600" err="1">
                <a:ea typeface="+mn-lt"/>
                <a:cs typeface="+mn-lt"/>
              </a:rPr>
              <a:t>portal_program_module</a:t>
            </a:r>
            <a:endParaRPr lang="zh-TW" err="1">
              <a:ea typeface="+mn-lt"/>
              <a:cs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C9A4A0-BA8F-08F1-1E12-A29AC2DD7908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FABC3084-4FC6-0BB5-2CF3-9CAFB95DF7D7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2073EA01-E540-7CB7-811D-05C59699A560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3FB78EA6-689E-C51F-A3DD-70CACEFF8948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02F78181-4523-5F8D-B686-C07B47930E84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D6DBC3-278E-1E4E-7A35-1DBFA4AE0A16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09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系統管理 </a:t>
            </a:r>
            <a:r>
              <a:rPr lang="en-US" altLang="zh-TW">
                <a:latin typeface="+mn-ea"/>
              </a:rPr>
              <a:t>&gt;</a:t>
            </a:r>
            <a:r>
              <a:rPr lang="zh-TW" altLang="en-US">
                <a:latin typeface="+mn-ea"/>
              </a:rPr>
              <a:t>帳號目錄管理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A3863FB-9C09-4AA8-07F5-A9F5FE17D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732624"/>
              </p:ext>
            </p:extLst>
          </p:nvPr>
        </p:nvGraphicFramePr>
        <p:xfrm>
          <a:off x="838200" y="2574500"/>
          <a:ext cx="9744075" cy="1934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4075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193412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按下刪除鍵，要進行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confirm (“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確認要刪除嗎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?”)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，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[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=“Y”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必須指定後台目錄模組 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program_model_id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可多選帳號設定目錄權限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964E6327-8605-0F62-7A0F-BEDBE0A1516F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portal_program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281C2F-9CE0-9774-6E85-A3B8A8A959D7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12F7944D-4434-88C7-C8E3-DF15F3AA9645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375C46B-3A83-37BE-F802-9398BC30C1E5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5B3C1618-0F67-B643-8141-BDB891AB2B6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9F552EF7-D3D7-99EA-B32B-FBB1F8961153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5E1364A-9CEA-2CF9-0155-F88BED129324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82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5FB81-626D-0A3D-F08F-55025142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0213757-ACC5-FB37-3720-1992A5F6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系統管理 </a:t>
            </a:r>
            <a:r>
              <a:rPr lang="en-US" altLang="zh-TW">
                <a:latin typeface="+mn-ea"/>
              </a:rPr>
              <a:t>&gt;</a:t>
            </a:r>
            <a:r>
              <a:rPr lang="zh-TW" altLang="en-US">
                <a:latin typeface="+mn-ea"/>
              </a:rPr>
              <a:t>資料庫可視化</a:t>
            </a:r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451460C-FD3A-FCBC-E403-C86F1C2BC8B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2798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網站基礎設定</a:t>
            </a:r>
            <a:r>
              <a:rPr lang="zh-TW" altLang="en-US" b="1">
                <a:latin typeface="+mn-ea"/>
              </a:rPr>
              <a:t>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</a:t>
            </a:r>
            <a:r>
              <a:rPr lang="en-US" altLang="zh-TW">
                <a:latin typeface="+mn-ea"/>
              </a:rPr>
              <a:t>Template</a:t>
            </a:r>
            <a:r>
              <a:rPr lang="zh-TW" altLang="en-US">
                <a:latin typeface="+mn-ea"/>
              </a:rPr>
              <a:t>管理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4EAE83C-D2E5-1F0B-3D19-EDAED1745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035116"/>
              </p:ext>
            </p:extLst>
          </p:nvPr>
        </p:nvGraphicFramePr>
        <p:xfrm>
          <a:off x="838199" y="2574500"/>
          <a:ext cx="10868025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8025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按下刪除鍵，要進行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confirm (“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確認要刪除嗎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?”)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，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[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=“Y”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template_attribute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全局變數可輸入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HTML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BDFADEF4-BF79-0682-3010-537DFFE45473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portal_template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BF4AB5-8A87-AACB-28BF-6B644C47556F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9ED69F7-9403-A416-F9D4-DD145DA856E2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AA96F7A-A3C1-A060-7458-69FDA96280F2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A5F32DA-ABB5-5582-8012-3BA685EF5D26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5084532B-E70E-FE3B-0C3C-4F23BE1B3582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15331AB-FEE8-8136-F376-D0EFB56CA38B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87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網站基礎設定</a:t>
            </a:r>
            <a:r>
              <a:rPr lang="zh-TW" altLang="en-US" b="1">
                <a:latin typeface="+mn-ea"/>
              </a:rPr>
              <a:t>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latin typeface="+mn-ea"/>
              </a:rPr>
              <a:t>網站基本資料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13E69E7-EBD6-7C7C-BE0C-991B89EDA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868201"/>
              </p:ext>
            </p:extLst>
          </p:nvPr>
        </p:nvGraphicFramePr>
        <p:xfrm>
          <a:off x="838200" y="2574500"/>
          <a:ext cx="10763250" cy="1275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按下刪除鍵，要進行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confirm (“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確認要刪除嗎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?”)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，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[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=“Y”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以下不可新增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b="0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['preview', 'upload', 'rest', 'static', 'event', '</a:t>
                      </a:r>
                      <a:r>
                        <a:rPr lang="en-US" altLang="zh-TW" sz="1800" b="0" i="0" kern="120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TW" sz="1800" b="0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'echo', '</a:t>
                      </a:r>
                      <a:r>
                        <a:rPr lang="en-US" altLang="zh-TW" sz="1800" b="0" i="0" kern="120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</a:t>
                      </a:r>
                      <a:r>
                        <a:rPr lang="en-US" altLang="zh-TW" sz="1800" b="0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’,’doc’]</a:t>
                      </a:r>
                      <a:endParaRPr lang="en-US" altLang="zh-TW" sz="1800" b="1" kern="1200">
                        <a:solidFill>
                          <a:srgbClr val="FF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3C749F1C-D7B4-78F6-00D5-3EA790865F30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302A3E-4AFD-850B-B9CC-D67BFB7F3775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162A985-8ECA-F5C4-1A51-65924EF8B0F1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E409A0B-B1BF-30BA-E242-8C1A8B25D706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A3331F2-C43E-5C1D-8837-9EECDE2583ED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C349D9D-96C2-3BE4-A11A-E704279833D0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3CDCD6-259A-CFA5-A894-E2DDABE0A2E0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在內容修改後才出現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52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網站基礎設定</a:t>
            </a:r>
            <a:r>
              <a:rPr lang="zh-TW" altLang="en-US" b="1">
                <a:latin typeface="+mn-ea"/>
              </a:rPr>
              <a:t>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latin typeface="+mn-ea"/>
              </a:rPr>
              <a:t>元件管理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13E69E7-EBD6-7C7C-BE0C-991B89EDA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43068"/>
              </p:ext>
            </p:extLst>
          </p:nvPr>
        </p:nvGraphicFramePr>
        <p:xfrm>
          <a:off x="838200" y="2574500"/>
          <a:ext cx="10763250" cy="1686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按下刪除鍵，要進行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confirm (“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確認要刪除嗎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?”)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，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[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=“Y”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內容修改頁面資料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A+B+C</a:t>
                      </a:r>
                      <a:b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br>
                        <a:rPr lang="en-US" altLang="zh-TW" sz="18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C218F2D6-7734-246B-757A-50620154FD7E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portal_item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CD854-18FB-C5B9-8497-3375C4FAAC43}"/>
              </a:ext>
            </a:extLst>
          </p:cNvPr>
          <p:cNvSpPr/>
          <p:nvPr/>
        </p:nvSpPr>
        <p:spPr>
          <a:xfrm>
            <a:off x="3855837" y="1155120"/>
            <a:ext cx="3384954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C6DC968-E85B-6E72-0EF4-35A318573177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3507B93-E202-1671-BC98-7E2AD442CCDC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BE6B974-3981-8403-0DB9-84D59CDC2155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2668836-0F42-9974-92EA-DAD6CE5FF3D7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AEDC5EF-B1D2-223B-1623-F91543021956}"/>
              </a:ext>
            </a:extLst>
          </p:cNvPr>
          <p:cNvSpPr txBox="1"/>
          <p:nvPr/>
        </p:nvSpPr>
        <p:spPr>
          <a:xfrm>
            <a:off x="3855837" y="1890134"/>
            <a:ext cx="3384954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A0600676-443B-8ED7-A521-C41FB921C8E9}"/>
              </a:ext>
            </a:extLst>
          </p:cNvPr>
          <p:cNvSpPr/>
          <p:nvPr/>
        </p:nvSpPr>
        <p:spPr>
          <a:xfrm>
            <a:off x="5008951" y="1343025"/>
            <a:ext cx="212527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屬性資料管理</a:t>
            </a:r>
            <a:r>
              <a:rPr lang="en-US" altLang="zh-TW" b="1">
                <a:latin typeface="+mj-ea"/>
                <a:ea typeface="+mj-ea"/>
              </a:rPr>
              <a:t>(TBD)</a:t>
            </a:r>
            <a:endParaRPr lang="zh-TW" altLang="en-US" b="1">
              <a:latin typeface="+mj-ea"/>
              <a:ea typeface="+mj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B062EE-27F8-7B95-7967-9666E3929D10}"/>
              </a:ext>
            </a:extLst>
          </p:cNvPr>
          <p:cNvSpPr/>
          <p:nvPr/>
        </p:nvSpPr>
        <p:spPr>
          <a:xfrm>
            <a:off x="1245986" y="3480391"/>
            <a:ext cx="6326389" cy="790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[</a:t>
            </a:r>
            <a:r>
              <a:rPr lang="en-US" altLang="zh-TW" sz="1800" b="1" kern="120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portal_item</a:t>
            </a:r>
            <a: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]</a:t>
            </a:r>
            <a:r>
              <a:rPr lang="zh-TW" altLang="en-US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內容修改區</a:t>
            </a:r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C71670E-B07D-FA90-C7C6-12340B1F2D75}"/>
              </a:ext>
            </a:extLst>
          </p:cNvPr>
          <p:cNvSpPr/>
          <p:nvPr/>
        </p:nvSpPr>
        <p:spPr>
          <a:xfrm>
            <a:off x="1245987" y="4324946"/>
            <a:ext cx="6326390" cy="736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[</a:t>
            </a:r>
            <a:r>
              <a:rPr lang="en-US" altLang="zh-TW" sz="1800" b="1" kern="120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portal_item_attribute</a:t>
            </a:r>
            <a: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]</a:t>
            </a:r>
            <a:r>
              <a:rPr lang="zh-TW" altLang="en-US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屬性資料列表區 </a:t>
            </a:r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ED713F-49F6-DA42-3DA2-131BCB92A2AF}"/>
              </a:ext>
            </a:extLst>
          </p:cNvPr>
          <p:cNvSpPr/>
          <p:nvPr/>
        </p:nvSpPr>
        <p:spPr>
          <a:xfrm>
            <a:off x="1245987" y="5061673"/>
            <a:ext cx="6326390" cy="11838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序號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+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屬性類型 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+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seq +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屬性名稱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+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備註 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(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使用方法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) +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新增人員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+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建立時間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+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新增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IP +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 功能列 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(</a:t>
            </a:r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刪除 </a:t>
            </a:r>
            <a:r>
              <a:rPr lang="en-US" altLang="zh-TW" sz="1600" b="1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zh-TW" altLang="en-US" sz="1600" b="1">
                <a:solidFill>
                  <a:schemeClr val="tx1"/>
                </a:solidFill>
                <a:latin typeface="+mj-ea"/>
                <a:ea typeface="+mj-ea"/>
              </a:rPr>
              <a:t> 編輯 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)</a:t>
            </a:r>
          </a:p>
          <a:p>
            <a:pPr algn="ctr"/>
            <a:r>
              <a:rPr lang="en-US" altLang="zh-TW" sz="1600" b="1">
                <a:solidFill>
                  <a:schemeClr val="bg1"/>
                </a:solidFill>
                <a:latin typeface="+mj-ea"/>
                <a:ea typeface="+mj-ea"/>
              </a:rPr>
              <a:t>Order by item_attribute_type ,</a:t>
            </a:r>
            <a:r>
              <a:rPr lang="zh-TW" altLang="en-US" sz="16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zh-TW" sz="1600" b="1" err="1">
                <a:solidFill>
                  <a:schemeClr val="bg1"/>
                </a:solidFill>
                <a:latin typeface="+mj-ea"/>
                <a:ea typeface="+mj-ea"/>
              </a:rPr>
              <a:t>item_attribute_seq</a:t>
            </a:r>
            <a:endParaRPr lang="en-US" altLang="zh-TW" sz="16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6D99435E-606B-1FB0-8C7B-C664B86490E9}"/>
              </a:ext>
            </a:extLst>
          </p:cNvPr>
          <p:cNvSpPr/>
          <p:nvPr/>
        </p:nvSpPr>
        <p:spPr>
          <a:xfrm>
            <a:off x="1315044" y="3607240"/>
            <a:ext cx="523875" cy="5358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B13BF1C7-C7C6-75CC-EC1D-C3D642B097B0}"/>
              </a:ext>
            </a:extLst>
          </p:cNvPr>
          <p:cNvSpPr/>
          <p:nvPr/>
        </p:nvSpPr>
        <p:spPr>
          <a:xfrm flipH="1">
            <a:off x="1315044" y="4773413"/>
            <a:ext cx="523875" cy="49513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B</a:t>
            </a:r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56B84A1-1DDC-FF02-B82D-97C40141B634}"/>
              </a:ext>
            </a:extLst>
          </p:cNvPr>
          <p:cNvSpPr/>
          <p:nvPr/>
        </p:nvSpPr>
        <p:spPr>
          <a:xfrm>
            <a:off x="6496050" y="4515881"/>
            <a:ext cx="992389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81F573A-C785-3148-BB88-83EF5E93E05B}"/>
              </a:ext>
            </a:extLst>
          </p:cNvPr>
          <p:cNvSpPr/>
          <p:nvPr/>
        </p:nvSpPr>
        <p:spPr>
          <a:xfrm>
            <a:off x="7907538" y="3480390"/>
            <a:ext cx="3762969" cy="272391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>
                <a:latin typeface="+mj-ea"/>
                <a:ea typeface="+mj-ea"/>
              </a:rPr>
              <a:t>Light box</a:t>
            </a:r>
          </a:p>
          <a:p>
            <a:pPr algn="ctr"/>
            <a:r>
              <a:rPr lang="zh-TW" altLang="en-US" b="1">
                <a:latin typeface="+mj-ea"/>
                <a:ea typeface="+mj-ea"/>
              </a:rPr>
              <a:t>新增屬性資料</a:t>
            </a:r>
            <a:endParaRPr lang="en-US" altLang="zh-TW" b="1">
              <a:latin typeface="+mj-ea"/>
              <a:ea typeface="+mj-ea"/>
            </a:endParaRPr>
          </a:p>
          <a:p>
            <a:pPr algn="ctr"/>
            <a:r>
              <a:rPr lang="en-US" altLang="zh-TW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[</a:t>
            </a:r>
            <a:r>
              <a:rPr lang="en-US" altLang="zh-TW" sz="1400" b="1" kern="1200" err="1">
                <a:solidFill>
                  <a:schemeClr val="bg1"/>
                </a:solidFill>
                <a:latin typeface="+mj-ea"/>
                <a:ea typeface="+mn-ea"/>
                <a:cs typeface="+mn-cs"/>
              </a:rPr>
              <a:t>portal_item_attribute</a:t>
            </a:r>
            <a:r>
              <a:rPr lang="en-US" altLang="zh-TW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]</a:t>
            </a:r>
          </a:p>
          <a:p>
            <a:pPr algn="ctr"/>
            <a:endParaRPr lang="en-US" altLang="zh-TW" sz="1800" b="1" kern="1200">
              <a:solidFill>
                <a:schemeClr val="bg1"/>
              </a:solidFill>
              <a:latin typeface="+mj-ea"/>
              <a:ea typeface="+mn-ea"/>
              <a:cs typeface="+mn-cs"/>
            </a:endParaRPr>
          </a:p>
          <a:p>
            <a:pPr algn="ctr"/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欄位  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: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zh-TW" sz="1200" b="1" err="1">
                <a:solidFill>
                  <a:schemeClr val="bg1"/>
                </a:solidFill>
                <a:latin typeface="+mj-ea"/>
                <a:ea typeface="+mj-ea"/>
              </a:rPr>
              <a:t>item_attribute_type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  ，</a:t>
            </a:r>
            <a:r>
              <a:rPr lang="en-US" altLang="zh-TW" sz="1200" b="1" strike="sngStrike" err="1">
                <a:solidFill>
                  <a:schemeClr val="bg1"/>
                </a:solidFill>
                <a:latin typeface="+mj-ea"/>
                <a:ea typeface="+mj-ea"/>
              </a:rPr>
              <a:t>item_attribute_seq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，</a:t>
            </a:r>
            <a:endParaRPr lang="en-US" altLang="zh-TW" sz="12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zh-TW" sz="1200" b="1" err="1">
                <a:solidFill>
                  <a:schemeClr val="bg1"/>
                </a:solidFill>
                <a:latin typeface="+mj-ea"/>
                <a:ea typeface="+mj-ea"/>
              </a:rPr>
              <a:t>item_attribute_name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，</a:t>
            </a:r>
            <a:endParaRPr lang="en-US" altLang="zh-TW" sz="12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note</a:t>
            </a:r>
            <a:endParaRPr lang="zh-TW" altLang="en-US" sz="12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zh-TW" sz="12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關掉後重新更新屬性資料列表區</a:t>
            </a:r>
            <a:endParaRPr lang="en-US" altLang="zh-TW" sz="12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zh-TW" sz="12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273DB4EF-8730-ABBC-C2C8-E017B9241D30}"/>
              </a:ext>
            </a:extLst>
          </p:cNvPr>
          <p:cNvSpPr/>
          <p:nvPr/>
        </p:nvSpPr>
        <p:spPr>
          <a:xfrm>
            <a:off x="8087319" y="3725570"/>
            <a:ext cx="523875" cy="5358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C</a:t>
            </a:r>
            <a:endParaRPr lang="zh-TW" altLang="en-US"/>
          </a:p>
        </p:txBody>
      </p:sp>
      <p:sp>
        <p:nvSpPr>
          <p:cNvPr id="27" name="箭號: 向下 26">
            <a:extLst>
              <a:ext uri="{FF2B5EF4-FFF2-40B4-BE49-F238E27FC236}">
                <a16:creationId xmlns:a16="http://schemas.microsoft.com/office/drawing/2014/main" id="{EA0DAEE3-9A10-A12D-0B98-212C719FF167}"/>
              </a:ext>
            </a:extLst>
          </p:cNvPr>
          <p:cNvSpPr/>
          <p:nvPr/>
        </p:nvSpPr>
        <p:spPr>
          <a:xfrm rot="16200000">
            <a:off x="7490718" y="4383688"/>
            <a:ext cx="594321" cy="59888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45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密碼變更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latin typeface="+mn-ea"/>
              </a:rPr>
              <a:t>密碼變更</a:t>
            </a: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sz="3600" b="1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13E69E7-EBD6-7C7C-BE0C-991B89EDA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950820"/>
              </p:ext>
            </p:extLst>
          </p:nvPr>
        </p:nvGraphicFramePr>
        <p:xfrm>
          <a:off x="838200" y="2574500"/>
          <a:ext cx="10763250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進入後直接顯示內容修改資料，只有密碼可變更 。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C218F2D6-7734-246B-757A-50620154FD7E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portal_empy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362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 </a:t>
            </a:r>
            <a:r>
              <a:rPr lang="zh-TW" altLang="en-US" b="1">
                <a:latin typeface="微軟正黑體"/>
                <a:ea typeface="微軟正黑體"/>
              </a:rPr>
              <a:t>網頁管理</a:t>
            </a:r>
            <a:r>
              <a:rPr lang="en-US" altLang="zh-TW" b="1">
                <a:latin typeface="微軟正黑體"/>
                <a:ea typeface="微軟正黑體"/>
              </a:rPr>
              <a:t>&gt;</a:t>
            </a:r>
            <a:r>
              <a:rPr lang="zh-TW" altLang="en-US" b="1">
                <a:latin typeface="微軟正黑體"/>
                <a:ea typeface="微軟正黑體"/>
              </a:rPr>
              <a:t> 網站</a:t>
            </a:r>
            <a:r>
              <a:rPr lang="zh-TW" altLang="en-US">
                <a:latin typeface="微軟正黑體"/>
                <a:ea typeface="微軟正黑體"/>
              </a:rPr>
              <a:t>選單</a:t>
            </a:r>
            <a:r>
              <a:rPr lang="zh-TW" altLang="en-US" b="1">
                <a:latin typeface="微軟正黑體"/>
                <a:ea typeface="微軟正黑體"/>
              </a:rPr>
              <a:t>管理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  <a:latin typeface="微軟正黑體"/>
              <a:ea typeface="微軟正黑體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66ADBC-0208-2189-B411-5DB3166C2F96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AF2CC0-8A70-D645-20AC-5B601323BE4E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25C97A-5733-6CB3-CE38-D16D4C4801B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314ED5C-FD12-A5CE-9107-4167D6848C0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C237E95-82C6-572D-BF08-D552600AAB28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8279C0-8B8D-412B-12EA-FAF75BEA66E7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28E4F35-F79C-C239-11E3-3D8320BD142F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574500"/>
          <a:ext cx="10515599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(“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?”)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portal_menu</a:t>
            </a:r>
            <a:endParaRPr lang="zh-TW" altLang="en-US" sz="1600" b="1">
              <a:latin typeface="+mj-ea"/>
              <a:ea typeface="+mj-ea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3980D72-2B77-FCEB-430A-62C7C726F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909984"/>
              </p:ext>
            </p:extLst>
          </p:nvPr>
        </p:nvGraphicFramePr>
        <p:xfrm>
          <a:off x="838201" y="3019163"/>
          <a:ext cx="10515599" cy="2795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列表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: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　多一個選單位置顯示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第一層名稱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第二層名稱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第三層名稱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內容修改頁面除了資料表欄位外要多一個，選單位置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下拉選單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):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 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457200" lvl="1" indent="0" algn="l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TW" altLang="en-US" sz="14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</a:rPr>
                        <a:t>空白 </a:t>
                      </a:r>
                      <a:r>
                        <a:rPr lang="en-US" altLang="zh-TW" sz="14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預設值，表示第一層 </a:t>
                      </a:r>
                      <a:br>
                        <a:rPr lang="en-US" altLang="zh-TW" sz="14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</a:rPr>
                      </a:br>
                      <a:r>
                        <a:rPr lang="zh-TW" altLang="en-US" sz="14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</a:rPr>
                        <a:t>第一層名稱 </a:t>
                      </a:r>
                      <a:br>
                        <a:rPr lang="en-US" altLang="zh-TW" sz="1400" b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j-ea"/>
                        </a:rPr>
                      </a:b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第一層名稱 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第二層名稱</a:t>
                      </a:r>
                      <a:b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第一層名稱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第二層名稱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第三層名稱</a:t>
                      </a:r>
                      <a:b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第一層名稱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第二層名稱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第三層名稱</a:t>
                      </a:r>
                      <a:b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第一層名稱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第二層名稱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第三層名稱</a:t>
                      </a:r>
                      <a:r>
                        <a:rPr lang="en-US" altLang="zh-TW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&gt;</a:t>
                      </a:r>
                      <a:r>
                        <a:rPr lang="zh-TW" altLang="en-US" sz="1400" b="1" kern="12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第四層名稱</a:t>
                      </a:r>
                      <a:endParaRPr lang="en-US" altLang="zh-TW" sz="1400" b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77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(1)</a:t>
            </a:r>
            <a:r>
              <a:rPr lang="zh-TW" altLang="en-US" b="1">
                <a:latin typeface="+mn-ea"/>
              </a:rPr>
              <a:t> </a:t>
            </a:r>
            <a:r>
              <a:rPr lang="zh-TW" altLang="en-US" sz="1800" b="1">
                <a:latin typeface="+mn-ea"/>
              </a:rPr>
              <a:t>新增</a:t>
            </a:r>
            <a:r>
              <a:rPr lang="en-US" altLang="zh-TW" sz="1800" b="1">
                <a:latin typeface="+mn-ea"/>
              </a:rPr>
              <a:t>/</a:t>
            </a:r>
            <a:r>
              <a:rPr lang="zh-TW" altLang="en-US" sz="1800" b="1">
                <a:latin typeface="+mn-ea"/>
              </a:rPr>
              <a:t>列表</a:t>
            </a:r>
            <a:r>
              <a:rPr lang="en-US" altLang="zh-TW" sz="1800" b="1">
                <a:latin typeface="+mn-ea"/>
              </a:rPr>
              <a:t>/</a:t>
            </a:r>
            <a:r>
              <a:rPr lang="zh-TW" altLang="en-US" sz="1800" b="1">
                <a:latin typeface="+mn-ea"/>
              </a:rPr>
              <a:t>查詢</a:t>
            </a: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66ADBC-0208-2189-B411-5DB3166C2F96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AF2CC0-8A70-D645-20AC-5B601323BE4E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25C97A-5733-6CB3-CE38-D16D4C4801B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314ED5C-FD12-A5CE-9107-4167D6848C0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8279C0-8B8D-412B-12EA-FAF75BEA66E7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才有可能出現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28E4F35-F79C-C239-11E3-3D8320BD1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203661"/>
              </p:ext>
            </p:extLst>
          </p:nvPr>
        </p:nvGraphicFramePr>
        <p:xfrm>
          <a:off x="838199" y="2564239"/>
          <a:ext cx="11095183" cy="391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5183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列表資料除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$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login.empy_page_role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==9 (admin)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都須檢核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where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page_dept_id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in ( $login.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負責單位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才可顯示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order by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列表欄位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website_id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,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status,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page_note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start_date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end_date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template_id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page_dept_id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新增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200" b="1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200" b="1" kern="120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login.empy_page_role</a:t>
                      </a:r>
                      <a:r>
                        <a:rPr lang="en-US" altLang="zh-TW" sz="1200" b="1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&gt;=1 </a:t>
                      </a:r>
                      <a:br>
                        <a:rPr lang="en-US" altLang="zh-TW" sz="1200" b="1" kern="1200">
                          <a:solidFill>
                            <a:srgbClr val="1F4E79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資料新增完成後，需要建立配置網頁元件資料資源檔案位置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(NAS)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，規範：</a:t>
                      </a:r>
                      <a:br>
                        <a:rPr lang="en-US" altLang="zh-TW" sz="1200" b="1" kern="1200">
                          <a:solidFill>
                            <a:srgbClr val="1F4E79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zh-TW" sz="1200" b="1" kern="1200">
                          <a:solidFill>
                            <a:srgbClr val="FF0000"/>
                          </a:solidFill>
                          <a:latin typeface="+mj-ea"/>
                          <a:ea typeface="+mj-ea"/>
                          <a:cs typeface="+mn-cs"/>
                        </a:rPr>
                        <a:t>domain???</a:t>
                      </a:r>
                      <a:r>
                        <a:rPr lang="en-US" altLang="zh-TW" sz="1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200" b="1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website_id</a:t>
                      </a:r>
                      <a:r>
                        <a:rPr lang="en-US" altLang="zh-TW" sz="1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200" b="1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en-US" altLang="zh-TW" sz="1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200" b="1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r>
                        <a:rPr lang="en-US" altLang="zh-TW" sz="1200" b="1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新增一筆資料到 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sz="1100" b="0" i="0" u="none" strike="noStrike" kern="1200" noProof="0" err="1">
                          <a:solidFill>
                            <a:srgbClr val="FF0000"/>
                          </a:solidFill>
                        </a:rPr>
                        <a:t>portal_page_log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</a:rPr>
                        <a:t>]</a:t>
                      </a: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 歷程資料表 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</a:rPr>
                        <a:t>insert into [</a:t>
                      </a:r>
                      <a:r>
                        <a:rPr lang="en-US" sz="1100" b="0" i="0" u="none" strike="noStrike" kern="1200" noProof="0" err="1">
                          <a:solidFill>
                            <a:srgbClr val="FF0000"/>
                          </a:solidFill>
                        </a:rPr>
                        <a:t>portal_page_log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</a:rPr>
                        <a:t>]</a:t>
                      </a: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  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</a:rPr>
                        <a:t> </a:t>
                      </a:r>
                      <a:br>
                        <a:rPr lang="en-US" altLang="zh-TW" sz="1200" b="1" kern="1200">
                          <a:solidFill>
                            <a:srgbClr val="C55A1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endParaRPr lang="en-US" altLang="zh-TW" sz="1200" b="1" kern="1200">
                        <a:solidFill>
                          <a:srgbClr val="C55A1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查詢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: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網頁代號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網頁標題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狀態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是否包含失效資料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資料預設保留前</a:t>
                      </a:r>
                      <a:r>
                        <a:rPr lang="en-US" altLang="zh-TW" sz="1200" b="1" kern="1200">
                          <a:solidFill>
                            <a:srgbClr val="FF0000"/>
                          </a:solidFill>
                          <a:latin typeface="+mj-ea"/>
                          <a:ea typeface="+mj-ea"/>
                          <a:cs typeface="+mn-cs"/>
                        </a:rPr>
                        <a:t>5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版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4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ABFBC10-6D56-1A75-22D8-76E7002FDFE9}"/>
              </a:ext>
            </a:extLst>
          </p:cNvPr>
          <p:cNvSpPr/>
          <p:nvPr/>
        </p:nvSpPr>
        <p:spPr>
          <a:xfrm>
            <a:off x="8828416" y="1330754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6D2D442-1EDF-8392-E319-86BAB24D3617}"/>
              </a:ext>
            </a:extLst>
          </p:cNvPr>
          <p:cNvSpPr/>
          <p:nvPr/>
        </p:nvSpPr>
        <p:spPr>
          <a:xfrm>
            <a:off x="3913823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元件規劃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3C55795-3D80-6F3D-74DC-91034ECC72A0}"/>
              </a:ext>
            </a:extLst>
          </p:cNvPr>
          <p:cNvSpPr/>
          <p:nvPr/>
        </p:nvSpPr>
        <p:spPr>
          <a:xfrm>
            <a:off x="5200698" y="1333926"/>
            <a:ext cx="806888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新版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27BD5A3-8DBB-442A-4C1E-85B7E6860B54}"/>
              </a:ext>
            </a:extLst>
          </p:cNvPr>
          <p:cNvSpPr/>
          <p:nvPr/>
        </p:nvSpPr>
        <p:spPr>
          <a:xfrm>
            <a:off x="6982289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退回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9D5CC6F-EA83-0365-AEDD-ECDFD82686B4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C1A11A88-6F82-8BCC-C82A-CD7D3343054E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D76D9F9-4A05-6957-FB01-482F293DC317}"/>
              </a:ext>
            </a:extLst>
          </p:cNvPr>
          <p:cNvSpPr/>
          <p:nvPr/>
        </p:nvSpPr>
        <p:spPr>
          <a:xfrm>
            <a:off x="9803119" y="1330753"/>
            <a:ext cx="871424" cy="49529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複製</a:t>
            </a:r>
          </a:p>
        </p:txBody>
      </p:sp>
    </p:spTree>
    <p:extLst>
      <p:ext uri="{BB962C8B-B14F-4D97-AF65-F5344CB8AC3E}">
        <p14:creationId xmlns:p14="http://schemas.microsoft.com/office/powerpoint/2010/main" val="90574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</a:t>
            </a:r>
            <a:r>
              <a:rPr lang="en-US" altLang="zh-TW">
                <a:latin typeface="+mn-ea"/>
              </a:rPr>
              <a:t>2)</a:t>
            </a:r>
            <a:r>
              <a:rPr lang="zh-TW" altLang="en-US">
                <a:latin typeface="+mn-ea"/>
              </a:rPr>
              <a:t> </a:t>
            </a:r>
            <a:r>
              <a:rPr lang="zh-TW" altLang="en-US" sz="1800">
                <a:latin typeface="+mn-ea"/>
              </a:rPr>
              <a:t>內容修改頁面</a:t>
            </a: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AF2CC0-8A70-D645-20AC-5B601323BE4E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25C97A-5733-6CB3-CE38-D16D4C4801B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314ED5C-FD12-A5CE-9107-4167D6848C0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28E4F35-F79C-C239-11E3-3D8320BD1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655176"/>
              </p:ext>
            </p:extLst>
          </p:nvPr>
        </p:nvGraphicFramePr>
        <p:xfrm>
          <a:off x="838199" y="2574500"/>
          <a:ext cx="10515599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再檢核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login.empy_page_role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==9 (admin)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都須檢核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page_dept_id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in ( $login.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負責單位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83245A-D564-1B12-1C93-75C3E3BAF9F3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BC7BE8D-C4EF-2492-07ED-EDCF00721989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才有可能出現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5CC16F7-8D06-B189-4CCC-E99F6F7542F7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69F81EDB-8DEF-D5B2-A437-733DB7759BDF}"/>
              </a:ext>
            </a:extLst>
          </p:cNvPr>
          <p:cNvSpPr/>
          <p:nvPr/>
        </p:nvSpPr>
        <p:spPr>
          <a:xfrm>
            <a:off x="3893340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元件規劃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599785B2-E216-F491-1ADC-5F2F4A8E1FD7}"/>
              </a:ext>
            </a:extLst>
          </p:cNvPr>
          <p:cNvSpPr/>
          <p:nvPr/>
        </p:nvSpPr>
        <p:spPr>
          <a:xfrm>
            <a:off x="5200698" y="1333926"/>
            <a:ext cx="806888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新版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A09C5DE7-ADCF-43A9-FDFE-1C0D9D4BFC73}"/>
              </a:ext>
            </a:extLst>
          </p:cNvPr>
          <p:cNvSpPr/>
          <p:nvPr/>
        </p:nvSpPr>
        <p:spPr>
          <a:xfrm>
            <a:off x="6982289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退回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5CB1C776-CBFF-DD58-D065-1F6B94051E9A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0A499022-DB11-6C97-140B-81A84F57451A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C90F71D-2821-70FF-CDE9-76EBFF31A47E}"/>
              </a:ext>
            </a:extLst>
          </p:cNvPr>
          <p:cNvSpPr txBox="1"/>
          <p:nvPr/>
        </p:nvSpPr>
        <p:spPr>
          <a:xfrm>
            <a:off x="838200" y="3301235"/>
            <a:ext cx="6150634" cy="1997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lvl="0" indent="-285750" algn="l" defTabSz="9144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功能按鈕是否顯示</a:t>
            </a:r>
            <a:endParaRPr lang="en-US" altLang="zh-TW" sz="1200" b="1" kern="1200">
              <a:solidFill>
                <a:schemeClr val="accent5">
                  <a:lumMod val="50000"/>
                </a:schemeClr>
              </a:solidFill>
              <a:latin typeface="+mj-ea"/>
              <a:ea typeface="+mj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元件規劃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in ( 0 ,1)</a:t>
            </a: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新版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status in </a:t>
            </a:r>
            <a:r>
              <a:rPr lang="en-US" altLang="zh-TW" sz="1200" b="1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( 5,7,9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 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送審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( 0,1 )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退回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(3)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通過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(3)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預覽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all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D0AB36A-AEEC-62EC-1DE4-D55AF3C455A0}"/>
              </a:ext>
            </a:extLst>
          </p:cNvPr>
          <p:cNvSpPr txBox="1"/>
          <p:nvPr/>
        </p:nvSpPr>
        <p:spPr>
          <a:xfrm>
            <a:off x="5751388" y="3364496"/>
            <a:ext cx="61540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0:新建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1:退回重編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3:送審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4:審核通過 ( job by 分鐘 去比對啟用時間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5:上架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7: 取代舊版 </a:t>
            </a: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-&gt;&gt;</a:t>
            </a: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有新板後原本狀態5的要變成7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9: 比對結束時間後自動失效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4630E00D-F74F-4036-1B68-E68DBE3510DC}"/>
              </a:ext>
            </a:extLst>
          </p:cNvPr>
          <p:cNvSpPr/>
          <p:nvPr/>
        </p:nvSpPr>
        <p:spPr>
          <a:xfrm>
            <a:off x="9803119" y="1330753"/>
            <a:ext cx="871424" cy="49529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複製</a:t>
            </a:r>
          </a:p>
        </p:txBody>
      </p:sp>
    </p:spTree>
    <p:extLst>
      <p:ext uri="{BB962C8B-B14F-4D97-AF65-F5344CB8AC3E}">
        <p14:creationId xmlns:p14="http://schemas.microsoft.com/office/powerpoint/2010/main" val="88731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0CEA-796C-F840-CFF8-02F91CED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CDFAB72-A973-8500-06BA-171F4F4C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</a:t>
            </a:r>
            <a:r>
              <a:rPr lang="en-US" altLang="zh-TW">
                <a:latin typeface="+mn-ea"/>
              </a:rPr>
              <a:t>3)</a:t>
            </a:r>
            <a:r>
              <a:rPr lang="zh-TW" altLang="en-US">
                <a:latin typeface="+mj-ea"/>
              </a:rPr>
              <a:t>複製</a:t>
            </a:r>
            <a:br>
              <a:rPr lang="zh-TW" altLang="en-US">
                <a:latin typeface="+mj-ea"/>
              </a:rPr>
            </a:b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4558977-154B-AAE2-4214-86FCC2BEDEC3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6FAF100-A1DB-80EA-32B0-EC47A6EDEB59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FE95782-905F-9990-E6EA-D2BCF827DC55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F83EE30-9448-33C3-1017-31E2FE0A24DA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B6F132-50BF-4F0A-4293-ECD6E05657B9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C13A83B-252F-C5DA-D6D1-9CCF3DE6E138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才有可能出現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8AFFCAB-CFB0-4F47-2618-108AB0411070}"/>
              </a:ext>
            </a:extLst>
          </p:cNvPr>
          <p:cNvSpPr/>
          <p:nvPr/>
        </p:nvSpPr>
        <p:spPr>
          <a:xfrm>
            <a:off x="9803119" y="1330753"/>
            <a:ext cx="871424" cy="49529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複製</a:t>
            </a:r>
          </a:p>
        </p:txBody>
      </p:sp>
    </p:spTree>
    <p:extLst>
      <p:ext uri="{BB962C8B-B14F-4D97-AF65-F5344CB8AC3E}">
        <p14:creationId xmlns:p14="http://schemas.microsoft.com/office/powerpoint/2010/main" val="3703011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</a:t>
            </a:r>
            <a:r>
              <a:rPr lang="en-US" altLang="zh-TW">
                <a:latin typeface="+mn-ea"/>
              </a:rPr>
              <a:t>3-1)</a:t>
            </a:r>
            <a:r>
              <a:rPr lang="zh-TW" altLang="en-US">
                <a:latin typeface="+mn-ea"/>
              </a:rPr>
              <a:t> </a:t>
            </a:r>
            <a:r>
              <a:rPr lang="zh-TW" altLang="en-US" sz="1800">
                <a:latin typeface="+mn-ea"/>
              </a:rPr>
              <a:t>元件規劃</a:t>
            </a: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AF2CC0-8A70-D645-20AC-5B601323BE4E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25C97A-5733-6CB3-CE38-D16D4C4801B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314ED5C-FD12-A5CE-9107-4167D6848C0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28E4F35-F79C-C239-11E3-3D8320BD1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601"/>
              </p:ext>
            </p:extLst>
          </p:nvPr>
        </p:nvGraphicFramePr>
        <p:xfrm>
          <a:off x="749786" y="2237118"/>
          <a:ext cx="11101899" cy="601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18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60189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再檢核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login.empy_page_role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==9 (admin)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都須檢核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page_dept_id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in ( $login.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負責單位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44C856-40C8-BB64-56E4-9C6CE4E2F110}"/>
              </a:ext>
            </a:extLst>
          </p:cNvPr>
          <p:cNvSpPr/>
          <p:nvPr/>
        </p:nvSpPr>
        <p:spPr>
          <a:xfrm>
            <a:off x="1532930" y="3692975"/>
            <a:ext cx="6422986" cy="736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[</a:t>
            </a:r>
            <a:r>
              <a:rPr lang="en-US" altLang="zh-TW" sz="1800" b="1" kern="120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portal_website_page_item</a:t>
            </a:r>
            <a: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]</a:t>
            </a:r>
            <a:r>
              <a:rPr lang="zh-TW" altLang="en-US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b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</a:br>
            <a:r>
              <a:rPr lang="zh-TW" altLang="en-US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元件資料列表區 </a:t>
            </a:r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FA5F6FA-2186-1F5E-E2AE-38B0CBABED9C}"/>
              </a:ext>
            </a:extLst>
          </p:cNvPr>
          <p:cNvSpPr/>
          <p:nvPr/>
        </p:nvSpPr>
        <p:spPr>
          <a:xfrm>
            <a:off x="842953" y="2919353"/>
            <a:ext cx="523875" cy="5358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ABE2C74-CAD8-6DB1-EC7B-3A9FDDFB58D3}"/>
              </a:ext>
            </a:extLst>
          </p:cNvPr>
          <p:cNvSpPr/>
          <p:nvPr/>
        </p:nvSpPr>
        <p:spPr>
          <a:xfrm flipH="1">
            <a:off x="842953" y="3830086"/>
            <a:ext cx="523875" cy="49513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B</a:t>
            </a:r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83245A-D564-1B12-1C93-75C3E3BAF9F3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BC7BE8D-C4EF-2492-07ED-EDCF00721989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5CC16F7-8D06-B189-4CCC-E99F6F7542F7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69F81EDB-8DEF-D5B2-A437-733DB7759BDF}"/>
              </a:ext>
            </a:extLst>
          </p:cNvPr>
          <p:cNvSpPr/>
          <p:nvPr/>
        </p:nvSpPr>
        <p:spPr>
          <a:xfrm>
            <a:off x="3893340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元件規劃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5CB1C776-CBFF-DD58-D065-1F6B94051E9A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0A499022-DB11-6C97-140B-81A84F57451A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E533978C-88FD-5CA8-C9CC-4C9B04BDF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30" y="2877051"/>
            <a:ext cx="6422986" cy="77918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C54572E-5E43-4315-71C7-6F84A9782CDD}"/>
              </a:ext>
            </a:extLst>
          </p:cNvPr>
          <p:cNvSpPr/>
          <p:nvPr/>
        </p:nvSpPr>
        <p:spPr>
          <a:xfrm>
            <a:off x="6396867" y="3939876"/>
            <a:ext cx="1275719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新增元件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1C9959A3-F823-93CE-9327-D93A0ADAB3A7}"/>
              </a:ext>
            </a:extLst>
          </p:cNvPr>
          <p:cNvSpPr/>
          <p:nvPr/>
        </p:nvSpPr>
        <p:spPr>
          <a:xfrm>
            <a:off x="8132510" y="5464438"/>
            <a:ext cx="3673226" cy="1121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>
                <a:latin typeface="+mj-ea"/>
                <a:ea typeface="+mj-ea"/>
              </a:rPr>
              <a:t>Light box</a:t>
            </a:r>
          </a:p>
          <a:p>
            <a:pPr algn="ctr"/>
            <a:r>
              <a:rPr lang="zh-TW" altLang="en-US" b="1">
                <a:latin typeface="+mj-ea"/>
                <a:ea typeface="+mj-ea"/>
              </a:rPr>
              <a:t>新增元件資料區</a:t>
            </a:r>
            <a:endParaRPr lang="en-US" altLang="zh-TW" b="1">
              <a:latin typeface="+mj-ea"/>
              <a:ea typeface="+mj-ea"/>
            </a:endParaRPr>
          </a:p>
          <a:p>
            <a:pPr algn="ctr"/>
            <a:r>
              <a:rPr lang="en-US" altLang="zh-TW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[</a:t>
            </a:r>
            <a:r>
              <a:rPr lang="pt-BR" altLang="zh-TW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portal_website_page_item_data</a:t>
            </a:r>
            <a:r>
              <a:rPr lang="en-US" altLang="zh-TW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]</a:t>
            </a:r>
            <a:endParaRPr lang="en-US" altLang="zh-TW" sz="1400" b="1">
              <a:solidFill>
                <a:schemeClr val="bg1"/>
              </a:solidFill>
              <a:latin typeface="+mj-ea"/>
            </a:endParaRPr>
          </a:p>
          <a:p>
            <a:pPr algn="ctr"/>
            <a:r>
              <a:rPr lang="zh-TW" altLang="en-US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下一頁說明</a:t>
            </a:r>
            <a:endParaRPr lang="en-US" altLang="zh-TW" sz="1400" b="1" kern="1200">
              <a:solidFill>
                <a:schemeClr val="bg1"/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8E85BDF7-17C6-80E8-02EE-3915D8C5F5D9}"/>
              </a:ext>
            </a:extLst>
          </p:cNvPr>
          <p:cNvSpPr/>
          <p:nvPr/>
        </p:nvSpPr>
        <p:spPr>
          <a:xfrm>
            <a:off x="8188095" y="2701831"/>
            <a:ext cx="3673226" cy="19769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>
                <a:latin typeface="+mj-ea"/>
                <a:ea typeface="+mj-ea"/>
              </a:rPr>
              <a:t>Light box</a:t>
            </a:r>
          </a:p>
          <a:p>
            <a:pPr algn="ctr"/>
            <a:r>
              <a:rPr lang="en-US" altLang="zh-TW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[</a:t>
            </a:r>
            <a:r>
              <a:rPr lang="zh-TW" altLang="en-US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 </a:t>
            </a:r>
            <a:r>
              <a:rPr lang="pt-BR" altLang="zh-TW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portal_website_page_item</a:t>
            </a:r>
            <a:r>
              <a:rPr lang="zh-TW" altLang="en-US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]</a:t>
            </a:r>
          </a:p>
          <a:p>
            <a:pPr algn="ctr"/>
            <a:endParaRPr lang="en-US" altLang="zh-TW" sz="1200" b="1">
              <a:latin typeface="+mj-ea"/>
              <a:ea typeface="+mj-ea"/>
            </a:endParaRPr>
          </a:p>
          <a:p>
            <a:pPr algn="ctr"/>
            <a:r>
              <a:rPr lang="zh-TW" altLang="en-US" sz="1200" b="1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新增元件資料區</a:t>
            </a:r>
            <a:endParaRPr lang="en-US" altLang="zh-TW" sz="1200" b="1">
              <a:solidFill>
                <a:schemeClr val="accent6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zh-TW" altLang="en-US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指定元件代號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 起始日期 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 結束日期</a:t>
            </a:r>
            <a:endParaRPr lang="en-US" altLang="zh-TW" sz="12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zh-TW" sz="12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1200" b="1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編輯區  </a:t>
            </a:r>
            <a:endParaRPr lang="en-US" altLang="zh-TW" sz="1200" b="1">
              <a:solidFill>
                <a:schemeClr val="accent6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顯示當下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不可編輯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)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元件序號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元件名稱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錨點代號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自動產生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web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運用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可編輯區有 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: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 啟用時間 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 結束時間 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 排序 </a:t>
            </a:r>
            <a:endParaRPr lang="en-US" altLang="zh-TW" sz="12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6127950E-E725-19EF-92FA-8D772FBC454E}"/>
              </a:ext>
            </a:extLst>
          </p:cNvPr>
          <p:cNvSpPr/>
          <p:nvPr/>
        </p:nvSpPr>
        <p:spPr>
          <a:xfrm>
            <a:off x="7993773" y="2780495"/>
            <a:ext cx="523875" cy="5358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C</a:t>
            </a:r>
            <a:endParaRPr lang="zh-TW" altLang="en-US"/>
          </a:p>
        </p:txBody>
      </p:sp>
      <p:sp>
        <p:nvSpPr>
          <p:cNvPr id="46" name="箭號: 向下 45">
            <a:extLst>
              <a:ext uri="{FF2B5EF4-FFF2-40B4-BE49-F238E27FC236}">
                <a16:creationId xmlns:a16="http://schemas.microsoft.com/office/drawing/2014/main" id="{95C1A5E4-DB62-B806-AEE5-D268E30F1561}"/>
              </a:ext>
            </a:extLst>
          </p:cNvPr>
          <p:cNvSpPr/>
          <p:nvPr/>
        </p:nvSpPr>
        <p:spPr>
          <a:xfrm rot="16200000">
            <a:off x="7674866" y="3817862"/>
            <a:ext cx="594321" cy="59888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BFDB5482-F2B1-413C-30B3-8CCF5E0E96AD}"/>
              </a:ext>
            </a:extLst>
          </p:cNvPr>
          <p:cNvSpPr/>
          <p:nvPr/>
        </p:nvSpPr>
        <p:spPr>
          <a:xfrm>
            <a:off x="620579" y="4870046"/>
            <a:ext cx="782769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序號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0820C014-EA8F-3AE5-E1B6-EEB63D73A1F7}"/>
              </a:ext>
            </a:extLst>
          </p:cNvPr>
          <p:cNvSpPr/>
          <p:nvPr/>
        </p:nvSpPr>
        <p:spPr>
          <a:xfrm>
            <a:off x="1319286" y="4868313"/>
            <a:ext cx="1329657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元件代號</a:t>
            </a: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1546DB31-0F88-720C-155B-BC8BF369B2AE}"/>
              </a:ext>
            </a:extLst>
          </p:cNvPr>
          <p:cNvSpPr/>
          <p:nvPr/>
        </p:nvSpPr>
        <p:spPr>
          <a:xfrm>
            <a:off x="2490778" y="4868312"/>
            <a:ext cx="1329657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元件名稱</a:t>
            </a:r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62EA75AF-9B06-8757-035F-FC5EF05B7598}"/>
              </a:ext>
            </a:extLst>
          </p:cNvPr>
          <p:cNvSpPr/>
          <p:nvPr/>
        </p:nvSpPr>
        <p:spPr>
          <a:xfrm>
            <a:off x="3701429" y="4855665"/>
            <a:ext cx="1329657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啟用時間</a:t>
            </a: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211BF8A9-69EA-C1E6-8BE3-1288106FBEB6}"/>
              </a:ext>
            </a:extLst>
          </p:cNvPr>
          <p:cNvSpPr/>
          <p:nvPr/>
        </p:nvSpPr>
        <p:spPr>
          <a:xfrm>
            <a:off x="4881305" y="4858753"/>
            <a:ext cx="1329657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結束日期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FF1FCA48-38EE-5FD9-544C-ECF04FB3F0AF}"/>
              </a:ext>
            </a:extLst>
          </p:cNvPr>
          <p:cNvSpPr/>
          <p:nvPr/>
        </p:nvSpPr>
        <p:spPr>
          <a:xfrm>
            <a:off x="6118516" y="4858753"/>
            <a:ext cx="1329657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圖示區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47147A90-1BB5-0CDA-6D5B-B8B4807BBD18}"/>
              </a:ext>
            </a:extLst>
          </p:cNvPr>
          <p:cNvSpPr/>
          <p:nvPr/>
        </p:nvSpPr>
        <p:spPr>
          <a:xfrm>
            <a:off x="7271832" y="4852222"/>
            <a:ext cx="782769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上移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B6406908-02DB-47D9-B4C8-52BAED19D4D1}"/>
              </a:ext>
            </a:extLst>
          </p:cNvPr>
          <p:cNvSpPr/>
          <p:nvPr/>
        </p:nvSpPr>
        <p:spPr>
          <a:xfrm>
            <a:off x="7956248" y="4852221"/>
            <a:ext cx="782770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下移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51B1CF72-66EE-F67B-2412-744847F3A750}"/>
              </a:ext>
            </a:extLst>
          </p:cNvPr>
          <p:cNvSpPr/>
          <p:nvPr/>
        </p:nvSpPr>
        <p:spPr>
          <a:xfrm>
            <a:off x="8645879" y="4852222"/>
            <a:ext cx="782770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移除</a:t>
            </a: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9A3BE48E-28F1-E77A-62AE-AD925D0FF408}"/>
              </a:ext>
            </a:extLst>
          </p:cNvPr>
          <p:cNvSpPr/>
          <p:nvPr/>
        </p:nvSpPr>
        <p:spPr>
          <a:xfrm>
            <a:off x="9353558" y="4852220"/>
            <a:ext cx="1175328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編輯內容</a:t>
            </a: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22AD6C1F-C37A-6631-2E9D-5EFE123AE740}"/>
              </a:ext>
            </a:extLst>
          </p:cNvPr>
          <p:cNvSpPr/>
          <p:nvPr/>
        </p:nvSpPr>
        <p:spPr>
          <a:xfrm>
            <a:off x="7952347" y="5361337"/>
            <a:ext cx="523875" cy="5358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D</a:t>
            </a:r>
            <a:endParaRPr lang="zh-TW" altLang="en-US"/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164E52D4-0F04-E212-1182-B6DACB07A5BE}"/>
              </a:ext>
            </a:extLst>
          </p:cNvPr>
          <p:cNvSpPr/>
          <p:nvPr/>
        </p:nvSpPr>
        <p:spPr>
          <a:xfrm>
            <a:off x="10441441" y="4867420"/>
            <a:ext cx="1433593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元件資料區</a:t>
            </a:r>
          </a:p>
        </p:txBody>
      </p:sp>
      <p:sp>
        <p:nvSpPr>
          <p:cNvPr id="44" name="箭號: 向下 43">
            <a:extLst>
              <a:ext uri="{FF2B5EF4-FFF2-40B4-BE49-F238E27FC236}">
                <a16:creationId xmlns:a16="http://schemas.microsoft.com/office/drawing/2014/main" id="{D2BC7715-98A5-04FB-2A4C-F26FC3B345CC}"/>
              </a:ext>
            </a:extLst>
          </p:cNvPr>
          <p:cNvSpPr/>
          <p:nvPr/>
        </p:nvSpPr>
        <p:spPr>
          <a:xfrm>
            <a:off x="10833741" y="5207075"/>
            <a:ext cx="402824" cy="35789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箭號: 向下 56">
            <a:extLst>
              <a:ext uri="{FF2B5EF4-FFF2-40B4-BE49-F238E27FC236}">
                <a16:creationId xmlns:a16="http://schemas.microsoft.com/office/drawing/2014/main" id="{38FCCFCF-6D44-EEB6-248F-AFA893469793}"/>
              </a:ext>
            </a:extLst>
          </p:cNvPr>
          <p:cNvSpPr/>
          <p:nvPr/>
        </p:nvSpPr>
        <p:spPr>
          <a:xfrm rot="10800000">
            <a:off x="10093935" y="4575753"/>
            <a:ext cx="402824" cy="35789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F8CDCDD-55F9-5E3E-CFBF-C531777868AB}"/>
              </a:ext>
            </a:extLst>
          </p:cNvPr>
          <p:cNvSpPr txBox="1"/>
          <p:nvPr/>
        </p:nvSpPr>
        <p:spPr>
          <a:xfrm>
            <a:off x="246233" y="5899939"/>
            <a:ext cx="6150634" cy="456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元件規劃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:</a:t>
            </a: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status</a:t>
            </a: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微軟正黑體"/>
                <a:ea typeface="微軟正黑體"/>
              </a:rPr>
              <a:t>in ( 0 ,1 ) or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微軟正黑體"/>
                <a:ea typeface="微軟正黑體"/>
              </a:rPr>
              <a:t>admin </a:t>
            </a:r>
            <a:r>
              <a:rPr lang="en-US" altLang="zh-TW" b="1" err="1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微軟正黑體"/>
                <a:ea typeface="微軟正黑體"/>
              </a:rPr>
              <a:t>不受單位限制</a:t>
            </a:r>
            <a:endParaRPr lang="zh-TW" altLang="en-US" sz="1800" b="1" kern="1200" err="1">
              <a:solidFill>
                <a:schemeClr val="accent5">
                  <a:lumMod val="50000"/>
                </a:schemeClr>
              </a:solidFill>
              <a:highlight>
                <a:srgbClr val="FFFF00"/>
              </a:highlight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5992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0208" cy="735013"/>
          </a:xfrm>
        </p:spPr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</a:t>
            </a:r>
            <a:r>
              <a:rPr lang="en-US" altLang="zh-TW">
                <a:latin typeface="+mn-ea"/>
              </a:rPr>
              <a:t>3-2)</a:t>
            </a:r>
            <a:r>
              <a:rPr lang="zh-TW" altLang="en-US">
                <a:latin typeface="+mn-ea"/>
              </a:rPr>
              <a:t> </a:t>
            </a:r>
            <a:r>
              <a:rPr lang="zh-TW" altLang="en-US" sz="1800">
                <a:latin typeface="+mn-ea"/>
              </a:rPr>
              <a:t>元件規劃</a:t>
            </a:r>
            <a:r>
              <a:rPr lang="en-US" altLang="zh-TW" sz="1800">
                <a:latin typeface="+mn-ea"/>
              </a:rPr>
              <a:t>-</a:t>
            </a:r>
            <a:r>
              <a:rPr lang="zh-TW" altLang="en-US" sz="1800" b="1">
                <a:latin typeface="+mj-ea"/>
                <a:ea typeface="+mj-ea"/>
              </a:rPr>
              <a:t>新增元件資料區</a:t>
            </a:r>
            <a:br>
              <a:rPr lang="en-US" altLang="zh-TW" b="1">
                <a:latin typeface="+mj-ea"/>
                <a:ea typeface="+mj-ea"/>
              </a:rPr>
            </a:b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44C856-40C8-BB64-56E4-9C6CE4E2F110}"/>
              </a:ext>
            </a:extLst>
          </p:cNvPr>
          <p:cNvSpPr/>
          <p:nvPr/>
        </p:nvSpPr>
        <p:spPr>
          <a:xfrm>
            <a:off x="1347309" y="2286754"/>
            <a:ext cx="6548114" cy="736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[</a:t>
            </a:r>
            <a:r>
              <a:rPr lang="en-US" altLang="zh-TW" sz="1800" b="1" kern="120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portal_website_page_item_data</a:t>
            </a:r>
            <a: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]</a:t>
            </a:r>
            <a:r>
              <a:rPr lang="zh-TW" altLang="en-US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br>
              <a:rPr lang="en-US" altLang="zh-TW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</a:br>
            <a:r>
              <a:rPr lang="zh-TW" altLang="en-US" sz="1800" b="1" kern="120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元件資料列表區 </a:t>
            </a:r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ABE2C74-CAD8-6DB1-EC7B-3A9FDDFB58D3}"/>
              </a:ext>
            </a:extLst>
          </p:cNvPr>
          <p:cNvSpPr/>
          <p:nvPr/>
        </p:nvSpPr>
        <p:spPr>
          <a:xfrm flipH="1">
            <a:off x="1009055" y="2401166"/>
            <a:ext cx="523875" cy="49513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B</a:t>
            </a:r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C54572E-5E43-4315-71C7-6F84A9782CDD}"/>
              </a:ext>
            </a:extLst>
          </p:cNvPr>
          <p:cNvSpPr/>
          <p:nvPr/>
        </p:nvSpPr>
        <p:spPr>
          <a:xfrm>
            <a:off x="6610101" y="2634361"/>
            <a:ext cx="1275719" cy="35485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新增資料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1C9959A3-F823-93CE-9327-D93A0ADAB3A7}"/>
              </a:ext>
            </a:extLst>
          </p:cNvPr>
          <p:cNvSpPr/>
          <p:nvPr/>
        </p:nvSpPr>
        <p:spPr>
          <a:xfrm>
            <a:off x="8276772" y="2067044"/>
            <a:ext cx="3762969" cy="316437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>
                <a:latin typeface="+mj-ea"/>
                <a:ea typeface="+mj-ea"/>
              </a:rPr>
              <a:t>A</a:t>
            </a:r>
            <a:r>
              <a:rPr lang="zh-TW" altLang="en-US" b="1">
                <a:latin typeface="+mj-ea"/>
                <a:ea typeface="+mj-ea"/>
              </a:rPr>
              <a:t>區保留</a:t>
            </a:r>
            <a:endParaRPr lang="en-US" altLang="zh-TW" b="1">
              <a:latin typeface="+mj-ea"/>
              <a:ea typeface="+mj-ea"/>
            </a:endParaRPr>
          </a:p>
          <a:p>
            <a:pPr algn="ctr"/>
            <a:r>
              <a:rPr lang="en-US" altLang="zh-TW" b="1">
                <a:latin typeface="+mj-ea"/>
                <a:ea typeface="+mj-ea"/>
              </a:rPr>
              <a:t>B</a:t>
            </a:r>
            <a:r>
              <a:rPr lang="zh-TW" altLang="en-US" b="1">
                <a:latin typeface="+mj-ea"/>
                <a:ea typeface="+mj-ea"/>
              </a:rPr>
              <a:t>區 更新 </a:t>
            </a:r>
            <a:r>
              <a:rPr lang="en-US" altLang="zh-TW" b="1">
                <a:latin typeface="+mj-ea"/>
                <a:ea typeface="+mj-ea"/>
              </a:rPr>
              <a:t>UI</a:t>
            </a:r>
          </a:p>
          <a:p>
            <a:pPr algn="ctr"/>
            <a:r>
              <a:rPr lang="zh-TW" altLang="en-US" b="1">
                <a:latin typeface="+mj-ea"/>
                <a:ea typeface="+mj-ea"/>
              </a:rPr>
              <a:t>新增網頁元件資料表單</a:t>
            </a:r>
            <a:endParaRPr lang="en-US" altLang="zh-TW" b="1">
              <a:latin typeface="+mj-ea"/>
              <a:ea typeface="+mj-ea"/>
            </a:endParaRPr>
          </a:p>
          <a:p>
            <a:pPr algn="ctr"/>
            <a:r>
              <a:rPr lang="en-US" altLang="zh-TW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[</a:t>
            </a:r>
            <a:r>
              <a:rPr lang="pt-BR" altLang="zh-TW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portal_website_page_item_data</a:t>
            </a:r>
            <a:r>
              <a:rPr lang="en-US" altLang="zh-TW" sz="1400" b="1" kern="1200">
                <a:solidFill>
                  <a:schemeClr val="bg1"/>
                </a:solidFill>
                <a:latin typeface="+mj-ea"/>
                <a:ea typeface="+mn-ea"/>
                <a:cs typeface="+mn-cs"/>
              </a:rPr>
              <a:t>]</a:t>
            </a:r>
          </a:p>
          <a:p>
            <a:pPr algn="ctr"/>
            <a:endParaRPr lang="en-US" altLang="zh-TW" sz="1400" b="1">
              <a:solidFill>
                <a:schemeClr val="bg1"/>
              </a:solidFill>
              <a:latin typeface="+mj-ea"/>
            </a:endParaRPr>
          </a:p>
          <a:p>
            <a:pPr algn="ctr"/>
            <a:r>
              <a:rPr lang="zh-TW" altLang="en-US" sz="1200" b="1" kern="120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  <a:cs typeface="+mn-cs"/>
              </a:rPr>
              <a:t>表單區</a:t>
            </a:r>
            <a:endParaRPr lang="en-US" altLang="zh-TW" sz="1200" b="1" kern="1200">
              <a:solidFill>
                <a:schemeClr val="accent6">
                  <a:lumMod val="40000"/>
                  <a:lumOff val="60000"/>
                </a:schemeClr>
              </a:solidFill>
              <a:latin typeface="+mj-ea"/>
              <a:ea typeface="+mj-ea"/>
              <a:cs typeface="+mn-cs"/>
            </a:endParaRPr>
          </a:p>
          <a:p>
            <a:pPr algn="ctr"/>
            <a:r>
              <a:rPr lang="zh-TW" altLang="en-US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資料排序下拉選單</a:t>
            </a:r>
            <a:r>
              <a:rPr lang="en-US" altLang="zh-TW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(1~100)</a:t>
            </a:r>
          </a:p>
          <a:p>
            <a:pPr algn="ctr"/>
            <a:r>
              <a:rPr lang="en-US" altLang="zh-TW" sz="1200" b="1" kern="1200">
                <a:solidFill>
                  <a:schemeClr val="bg1"/>
                </a:solidFill>
                <a:latin typeface="+mj-ea"/>
                <a:ea typeface="+mj-ea"/>
                <a:cs typeface="+mn-cs"/>
              </a:rPr>
              <a:t>+</a:t>
            </a:r>
          </a:p>
          <a:p>
            <a:pPr algn="ctr"/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取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en-US" altLang="zh-TW" sz="1200" b="1" err="1">
                <a:solidFill>
                  <a:schemeClr val="bg1"/>
                </a:solidFill>
                <a:latin typeface="+mj-ea"/>
                <a:ea typeface="+mj-ea"/>
              </a:rPr>
              <a:t>portal_item_attribute</a:t>
            </a:r>
            <a:r>
              <a:rPr lang="en-US" altLang="zh-TW" sz="1200" b="1">
                <a:solidFill>
                  <a:schemeClr val="bg1"/>
                </a:solidFill>
                <a:latin typeface="+mj-ea"/>
                <a:ea typeface="+mj-ea"/>
              </a:rPr>
              <a:t>]</a:t>
            </a:r>
            <a:r>
              <a:rPr lang="zh-TW" altLang="en-US" sz="1200" b="1">
                <a:solidFill>
                  <a:schemeClr val="bg1"/>
                </a:solidFill>
                <a:latin typeface="+mj-ea"/>
                <a:ea typeface="+mj-ea"/>
              </a:rPr>
              <a:t>對應屬性資料</a:t>
            </a:r>
            <a:endParaRPr lang="en-US" altLang="zh-TW" sz="1200" b="1" kern="1200">
              <a:solidFill>
                <a:schemeClr val="bg1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6127950E-E725-19EF-92FA-8D772FBC454E}"/>
              </a:ext>
            </a:extLst>
          </p:cNvPr>
          <p:cNvSpPr/>
          <p:nvPr/>
        </p:nvSpPr>
        <p:spPr>
          <a:xfrm>
            <a:off x="8396182" y="2018818"/>
            <a:ext cx="523875" cy="5358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C</a:t>
            </a:r>
            <a:endParaRPr lang="zh-TW" altLang="en-US"/>
          </a:p>
        </p:txBody>
      </p:sp>
      <p:sp>
        <p:nvSpPr>
          <p:cNvPr id="44" name="箭號: 向下 43">
            <a:extLst>
              <a:ext uri="{FF2B5EF4-FFF2-40B4-BE49-F238E27FC236}">
                <a16:creationId xmlns:a16="http://schemas.microsoft.com/office/drawing/2014/main" id="{D2BC7715-98A5-04FB-2A4C-F26FC3B345CC}"/>
              </a:ext>
            </a:extLst>
          </p:cNvPr>
          <p:cNvSpPr/>
          <p:nvPr/>
        </p:nvSpPr>
        <p:spPr>
          <a:xfrm rot="16200000">
            <a:off x="7888101" y="2504878"/>
            <a:ext cx="594321" cy="59888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2B28C3-B73F-21BA-F051-8B26D01D87C0}"/>
              </a:ext>
            </a:extLst>
          </p:cNvPr>
          <p:cNvSpPr/>
          <p:nvPr/>
        </p:nvSpPr>
        <p:spPr>
          <a:xfrm>
            <a:off x="1347309" y="1570663"/>
            <a:ext cx="6548114" cy="735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/>
              <a:t>顯示 網站代號</a:t>
            </a:r>
            <a:r>
              <a:rPr lang="en-US" altLang="zh-TW" sz="1200"/>
              <a:t>+</a:t>
            </a:r>
            <a:r>
              <a:rPr lang="zh-TW" altLang="en-US" sz="1200"/>
              <a:t>網頁代號</a:t>
            </a:r>
            <a:r>
              <a:rPr lang="en-US" altLang="zh-TW" sz="1200"/>
              <a:t>+</a:t>
            </a:r>
            <a:r>
              <a:rPr lang="zh-TW" altLang="en-US" sz="1200"/>
              <a:t>版號</a:t>
            </a:r>
            <a:r>
              <a:rPr lang="en-US" altLang="zh-TW" sz="1200"/>
              <a:t>+</a:t>
            </a:r>
            <a:r>
              <a:rPr lang="zh-TW" altLang="en-US" sz="1200"/>
              <a:t>元件序號</a:t>
            </a:r>
            <a:r>
              <a:rPr lang="en-US" altLang="zh-TW" sz="1200"/>
              <a:t>+</a:t>
            </a:r>
            <a:r>
              <a:rPr lang="zh-TW" altLang="en-US" sz="1200"/>
              <a:t>元件名稱</a:t>
            </a:r>
            <a:r>
              <a:rPr lang="en-US" altLang="zh-TW" sz="1200"/>
              <a:t>+</a:t>
            </a:r>
            <a:r>
              <a:rPr lang="zh-TW" altLang="en-US" sz="1200"/>
              <a:t>錨點代號</a:t>
            </a:r>
            <a:r>
              <a:rPr lang="en-US" altLang="zh-TW" sz="1200"/>
              <a:t>(</a:t>
            </a:r>
            <a:r>
              <a:rPr lang="zh-TW" altLang="en-US" sz="1200"/>
              <a:t>自動產生</a:t>
            </a:r>
            <a:r>
              <a:rPr lang="en-US" altLang="zh-TW" sz="1200"/>
              <a:t>web</a:t>
            </a:r>
            <a:r>
              <a:rPr lang="zh-TW" altLang="en-US" sz="1200"/>
              <a:t>運用</a:t>
            </a:r>
            <a:r>
              <a:rPr lang="en-US" altLang="zh-TW" sz="1200"/>
              <a:t>)+</a:t>
            </a:r>
            <a:r>
              <a:rPr lang="zh-TW" altLang="en-US" sz="1200"/>
              <a:t>啟用時間 </a:t>
            </a:r>
            <a:r>
              <a:rPr lang="en-US" altLang="zh-TW" sz="1200"/>
              <a:t>+</a:t>
            </a:r>
            <a:r>
              <a:rPr lang="zh-TW" altLang="en-US" sz="1200"/>
              <a:t> 結束時間 </a:t>
            </a:r>
            <a:r>
              <a:rPr lang="en-US" altLang="zh-TW" sz="1200"/>
              <a:t>+ </a:t>
            </a:r>
            <a:r>
              <a:rPr lang="zh-TW" altLang="en-US" sz="1200"/>
              <a:t>小圖示 </a:t>
            </a:r>
            <a:endParaRPr lang="en-US" altLang="zh-TW" sz="120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FA5F6FA-2186-1F5E-E2AE-38B0CBABED9C}"/>
              </a:ext>
            </a:extLst>
          </p:cNvPr>
          <p:cNvSpPr/>
          <p:nvPr/>
        </p:nvSpPr>
        <p:spPr>
          <a:xfrm>
            <a:off x="1015065" y="1672885"/>
            <a:ext cx="523875" cy="5358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FA0AF-1B5E-B832-FAC9-8DEA58C7EECB}"/>
              </a:ext>
            </a:extLst>
          </p:cNvPr>
          <p:cNvSpPr/>
          <p:nvPr/>
        </p:nvSpPr>
        <p:spPr>
          <a:xfrm>
            <a:off x="1347308" y="3023481"/>
            <a:ext cx="6548115" cy="11838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資料排序</a:t>
            </a:r>
            <a:r>
              <a:rPr lang="en-US" altLang="zh-TW" sz="1600" b="1" err="1">
                <a:solidFill>
                  <a:schemeClr val="tx1"/>
                </a:solidFill>
                <a:latin typeface="+mj-ea"/>
                <a:ea typeface="+mj-ea"/>
              </a:rPr>
              <a:t>page_item_data_seq</a:t>
            </a:r>
            <a:r>
              <a:rPr lang="en-US" altLang="zh-TW" sz="1600" b="1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sz="1600" b="1" kern="1200">
                <a:solidFill>
                  <a:schemeClr val="tx1"/>
                </a:solidFill>
                <a:latin typeface="+mj-ea"/>
                <a:ea typeface="+mj-ea"/>
                <a:cs typeface="+mn-cs"/>
              </a:rPr>
              <a:t>+</a:t>
            </a:r>
            <a:r>
              <a:rPr lang="zh-TW" altLang="en-US" sz="1600" b="1">
                <a:solidFill>
                  <a:schemeClr val="tx1"/>
                </a:solidFill>
                <a:latin typeface="+mj-ea"/>
                <a:ea typeface="+mj-ea"/>
              </a:rPr>
              <a:t>元件序號</a:t>
            </a:r>
            <a:r>
              <a:rPr lang="en-US" altLang="zh-TW" sz="1600" b="1">
                <a:solidFill>
                  <a:schemeClr val="tx1"/>
                </a:solidFill>
                <a:latin typeface="+mj-ea"/>
                <a:ea typeface="+mj-ea"/>
              </a:rPr>
              <a:t>+</a:t>
            </a:r>
            <a:r>
              <a:rPr lang="zh-TW" altLang="en-US" sz="1600" b="1">
                <a:solidFill>
                  <a:schemeClr val="tx1"/>
                </a:solidFill>
                <a:latin typeface="+mj-ea"/>
                <a:ea typeface="+mj-ea"/>
              </a:rPr>
              <a:t>元件名稱 </a:t>
            </a:r>
            <a:r>
              <a:rPr lang="en-US" altLang="zh-TW" sz="1600" b="1">
                <a:solidFill>
                  <a:schemeClr val="tx1"/>
                </a:solidFill>
                <a:latin typeface="+mj-ea"/>
                <a:ea typeface="+mj-ea"/>
              </a:rPr>
              <a:t>+</a:t>
            </a:r>
            <a:r>
              <a:rPr lang="zh-TW" altLang="en-US" sz="1600" b="1">
                <a:solidFill>
                  <a:schemeClr val="tx1"/>
                </a:solidFill>
                <a:latin typeface="+mj-ea"/>
                <a:ea typeface="+mj-ea"/>
              </a:rPr>
              <a:t> 移除</a:t>
            </a:r>
            <a:r>
              <a:rPr lang="en-US" altLang="zh-TW" sz="1600" b="1">
                <a:solidFill>
                  <a:schemeClr val="tx1"/>
                </a:solidFill>
                <a:latin typeface="+mj-ea"/>
                <a:ea typeface="+mj-ea"/>
              </a:rPr>
              <a:t>+</a:t>
            </a:r>
            <a:r>
              <a:rPr lang="zh-TW" altLang="en-US" sz="1600" b="1">
                <a:solidFill>
                  <a:schemeClr val="tx1"/>
                </a:solidFill>
                <a:latin typeface="+mj-ea"/>
                <a:ea typeface="+mj-ea"/>
              </a:rPr>
              <a:t>編輯</a:t>
            </a:r>
            <a:endParaRPr lang="en-US" altLang="zh-TW" sz="1600" b="1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06238D5A-3189-F8A1-D795-80C44D1A579A}"/>
              </a:ext>
            </a:extLst>
          </p:cNvPr>
          <p:cNvSpPr/>
          <p:nvPr/>
        </p:nvSpPr>
        <p:spPr>
          <a:xfrm rot="16200000">
            <a:off x="7767623" y="3315966"/>
            <a:ext cx="594321" cy="59888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84A283F-BA86-F3C7-E4E2-E1ED87D4A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23" y="4060076"/>
            <a:ext cx="3605842" cy="292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53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(4)</a:t>
            </a:r>
            <a:r>
              <a:rPr lang="zh-TW" altLang="en-US" b="1">
                <a:latin typeface="+mn-ea"/>
              </a:rPr>
              <a:t> </a:t>
            </a:r>
            <a:r>
              <a:rPr lang="zh-TW" altLang="en-US" sz="1800" b="1">
                <a:latin typeface="+mn-ea"/>
              </a:rPr>
              <a:t>新版</a:t>
            </a: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66ADBC-0208-2189-B411-5DB3166C2F96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AF2CC0-8A70-D645-20AC-5B601323BE4E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25C97A-5733-6CB3-CE38-D16D4C4801B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314ED5C-FD12-A5CE-9107-4167D6848C0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8279C0-8B8D-412B-12EA-FAF75BEA66E7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28E4F35-F79C-C239-11E3-3D8320BD1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22080"/>
              </p:ext>
            </p:extLst>
          </p:nvPr>
        </p:nvGraphicFramePr>
        <p:xfrm>
          <a:off x="838199" y="2564239"/>
          <a:ext cx="11437190" cy="4669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719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新版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$data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=select top (1) * from [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portal_website_page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]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where (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) order by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desc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data.status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&lt;=3 alert ( 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目前狀態無法新版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return;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新版號 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$</a:t>
                      </a:r>
                      <a:r>
                        <a:rPr lang="en-US" altLang="zh-TW" sz="1100" b="0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new_website_page_version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=$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data.website_page_version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++ 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複製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NAS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資源檔案 系統代號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/*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to 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系統代號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$</a:t>
                      </a:r>
                      <a:r>
                        <a:rPr lang="en-US" altLang="zh-TW" sz="1100" b="0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new_website_page_version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複製資料表 </a:t>
                      </a: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複製原本資料 ，新增一筆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[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portal_website_page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]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 資料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=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$</a:t>
                      </a:r>
                      <a:r>
                        <a:rPr lang="en-US" altLang="zh-TW" sz="1100" b="0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new_website_page_version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新增與變更日期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=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now , status = 0) </a:t>
                      </a: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If 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原本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status!=9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進行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set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status = 7 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更新原本資料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，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變更日期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now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複製原本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[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portal_website_page_item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]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資料 ，新增一筆 資料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100" b="0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new_website_page_version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新增與變更日期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=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now , status = 0) </a:t>
                      </a:r>
                    </a:p>
                    <a:p>
                      <a:pPr marL="1200150" marR="0" lvl="2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複製原本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[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portal_website_page_item_data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]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資料 </a:t>
                      </a:r>
                      <a:br>
                        <a:rPr lang="en-US" altLang="zh-TW" sz="1100" b="0" kern="1200">
                          <a:solidFill>
                            <a:srgbClr val="2F5597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需要進對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portal_website_page_item_data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.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[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page_item_data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]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內容進行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replace </a:t>
                      </a:r>
                      <a:br>
                        <a:rPr lang="en-US" altLang="zh-TW" sz="1100" b="0" kern="1200">
                          <a:solidFill>
                            <a:srgbClr val="2F5597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zh-TW" sz="1100" b="0" u="non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( /$</a:t>
                      </a:r>
                      <a:r>
                        <a:rPr lang="en-US" altLang="zh-TW" sz="1100" b="0" u="non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website_id</a:t>
                      </a:r>
                      <a:r>
                        <a:rPr lang="en-US" altLang="zh-TW" sz="1100" b="0" u="non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u="non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en-US" altLang="zh-TW" sz="1100" b="0" u="non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u="non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u="non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zh-TW" altLang="en-US" sz="1100" b="0" u="non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u="non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)=&gt;( /$</a:t>
                      </a:r>
                      <a:r>
                        <a:rPr lang="en-US" altLang="zh-TW" sz="1100" b="0" u="non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website_id</a:t>
                      </a:r>
                      <a:r>
                        <a:rPr lang="en-US" altLang="zh-TW" sz="1100" b="0" u="non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u="non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website_page_id</a:t>
                      </a:r>
                      <a:r>
                        <a:rPr lang="en-US" altLang="zh-TW" sz="1100" b="0" u="none" kern="1200">
                          <a:solidFill>
                            <a:schemeClr val="accent2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/$</a:t>
                      </a:r>
                      <a:r>
                        <a:rPr lang="en-US" altLang="zh-TW" sz="1100" b="0" u="none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new_website_page_version</a:t>
                      </a:r>
                      <a:r>
                        <a:rPr lang="en-US" altLang="zh-TW" sz="1100" b="0" u="none" kern="1200">
                          <a:solidFill>
                            <a:schemeClr val="accent2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100" b="0" u="non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/)</a:t>
                      </a:r>
                      <a:br>
                        <a:rPr lang="en-US" altLang="zh-TW" sz="1100" b="0" kern="1200">
                          <a:solidFill>
                            <a:srgbClr val="2F5597"/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，新增一筆 資料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100" b="0" kern="120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new_website_page_version</a:t>
                      </a:r>
                      <a:r>
                        <a:rPr lang="en-US" altLang="zh-TW" sz="1100" b="0" kern="12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新增與變更日期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now , status = 0)</a:t>
                      </a:r>
                    </a:p>
                    <a:p>
                      <a:pPr marL="1200150" marR="0" lvl="2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新增一筆資料到 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[</a:t>
                      </a:r>
                      <a:r>
                        <a:rPr lang="en-US" sz="1100" b="0" i="0" u="none" strike="noStrike" kern="1200" noProof="0" err="1">
                          <a:solidFill>
                            <a:srgbClr val="FF0000"/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]</a:t>
                      </a: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 歷程資料表 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insert into [</a:t>
                      </a:r>
                      <a:r>
                        <a:rPr lang="en-US" sz="1100" b="0" i="0" u="none" strike="noStrike" kern="1200" noProof="0" err="1">
                          <a:solidFill>
                            <a:srgbClr val="FF0000"/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]</a:t>
                      </a: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  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</a:rPr>
                        <a:t> </a:t>
                      </a: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 </a:t>
                      </a:r>
                      <a:br>
                        <a:rPr lang="en-US" altLang="zh-TW" sz="1100" b="0" kern="1200">
                          <a:solidFill>
                            <a:srgbClr val="2F5597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舊版紀錄log  ， 新增一筆資料到 </a:t>
                      </a:r>
                      <a:r>
                        <a:rPr lang="en-US" altLang="zh-TW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[</a:t>
                      </a:r>
                      <a:r>
                        <a:rPr lang="en-US" altLang="zh-TW" sz="1100" b="0" i="0" u="none" strike="noStrike" kern="1200" noProof="0" err="1">
                          <a:solidFill>
                            <a:srgbClr val="FF0000"/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]</a:t>
                      </a:r>
                      <a:r>
                        <a:rPr lang="zh-TW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 歷程資料表 </a:t>
                      </a:r>
                      <a:r>
                        <a:rPr lang="en-US" altLang="zh-TW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insert into [</a:t>
                      </a:r>
                      <a:r>
                        <a:rPr lang="en-US" altLang="zh-TW" sz="1100" b="0" i="0" u="none" strike="noStrike" kern="1200" noProof="0" err="1">
                          <a:solidFill>
                            <a:srgbClr val="FF0000"/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]</a:t>
                      </a:r>
                      <a:r>
                        <a:rPr lang="zh-TW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  </a:t>
                      </a:r>
                      <a:r>
                        <a:rPr lang="en-US" altLang="zh-TW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</a:rPr>
                        <a:t> </a:t>
                      </a:r>
                      <a:r>
                        <a:rPr lang="zh-TW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 </a:t>
                      </a:r>
                      <a:endParaRPr lang="en-US" altLang="zh-TW" sz="1100" b="0" kern="1200">
                        <a:solidFill>
                          <a:srgbClr val="2F5597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刪除前5版的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NAS/TB</a:t>
                      </a:r>
                      <a:r>
                        <a:rPr lang="zh-TW" altLang="en-US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資料</a:t>
                      </a:r>
                      <a:endParaRPr lang="en-US" altLang="zh-TW" sz="1100" b="0" kern="1200">
                        <a:solidFill>
                          <a:srgbClr val="2F5597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42950" lvl="1" indent="-285750" algn="l" defTabSz="9144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4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ABFBC10-6D56-1A75-22D8-76E7002FDFE9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3C55795-3D80-6F3D-74DC-91034ECC72A0}"/>
              </a:ext>
            </a:extLst>
          </p:cNvPr>
          <p:cNvSpPr/>
          <p:nvPr/>
        </p:nvSpPr>
        <p:spPr>
          <a:xfrm>
            <a:off x="5200698" y="1333926"/>
            <a:ext cx="806888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新版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137072F-4A7C-385E-5FA9-04F41596621F}"/>
              </a:ext>
            </a:extLst>
          </p:cNvPr>
          <p:cNvSpPr txBox="1"/>
          <p:nvPr/>
        </p:nvSpPr>
        <p:spPr>
          <a:xfrm>
            <a:off x="7694763" y="2265943"/>
            <a:ext cx="6193766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新版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(4,5,7,9 )</a:t>
            </a:r>
          </a:p>
        </p:txBody>
      </p:sp>
    </p:spTree>
    <p:extLst>
      <p:ext uri="{BB962C8B-B14F-4D97-AF65-F5344CB8AC3E}">
        <p14:creationId xmlns:p14="http://schemas.microsoft.com/office/powerpoint/2010/main" val="372261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(5)</a:t>
            </a:r>
            <a:r>
              <a:rPr lang="zh-TW" altLang="en-US" b="1">
                <a:latin typeface="+mn-ea"/>
              </a:rPr>
              <a:t> </a:t>
            </a:r>
            <a:r>
              <a:rPr lang="zh-TW" altLang="en-US" sz="1800" b="1">
                <a:latin typeface="+mn-ea"/>
              </a:rPr>
              <a:t>送審</a:t>
            </a: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66ADBC-0208-2189-B411-5DB3166C2F96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AF2CC0-8A70-D645-20AC-5B601323BE4E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25C97A-5733-6CB3-CE38-D16D4C4801B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314ED5C-FD12-A5CE-9107-4167D6848C0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8279C0-8B8D-412B-12EA-FAF75BEA66E7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ABFBC10-6D56-1A75-22D8-76E7002FDFE9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8B68876-41A4-0FB5-98B0-F08F274D8BD3}"/>
              </a:ext>
            </a:extLst>
          </p:cNvPr>
          <p:cNvSpPr txBox="1"/>
          <p:nvPr/>
        </p:nvSpPr>
        <p:spPr>
          <a:xfrm>
            <a:off x="8236094" y="2313720"/>
            <a:ext cx="3461324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送審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( 0,1 )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9B648B1-76CE-8015-DC38-C22F706C17E5}"/>
              </a:ext>
            </a:extLst>
          </p:cNvPr>
          <p:cNvSpPr/>
          <p:nvPr/>
        </p:nvSpPr>
        <p:spPr>
          <a:xfrm>
            <a:off x="3893340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元件規劃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581B685-B97D-EC73-0A7C-58A409E95457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78FE00A-BBBA-A5D8-F09A-21D8D3AAA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84210"/>
              </p:ext>
            </p:extLst>
          </p:nvPr>
        </p:nvGraphicFramePr>
        <p:xfrm>
          <a:off x="838199" y="2564239"/>
          <a:ext cx="11437190" cy="3275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719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送審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 status = 3 where (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website_page_id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) </a:t>
                      </a: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Wingdings,Sans-Serif" panose="05000000000000000000" pitchFamily="2" charset="2"/>
                        <a:buChar char="Ø"/>
                      </a:pP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新增一筆資料到 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[</a:t>
                      </a:r>
                      <a:r>
                        <a:rPr lang="en-US" sz="1100" b="0" i="0" u="none" strike="noStrike" kern="1200" noProof="0" err="1">
                          <a:solidFill>
                            <a:srgbClr val="FF0000"/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]</a:t>
                      </a: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 歷程資料表 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insert into [</a:t>
                      </a:r>
                      <a:r>
                        <a:rPr lang="en-US" sz="1100" b="0" i="0" u="none" strike="noStrike" kern="1200" noProof="0" err="1">
                          <a:solidFill>
                            <a:srgbClr val="FF0000"/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Arial"/>
                        </a:rPr>
                        <a:t>]</a:t>
                      </a:r>
                      <a:r>
                        <a:rPr lang="zh-TW" alt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  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  <a:latin typeface="Microsoft JhengHei"/>
                        </a:rPr>
                        <a:t> </a:t>
                      </a:r>
                      <a:endParaRPr lang="en-US" sz="1100" b="1" i="0" u="none" strike="noStrike" kern="1200" noProof="0">
                        <a:solidFill>
                          <a:srgbClr val="FF0000"/>
                        </a:solidFill>
                        <a:latin typeface="Microsoft JhengHei"/>
                      </a:endParaRPr>
                    </a:p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" panose="05000000000000000000" pitchFamily="2" charset="2"/>
                        <a:buChar char="•"/>
                      </a:pPr>
                      <a:endParaRPr lang="en-US" sz="1100" b="1" i="0" u="none" strike="noStrike" kern="1200" noProof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  <a:p>
                      <a:pPr marL="742950" marR="0" lvl="1" indent="-28575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br>
                        <a:rPr lang="en-US" altLang="zh-TW" sz="1100" b="0" kern="1200">
                          <a:solidFill>
                            <a:srgbClr val="2F5597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zh-TW" sz="1200" b="1" kern="1200">
                        <a:solidFill>
                          <a:schemeClr val="accent2">
                            <a:lumMod val="75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zh-TW" sz="1200" b="1" kern="1200">
                        <a:solidFill>
                          <a:schemeClr val="accent2">
                            <a:lumMod val="75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zh-TW" sz="1200" b="1" kern="1200">
                        <a:solidFill>
                          <a:schemeClr val="accent2">
                            <a:lumMod val="75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zh-TW" sz="1200" b="1" kern="1200">
                        <a:solidFill>
                          <a:schemeClr val="accent2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200" b="1" kern="1200">
                        <a:solidFill>
                          <a:schemeClr val="accent2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4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62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(6)</a:t>
            </a:r>
            <a:r>
              <a:rPr lang="zh-TW" altLang="en-US" b="1">
                <a:latin typeface="+mn-ea"/>
              </a:rPr>
              <a:t> </a:t>
            </a:r>
            <a:r>
              <a:rPr lang="zh-TW" altLang="en-US" sz="1800" b="1">
                <a:latin typeface="+mn-ea"/>
              </a:rPr>
              <a:t>退回 </a:t>
            </a:r>
            <a:r>
              <a:rPr lang="en-US" altLang="zh-TW" sz="1800" b="1">
                <a:latin typeface="+mn-ea"/>
              </a:rPr>
              <a:t>/ </a:t>
            </a:r>
            <a:r>
              <a:rPr lang="zh-TW" altLang="en-US" sz="1800" b="1">
                <a:latin typeface="+mn-ea"/>
              </a:rPr>
              <a:t>通過 </a:t>
            </a: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66ADBC-0208-2189-B411-5DB3166C2F96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AF2CC0-8A70-D645-20AC-5B601323BE4E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25C97A-5733-6CB3-CE38-D16D4C4801B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314ED5C-FD12-A5CE-9107-4167D6848C0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8279C0-8B8D-412B-12EA-FAF75BEA66E7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ABFBC10-6D56-1A75-22D8-76E7002FDFE9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09A0AAB-389B-369A-9D6C-AC9BF034A9AE}"/>
              </a:ext>
            </a:extLst>
          </p:cNvPr>
          <p:cNvSpPr/>
          <p:nvPr/>
        </p:nvSpPr>
        <p:spPr>
          <a:xfrm>
            <a:off x="6982289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退回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DCAE10B-46F7-1375-8906-FA942E70DBDB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43BAB98-CFE8-D942-3006-BD1FD21896D6}"/>
              </a:ext>
            </a:extLst>
          </p:cNvPr>
          <p:cNvSpPr txBox="1"/>
          <p:nvPr/>
        </p:nvSpPr>
        <p:spPr>
          <a:xfrm>
            <a:off x="8448543" y="2265943"/>
            <a:ext cx="2790645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退回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(3)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DF34E03-8901-3E25-02B5-0C83FBC0E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14920"/>
              </p:ext>
            </p:extLst>
          </p:nvPr>
        </p:nvGraphicFramePr>
        <p:xfrm>
          <a:off x="838199" y="2564239"/>
          <a:ext cx="7064783" cy="2769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4783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6976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退回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 status = 1   where (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website_page_id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)  </a:t>
                      </a:r>
                      <a:endParaRPr lang="en-US" altLang="zh-TW" sz="1100" b="1" i="0" u="none" strike="noStrike" kern="1200" noProof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742950" marR="0" lvl="1" indent="-28575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sz="1100" b="0" i="0" u="none" strike="noStrike" kern="1200" noProof="0">
                          <a:solidFill>
                            <a:srgbClr val="FF0000"/>
                          </a:solidFill>
                        </a:rPr>
                        <a:t>新增一筆資料到 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sz="1100" b="0" i="0" u="none" strike="noStrike" kern="1200" noProof="0" err="1">
                          <a:solidFill>
                            <a:srgbClr val="FF0000"/>
                          </a:solidFill>
                        </a:rPr>
                        <a:t>portal_page_log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</a:rPr>
                        <a:t>]</a:t>
                      </a:r>
                      <a:r>
                        <a:rPr lang="zh-TW" sz="1100" b="0" i="0" u="none" strike="noStrike" kern="1200" noProof="0">
                          <a:solidFill>
                            <a:srgbClr val="FF0000"/>
                          </a:solidFill>
                        </a:rPr>
                        <a:t> 歷程資料表 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</a:rPr>
                        <a:t>insert into [</a:t>
                      </a:r>
                      <a:r>
                        <a:rPr lang="en-US" sz="1100" b="0" i="0" u="none" strike="noStrike" kern="1200" noProof="0" err="1">
                          <a:solidFill>
                            <a:srgbClr val="FF0000"/>
                          </a:solidFill>
                        </a:rPr>
                        <a:t>portal_page_log</a:t>
                      </a:r>
                      <a:r>
                        <a:rPr lang="en-US" sz="1100" b="0" i="0" u="none" strike="noStrike" kern="1200" noProof="0">
                          <a:solidFill>
                            <a:srgbClr val="FF0000"/>
                          </a:solidFill>
                        </a:rPr>
                        <a:t>]</a:t>
                      </a:r>
                      <a:r>
                        <a:rPr lang="zh-TW" sz="1100" b="0" i="0" u="none" strike="noStrike" kern="1200" noProof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US" sz="1100" b="1" i="0" u="none" strike="noStrike" kern="1200" noProof="0">
                        <a:solidFill>
                          <a:srgbClr val="FF0000"/>
                        </a:solidFill>
                      </a:endParaRPr>
                    </a:p>
                    <a:p>
                      <a:pPr marL="742950" marR="0" lvl="1" indent="-28575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通過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 status = 4 where (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website_page_version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website_page_id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)  </a:t>
                      </a:r>
                    </a:p>
                    <a:p>
                      <a:pPr marL="742950" marR="0" lvl="1" indent="-28575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100" b="0" kern="1200" noProof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新增一筆資料到 </a:t>
                      </a:r>
                      <a:r>
                        <a:rPr lang="en-US" sz="1100" b="0" kern="1200" noProof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100" b="0" kern="1200" noProof="0" err="1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portal_page_log</a:t>
                      </a:r>
                      <a:r>
                        <a:rPr lang="en-US" sz="1100" b="0" kern="1200" noProof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]</a:t>
                      </a:r>
                      <a:r>
                        <a:rPr lang="zh-TW" altLang="en-US" sz="1100" b="0" kern="1200" noProof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 歷程資料表 </a:t>
                      </a:r>
                      <a:r>
                        <a:rPr lang="en-US" sz="1100" b="0" kern="1200" noProof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insert into [</a:t>
                      </a:r>
                      <a:r>
                        <a:rPr lang="en-US" sz="1100" b="0" kern="1200" noProof="0" err="1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portal_page_log</a:t>
                      </a:r>
                      <a:r>
                        <a:rPr lang="en-US" sz="1100" b="0" kern="1200" noProof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]</a:t>
                      </a:r>
                      <a:r>
                        <a:rPr lang="zh-TW" altLang="en-US" sz="1100" b="0" kern="1200" noProof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100" b="0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TW" sz="1100" b="0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endParaRPr lang="en-US" sz="1100" b="0" kern="1200">
                        <a:solidFill>
                          <a:srgbClr val="FF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TW" sz="1200" b="1" kern="1200">
                        <a:solidFill>
                          <a:schemeClr val="accent2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17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D6A6B-88A8-BEB9-77C6-64B5B4C4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206558C-257D-C0FE-59B8-FFAD05A8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網站頁面管理 </a:t>
            </a:r>
            <a:r>
              <a:rPr lang="en-US" altLang="zh-TW" b="1">
                <a:latin typeface="+mn-ea"/>
              </a:rPr>
              <a:t>(7)</a:t>
            </a:r>
            <a:r>
              <a:rPr lang="zh-TW" altLang="en-US" b="1">
                <a:latin typeface="+mn-ea"/>
              </a:rPr>
              <a:t> </a:t>
            </a:r>
            <a:r>
              <a:rPr lang="zh-TW" altLang="en-US" sz="1800" b="1">
                <a:latin typeface="+mn-ea"/>
              </a:rPr>
              <a:t>預覽</a:t>
            </a: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FD4360-84D7-B290-3A47-D3DD40512722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208C640-3BC5-388A-8CBD-A3FF4A4867ED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61E2EF3-DAC0-9DF5-1D64-0C7399C1D072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D08C651-6553-B82E-C052-63583F62BA0A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8CB9C7A-7712-920D-A53F-E660E17F7C90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D24F24C-47AD-DF81-D0EA-3548CEB97B3E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2FBCE2-A19F-B30D-0C38-0B7FA5076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251864"/>
              </p:ext>
            </p:extLst>
          </p:nvPr>
        </p:nvGraphicFramePr>
        <p:xfrm>
          <a:off x="437555" y="2564239"/>
          <a:ext cx="10355581" cy="1177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5581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11771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卡控說明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zh-TW" sz="12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TBD Brian####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TW" sz="1200" b="1" kern="1200">
                        <a:solidFill>
                          <a:schemeClr val="accent2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A8859C43-645A-88C6-7411-7D9647B09CB6}"/>
              </a:ext>
            </a:extLst>
          </p:cNvPr>
          <p:cNvSpPr txBox="1"/>
          <p:nvPr/>
        </p:nvSpPr>
        <p:spPr>
          <a:xfrm>
            <a:off x="8448543" y="2265943"/>
            <a:ext cx="2790645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(all)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B5E63D8-60A0-5440-C54A-4BB74169F1D3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74819CE-4AEF-64C9-F33E-BDDA9BD5E6D1}"/>
              </a:ext>
            </a:extLst>
          </p:cNvPr>
          <p:cNvSpPr/>
          <p:nvPr/>
        </p:nvSpPr>
        <p:spPr>
          <a:xfrm>
            <a:off x="6982289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退回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7B6E212-D3E0-0DAC-A222-F91291FEE5A3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F17951D-407B-B240-7A1C-7F7AA9E027BC}"/>
              </a:ext>
            </a:extLst>
          </p:cNvPr>
          <p:cNvSpPr/>
          <p:nvPr/>
        </p:nvSpPr>
        <p:spPr>
          <a:xfrm>
            <a:off x="3893340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元件規劃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F352E95-FDE7-5578-1157-F5A70FFB00A9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26B52EA-B465-3F32-DC0F-BEAE49285BD7}"/>
              </a:ext>
            </a:extLst>
          </p:cNvPr>
          <p:cNvSpPr/>
          <p:nvPr/>
        </p:nvSpPr>
        <p:spPr>
          <a:xfrm>
            <a:off x="5200698" y="1333926"/>
            <a:ext cx="806888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新版</a:t>
            </a:r>
          </a:p>
        </p:txBody>
      </p:sp>
    </p:spTree>
    <p:extLst>
      <p:ext uri="{BB962C8B-B14F-4D97-AF65-F5344CB8AC3E}">
        <p14:creationId xmlns:p14="http://schemas.microsoft.com/office/powerpoint/2010/main" val="356512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FC04F87F-7950-DBBC-194E-E2B9DF2CF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72" y="2664"/>
            <a:ext cx="8883570" cy="34574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6C951BC8-4EE7-D6DB-8B80-030205CA3E52}"/>
                  </a:ext>
                </a:extLst>
              </p14:cNvPr>
              <p14:cNvContentPartPr/>
              <p14:nvPr/>
            </p14:nvContentPartPr>
            <p14:xfrm>
              <a:off x="9822492" y="2233807"/>
              <a:ext cx="186269" cy="31731"/>
            </p14:xfrm>
          </p:contentPart>
        </mc:Choice>
        <mc:Fallback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6C951BC8-4EE7-D6DB-8B80-030205CA3E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68553" y="2128037"/>
                <a:ext cx="293787" cy="2429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DF6574BF-6833-C3FA-7467-57390AE2E84C}"/>
                  </a:ext>
                </a:extLst>
              </p14:cNvPr>
              <p14:cNvContentPartPr/>
              <p14:nvPr/>
            </p14:nvContentPartPr>
            <p14:xfrm>
              <a:off x="9759862" y="1983287"/>
              <a:ext cx="207957" cy="31751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DF6574BF-6833-C3FA-7467-57390AE2E8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05987" y="1877450"/>
                <a:ext cx="315348" cy="243072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圖片 18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C4784D83-51E0-24E5-EEBF-5B746B89A1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086" y="3188624"/>
            <a:ext cx="5758405" cy="3163747"/>
          </a:xfrm>
          <a:prstGeom prst="rect">
            <a:avLst/>
          </a:prstGeom>
        </p:spPr>
      </p:pic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3C5C0A0-D8F6-4976-BFFA-1F3C783279E7}"/>
              </a:ext>
            </a:extLst>
          </p:cNvPr>
          <p:cNvCxnSpPr/>
          <p:nvPr/>
        </p:nvCxnSpPr>
        <p:spPr>
          <a:xfrm flipH="1">
            <a:off x="6043498" y="2305045"/>
            <a:ext cx="3539923" cy="16397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194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A14A19AE-6E99-A876-5809-01D36B33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63" y="0"/>
            <a:ext cx="4401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76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621D6-997D-97A4-5BF3-76C921EBF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9EFFE1-E91E-A3F8-F4F7-F09FEC47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活動頁面管理區塊</a:t>
            </a:r>
          </a:p>
        </p:txBody>
      </p:sp>
    </p:spTree>
    <p:extLst>
      <p:ext uri="{BB962C8B-B14F-4D97-AF65-F5344CB8AC3E}">
        <p14:creationId xmlns:p14="http://schemas.microsoft.com/office/powerpoint/2010/main" val="7853946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94AD-974F-3396-E0D2-BF52CAB7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DF93CC0-DA76-5545-BD3D-82107635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</a:t>
            </a:r>
            <a:r>
              <a:rPr lang="zh-TW" altLang="en-US" b="1">
                <a:solidFill>
                  <a:srgbClr val="FF6240"/>
                </a:solidFill>
                <a:latin typeface="+mn-ea"/>
              </a:rPr>
              <a:t>活動頁面管理</a:t>
            </a:r>
            <a:r>
              <a:rPr lang="en-US" altLang="zh-TW" b="1">
                <a:solidFill>
                  <a:srgbClr val="FF6240"/>
                </a:solidFill>
                <a:latin typeface="+mn-ea"/>
              </a:rPr>
              <a:t>(1)</a:t>
            </a:r>
            <a:r>
              <a:rPr lang="zh-TW" altLang="en-US" sz="1800" b="1">
                <a:solidFill>
                  <a:srgbClr val="FF6240"/>
                </a:solidFill>
                <a:latin typeface="+mn-ea"/>
              </a:rPr>
              <a:t>新增</a:t>
            </a:r>
            <a:r>
              <a:rPr lang="en-US" altLang="zh-TW" sz="1800" b="1">
                <a:solidFill>
                  <a:srgbClr val="FF6240"/>
                </a:solidFill>
                <a:latin typeface="+mn-ea"/>
              </a:rPr>
              <a:t>/</a:t>
            </a:r>
            <a:r>
              <a:rPr lang="zh-TW" altLang="en-US" sz="1800" b="1">
                <a:solidFill>
                  <a:srgbClr val="FF6240"/>
                </a:solidFill>
                <a:latin typeface="+mn-ea"/>
              </a:rPr>
              <a:t>列表</a:t>
            </a:r>
            <a:r>
              <a:rPr lang="en-US" altLang="zh-TW" sz="1800" b="1">
                <a:solidFill>
                  <a:srgbClr val="FF6240"/>
                </a:solidFill>
                <a:latin typeface="+mn-ea"/>
              </a:rPr>
              <a:t>/</a:t>
            </a:r>
            <a:r>
              <a:rPr lang="zh-TW" altLang="en-US" sz="1800" b="1">
                <a:solidFill>
                  <a:srgbClr val="FF6240"/>
                </a:solidFill>
                <a:latin typeface="+mn-ea"/>
              </a:rPr>
              <a:t>查詢</a:t>
            </a:r>
            <a:endParaRPr lang="zh-TW" altLang="en-US" sz="1800">
              <a:solidFill>
                <a:srgbClr val="FF624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692A55-D6B3-543F-327E-EFE4DC41B512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669F4B7-76B1-284E-B7C7-FB0466DA785D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A5AE524-FF62-7CC7-D410-2D20DFA5EF3E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8A61EA8-5655-DAE6-5F94-E6D047014A64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74F9CD9-2A55-4010-C977-CE93C01898CA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A313561-FFD3-D9F7-CB7D-2C951E37B7EF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portal_website_event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834BA5CA-E312-7DC6-92DC-2D0F98E9C698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DFDD7C4-18D8-4437-9969-572450417A5E}"/>
              </a:ext>
            </a:extLst>
          </p:cNvPr>
          <p:cNvSpPr/>
          <p:nvPr/>
        </p:nvSpPr>
        <p:spPr>
          <a:xfrm>
            <a:off x="6982289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退回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2F0EAB1-469C-6595-E0FA-30407189AFFC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5557BCA0-F813-1B53-1AEA-D542931FB86C}"/>
              </a:ext>
            </a:extLst>
          </p:cNvPr>
          <p:cNvGrpSpPr/>
          <p:nvPr/>
        </p:nvGrpSpPr>
        <p:grpSpPr>
          <a:xfrm>
            <a:off x="316872" y="2873376"/>
            <a:ext cx="6665417" cy="1111247"/>
            <a:chOff x="307818" y="2374833"/>
            <a:chExt cx="6665417" cy="1111247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8F28E5C-A3AD-7851-B969-5B2FF2B9B675}"/>
                </a:ext>
              </a:extLst>
            </p:cNvPr>
            <p:cNvSpPr/>
            <p:nvPr/>
          </p:nvSpPr>
          <p:spPr>
            <a:xfrm>
              <a:off x="307818" y="2374833"/>
              <a:ext cx="6606191" cy="1111247"/>
            </a:xfrm>
            <a:custGeom>
              <a:avLst/>
              <a:gdLst>
                <a:gd name="csX0" fmla="*/ 0 w 6606191"/>
                <a:gd name="csY0" fmla="*/ 0 h 1111247"/>
                <a:gd name="csX1" fmla="*/ 682640 w 6606191"/>
                <a:gd name="csY1" fmla="*/ 0 h 1111247"/>
                <a:gd name="csX2" fmla="*/ 1167094 w 6606191"/>
                <a:gd name="csY2" fmla="*/ 0 h 1111247"/>
                <a:gd name="csX3" fmla="*/ 1717610 w 6606191"/>
                <a:gd name="csY3" fmla="*/ 0 h 1111247"/>
                <a:gd name="csX4" fmla="*/ 2334187 w 6606191"/>
                <a:gd name="csY4" fmla="*/ 0 h 1111247"/>
                <a:gd name="csX5" fmla="*/ 2950765 w 6606191"/>
                <a:gd name="csY5" fmla="*/ 0 h 1111247"/>
                <a:gd name="csX6" fmla="*/ 3303096 w 6606191"/>
                <a:gd name="csY6" fmla="*/ 0 h 1111247"/>
                <a:gd name="csX7" fmla="*/ 3853611 w 6606191"/>
                <a:gd name="csY7" fmla="*/ 0 h 1111247"/>
                <a:gd name="csX8" fmla="*/ 4272004 w 6606191"/>
                <a:gd name="csY8" fmla="*/ 0 h 1111247"/>
                <a:gd name="csX9" fmla="*/ 4624334 w 6606191"/>
                <a:gd name="csY9" fmla="*/ 0 h 1111247"/>
                <a:gd name="csX10" fmla="*/ 5042726 w 6606191"/>
                <a:gd name="csY10" fmla="*/ 0 h 1111247"/>
                <a:gd name="csX11" fmla="*/ 5395056 w 6606191"/>
                <a:gd name="csY11" fmla="*/ 0 h 1111247"/>
                <a:gd name="csX12" fmla="*/ 5945572 w 6606191"/>
                <a:gd name="csY12" fmla="*/ 0 h 1111247"/>
                <a:gd name="csX13" fmla="*/ 6606191 w 6606191"/>
                <a:gd name="csY13" fmla="*/ 0 h 1111247"/>
                <a:gd name="csX14" fmla="*/ 6606191 w 6606191"/>
                <a:gd name="csY14" fmla="*/ 544511 h 1111247"/>
                <a:gd name="csX15" fmla="*/ 6606191 w 6606191"/>
                <a:gd name="csY15" fmla="*/ 1111247 h 1111247"/>
                <a:gd name="csX16" fmla="*/ 6253861 w 6606191"/>
                <a:gd name="csY16" fmla="*/ 1111247 h 1111247"/>
                <a:gd name="csX17" fmla="*/ 5571221 w 6606191"/>
                <a:gd name="csY17" fmla="*/ 1111247 h 1111247"/>
                <a:gd name="csX18" fmla="*/ 5086767 w 6606191"/>
                <a:gd name="csY18" fmla="*/ 1111247 h 1111247"/>
                <a:gd name="csX19" fmla="*/ 4734437 w 6606191"/>
                <a:gd name="csY19" fmla="*/ 1111247 h 1111247"/>
                <a:gd name="csX20" fmla="*/ 4117859 w 6606191"/>
                <a:gd name="csY20" fmla="*/ 1111247 h 1111247"/>
                <a:gd name="csX21" fmla="*/ 3765529 w 6606191"/>
                <a:gd name="csY21" fmla="*/ 1111247 h 1111247"/>
                <a:gd name="csX22" fmla="*/ 3281075 w 6606191"/>
                <a:gd name="csY22" fmla="*/ 1111247 h 1111247"/>
                <a:gd name="csX23" fmla="*/ 2928745 w 6606191"/>
                <a:gd name="csY23" fmla="*/ 1111247 h 1111247"/>
                <a:gd name="csX24" fmla="*/ 2378229 w 6606191"/>
                <a:gd name="csY24" fmla="*/ 1111247 h 1111247"/>
                <a:gd name="csX25" fmla="*/ 2025899 w 6606191"/>
                <a:gd name="csY25" fmla="*/ 1111247 h 1111247"/>
                <a:gd name="csX26" fmla="*/ 1343259 w 6606191"/>
                <a:gd name="csY26" fmla="*/ 1111247 h 1111247"/>
                <a:gd name="csX27" fmla="*/ 858805 w 6606191"/>
                <a:gd name="csY27" fmla="*/ 1111247 h 1111247"/>
                <a:gd name="csX28" fmla="*/ 0 w 6606191"/>
                <a:gd name="csY28" fmla="*/ 1111247 h 1111247"/>
                <a:gd name="csX29" fmla="*/ 0 w 6606191"/>
                <a:gd name="csY29" fmla="*/ 533399 h 1111247"/>
                <a:gd name="csX30" fmla="*/ 0 w 6606191"/>
                <a:gd name="csY30" fmla="*/ 0 h 11112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6606191" h="1111247" extrusionOk="0">
                  <a:moveTo>
                    <a:pt x="0" y="0"/>
                  </a:moveTo>
                  <a:cubicBezTo>
                    <a:pt x="296140" y="-53326"/>
                    <a:pt x="457624" y="65734"/>
                    <a:pt x="682640" y="0"/>
                  </a:cubicBezTo>
                  <a:cubicBezTo>
                    <a:pt x="907656" y="-65734"/>
                    <a:pt x="1004103" y="33279"/>
                    <a:pt x="1167094" y="0"/>
                  </a:cubicBezTo>
                  <a:cubicBezTo>
                    <a:pt x="1330085" y="-33279"/>
                    <a:pt x="1562459" y="19220"/>
                    <a:pt x="1717610" y="0"/>
                  </a:cubicBezTo>
                  <a:cubicBezTo>
                    <a:pt x="1872761" y="-19220"/>
                    <a:pt x="2073476" y="69814"/>
                    <a:pt x="2334187" y="0"/>
                  </a:cubicBezTo>
                  <a:cubicBezTo>
                    <a:pt x="2594898" y="-69814"/>
                    <a:pt x="2802192" y="60519"/>
                    <a:pt x="2950765" y="0"/>
                  </a:cubicBezTo>
                  <a:cubicBezTo>
                    <a:pt x="3099338" y="-60519"/>
                    <a:pt x="3137425" y="35282"/>
                    <a:pt x="3303096" y="0"/>
                  </a:cubicBezTo>
                  <a:cubicBezTo>
                    <a:pt x="3468767" y="-35282"/>
                    <a:pt x="3675182" y="22398"/>
                    <a:pt x="3853611" y="0"/>
                  </a:cubicBezTo>
                  <a:cubicBezTo>
                    <a:pt x="4032040" y="-22398"/>
                    <a:pt x="4066413" y="19198"/>
                    <a:pt x="4272004" y="0"/>
                  </a:cubicBezTo>
                  <a:cubicBezTo>
                    <a:pt x="4477595" y="-19198"/>
                    <a:pt x="4519610" y="13180"/>
                    <a:pt x="4624334" y="0"/>
                  </a:cubicBezTo>
                  <a:cubicBezTo>
                    <a:pt x="4729058" y="-13180"/>
                    <a:pt x="4888984" y="7100"/>
                    <a:pt x="5042726" y="0"/>
                  </a:cubicBezTo>
                  <a:cubicBezTo>
                    <a:pt x="5196468" y="-7100"/>
                    <a:pt x="5234867" y="2861"/>
                    <a:pt x="5395056" y="0"/>
                  </a:cubicBezTo>
                  <a:cubicBezTo>
                    <a:pt x="5555245" y="-2861"/>
                    <a:pt x="5725679" y="14915"/>
                    <a:pt x="5945572" y="0"/>
                  </a:cubicBezTo>
                  <a:cubicBezTo>
                    <a:pt x="6165465" y="-14915"/>
                    <a:pt x="6363756" y="21221"/>
                    <a:pt x="6606191" y="0"/>
                  </a:cubicBezTo>
                  <a:cubicBezTo>
                    <a:pt x="6643231" y="159695"/>
                    <a:pt x="6552391" y="385840"/>
                    <a:pt x="6606191" y="544511"/>
                  </a:cubicBezTo>
                  <a:cubicBezTo>
                    <a:pt x="6659991" y="703182"/>
                    <a:pt x="6595932" y="994024"/>
                    <a:pt x="6606191" y="1111247"/>
                  </a:cubicBezTo>
                  <a:cubicBezTo>
                    <a:pt x="6520214" y="1138210"/>
                    <a:pt x="6425623" y="1099160"/>
                    <a:pt x="6253861" y="1111247"/>
                  </a:cubicBezTo>
                  <a:cubicBezTo>
                    <a:pt x="6082099" y="1123334"/>
                    <a:pt x="5870586" y="1099016"/>
                    <a:pt x="5571221" y="1111247"/>
                  </a:cubicBezTo>
                  <a:cubicBezTo>
                    <a:pt x="5271856" y="1123478"/>
                    <a:pt x="5234101" y="1058345"/>
                    <a:pt x="5086767" y="1111247"/>
                  </a:cubicBezTo>
                  <a:cubicBezTo>
                    <a:pt x="4939433" y="1164149"/>
                    <a:pt x="4909572" y="1077737"/>
                    <a:pt x="4734437" y="1111247"/>
                  </a:cubicBezTo>
                  <a:cubicBezTo>
                    <a:pt x="4559302" y="1144757"/>
                    <a:pt x="4348420" y="1089765"/>
                    <a:pt x="4117859" y="1111247"/>
                  </a:cubicBezTo>
                  <a:cubicBezTo>
                    <a:pt x="3887298" y="1132729"/>
                    <a:pt x="3851992" y="1111116"/>
                    <a:pt x="3765529" y="1111247"/>
                  </a:cubicBezTo>
                  <a:cubicBezTo>
                    <a:pt x="3679066" y="1111378"/>
                    <a:pt x="3520390" y="1098459"/>
                    <a:pt x="3281075" y="1111247"/>
                  </a:cubicBezTo>
                  <a:cubicBezTo>
                    <a:pt x="3041760" y="1124035"/>
                    <a:pt x="3054551" y="1077785"/>
                    <a:pt x="2928745" y="1111247"/>
                  </a:cubicBezTo>
                  <a:cubicBezTo>
                    <a:pt x="2802939" y="1144709"/>
                    <a:pt x="2590948" y="1077551"/>
                    <a:pt x="2378229" y="1111247"/>
                  </a:cubicBezTo>
                  <a:cubicBezTo>
                    <a:pt x="2165510" y="1144943"/>
                    <a:pt x="2189362" y="1084297"/>
                    <a:pt x="2025899" y="1111247"/>
                  </a:cubicBezTo>
                  <a:cubicBezTo>
                    <a:pt x="1862436" y="1138197"/>
                    <a:pt x="1551711" y="1036672"/>
                    <a:pt x="1343259" y="1111247"/>
                  </a:cubicBezTo>
                  <a:cubicBezTo>
                    <a:pt x="1134807" y="1185822"/>
                    <a:pt x="1007854" y="1093072"/>
                    <a:pt x="858805" y="1111247"/>
                  </a:cubicBezTo>
                  <a:cubicBezTo>
                    <a:pt x="709756" y="1129422"/>
                    <a:pt x="226355" y="1057808"/>
                    <a:pt x="0" y="1111247"/>
                  </a:cubicBezTo>
                  <a:cubicBezTo>
                    <a:pt x="-61681" y="928327"/>
                    <a:pt x="44106" y="752744"/>
                    <a:pt x="0" y="533399"/>
                  </a:cubicBezTo>
                  <a:cubicBezTo>
                    <a:pt x="-44106" y="314054"/>
                    <a:pt x="47016" y="221997"/>
                    <a:pt x="0" y="0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380977325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0577FD3A-8FE8-BC7A-B08F-CB10F50410E9}"/>
                </a:ext>
              </a:extLst>
            </p:cNvPr>
            <p:cNvGrpSpPr/>
            <p:nvPr/>
          </p:nvGrpSpPr>
          <p:grpSpPr>
            <a:xfrm>
              <a:off x="521329" y="2625148"/>
              <a:ext cx="6451906" cy="828529"/>
              <a:chOff x="838200" y="2913162"/>
              <a:chExt cx="6451906" cy="828529"/>
            </a:xfrm>
          </p:grpSpPr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7588654-8BA3-86D1-5121-F9194ABE87D9}"/>
                  </a:ext>
                </a:extLst>
              </p:cNvPr>
              <p:cNvSpPr txBox="1"/>
              <p:nvPr/>
            </p:nvSpPr>
            <p:spPr>
              <a:xfrm>
                <a:off x="2464712" y="3218471"/>
                <a:ext cx="48253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>
                    <a:latin typeface="+mj-ea"/>
                    <a:ea typeface="+mj-ea"/>
                  </a:rPr>
                  <a:t>/upload/</a:t>
                </a:r>
                <a:r>
                  <a:rPr lang="zh-TW" altLang="en-US" sz="1400">
                    <a:latin typeface="+mj-ea"/>
                    <a:ea typeface="+mj-ea"/>
                  </a:rPr>
                  <a:t>event</a:t>
                </a:r>
                <a:r>
                  <a:rPr lang="en-US" altLang="zh-TW" sz="1400">
                    <a:latin typeface="+mj-ea"/>
                    <a:ea typeface="+mj-ea"/>
                  </a:rPr>
                  <a:t>/$</a:t>
                </a:r>
                <a:r>
                  <a:rPr lang="en-US" altLang="zh-TW" sz="1400" err="1">
                    <a:latin typeface="+mj-ea"/>
                    <a:ea typeface="+mj-ea"/>
                  </a:rPr>
                  <a:t>website_event_page_code</a:t>
                </a:r>
                <a:r>
                  <a:rPr lang="en-US" altLang="zh-TW" sz="1400">
                    <a:latin typeface="+mj-ea"/>
                    <a:ea typeface="+mj-ea"/>
                  </a:rPr>
                  <a:t>/…….(</a:t>
                </a:r>
                <a:r>
                  <a:rPr lang="zh-TW" altLang="en-US" sz="1400">
                    <a:latin typeface="+mj-ea"/>
                    <a:ea typeface="+mj-ea"/>
                  </a:rPr>
                  <a:t>活動頁面管理資料</a:t>
                </a:r>
                <a:r>
                  <a:rPr lang="en-US" altLang="zh-TW" sz="1400">
                    <a:latin typeface="+mj-ea"/>
                    <a:ea typeface="+mj-ea"/>
                  </a:rPr>
                  <a:t>)</a:t>
                </a:r>
              </a:p>
            </p:txBody>
          </p:sp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98D89390-6CE6-BB7D-1BDF-4B5C1AAF21E1}"/>
                  </a:ext>
                </a:extLst>
              </p:cNvPr>
              <p:cNvSpPr/>
              <p:nvPr/>
            </p:nvSpPr>
            <p:spPr>
              <a:xfrm>
                <a:off x="838200" y="2969804"/>
                <a:ext cx="1545031" cy="50227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/>
                  <a:t>DATA</a:t>
                </a:r>
                <a:r>
                  <a:rPr lang="zh-TW" altLang="en-US" sz="1200"/>
                  <a:t> 空間</a:t>
                </a:r>
                <a:r>
                  <a:rPr lang="en-US" altLang="zh-TW" sz="1200"/>
                  <a:t>A</a:t>
                </a:r>
                <a:br>
                  <a:rPr lang="en-US" altLang="zh-TW" sz="1200"/>
                </a:br>
                <a:r>
                  <a:rPr lang="en-US" altLang="zh-TW" sz="1200"/>
                  <a:t>NAS</a:t>
                </a:r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630B1CC-A3F0-ABC3-70E7-CF107E6F1766}"/>
                  </a:ext>
                </a:extLst>
              </p:cNvPr>
              <p:cNvSpPr txBox="1"/>
              <p:nvPr/>
            </p:nvSpPr>
            <p:spPr>
              <a:xfrm>
                <a:off x="2464712" y="2913162"/>
                <a:ext cx="363128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>
                    <a:latin typeface="+mj-ea"/>
                    <a:ea typeface="+mj-ea"/>
                  </a:rPr>
                  <a:t>/upload/</a:t>
                </a:r>
                <a:r>
                  <a:rPr lang="zh-TW" altLang="en-US" sz="1400">
                    <a:latin typeface="+mj-ea"/>
                    <a:ea typeface="+mj-ea"/>
                  </a:rPr>
                  <a:t>event</a:t>
                </a:r>
                <a:r>
                  <a:rPr lang="en-US" altLang="zh-TW" sz="1400">
                    <a:latin typeface="+mj-ea"/>
                    <a:ea typeface="+mj-ea"/>
                  </a:rPr>
                  <a:t>/…..(</a:t>
                </a:r>
                <a:r>
                  <a:rPr lang="zh-TW" altLang="en-US" sz="1400">
                    <a:latin typeface="+mj-ea"/>
                    <a:ea typeface="+mj-ea"/>
                  </a:rPr>
                  <a:t>元件頁面管理資料</a:t>
                </a:r>
                <a:r>
                  <a:rPr lang="en-US" altLang="zh-TW" sz="1400">
                    <a:latin typeface="+mj-ea"/>
                    <a:ea typeface="+mj-ea"/>
                  </a:rPr>
                  <a:t>)</a:t>
                </a:r>
                <a:r>
                  <a:rPr lang="zh-TW" altLang="en-US" sz="1400">
                    <a:latin typeface="+mj-ea"/>
                    <a:ea typeface="+mj-ea"/>
                  </a:rPr>
                  <a:t> </a:t>
                </a:r>
              </a:p>
            </p:txBody>
          </p:sp>
        </p:grp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7DEC925-F803-C280-E05A-B67B6F2D996C}"/>
              </a:ext>
            </a:extLst>
          </p:cNvPr>
          <p:cNvSpPr txBox="1"/>
          <p:nvPr/>
        </p:nvSpPr>
        <p:spPr>
          <a:xfrm>
            <a:off x="6923063" y="2683859"/>
            <a:ext cx="61518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>
                <a:solidFill>
                  <a:srgbClr val="0563C1"/>
                </a:solidFill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https://xxxxx.xxom</a:t>
            </a:r>
            <a:r>
              <a:rPr lang="en-US" altLang="zh-TW" sz="1400"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/event</a:t>
            </a:r>
            <a:r>
              <a:rPr lang="en-US" altLang="zh-TW" sz="1400">
                <a:solidFill>
                  <a:srgbClr val="0563C1"/>
                </a:solidFill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/20255111</a:t>
            </a:r>
            <a:r>
              <a:rPr lang="en-US" altLang="zh-TW" sz="1400"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TW" sz="1400">
                <a:latin typeface="+mj-ea"/>
                <a:ea typeface="+mj-ea"/>
              </a:rPr>
              <a:t>1.html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+mj-ea"/>
                <a:ea typeface="+mj-ea"/>
              </a:rPr>
              <a:t>有時間控制</a:t>
            </a:r>
            <a:endParaRPr lang="en-US" altLang="zh-TW" sz="140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+mj-ea"/>
                <a:ea typeface="+mj-ea"/>
              </a:rPr>
              <a:t>有時間到強轉，有直接強轉功能</a:t>
            </a:r>
            <a:endParaRPr lang="en-US" altLang="zh-TW" sz="1400">
              <a:latin typeface="+mj-ea"/>
              <a:ea typeface="+mj-ea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0159654-E7C3-1349-A19D-47C5BF66C65E}"/>
              </a:ext>
            </a:extLst>
          </p:cNvPr>
          <p:cNvSpPr/>
          <p:nvPr/>
        </p:nvSpPr>
        <p:spPr>
          <a:xfrm>
            <a:off x="3893340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內容上稿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666C86F-70B0-C9FC-9B6D-36418F61918F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8E8B04A-9A6A-7435-EEFF-429FB077F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489852"/>
              </p:ext>
            </p:extLst>
          </p:nvPr>
        </p:nvGraphicFramePr>
        <p:xfrm>
          <a:off x="304916" y="4434794"/>
          <a:ext cx="7101841" cy="1089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841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新增後需要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 status =0 where (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 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)</a:t>
                      </a:r>
                    </a:p>
                    <a:p>
                      <a:pPr marL="742950" marR="0" lvl="1" indent="-28575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新增一筆資料到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歷程資料表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insert into [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zh-TW" altLang="en-US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website_id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=‘event’, 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website_page_version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=0, 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website_page_code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….)</a:t>
                      </a:r>
                      <a:endParaRPr lang="en-US" altLang="zh-TW" sz="1100" b="1" i="0" u="none" strike="noStrike" kern="1200" noProof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E19AD60B-0326-EF27-C0E2-1FA9E602ED7D}"/>
              </a:ext>
            </a:extLst>
          </p:cNvPr>
          <p:cNvSpPr txBox="1"/>
          <p:nvPr/>
        </p:nvSpPr>
        <p:spPr>
          <a:xfrm>
            <a:off x="304916" y="2436658"/>
            <a:ext cx="4602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FF0000"/>
                </a:solidFill>
                <a:latin typeface="+mj-ea"/>
                <a:ea typeface="+mj-ea"/>
              </a:rPr>
              <a:t>路由功能規劃說明 </a:t>
            </a:r>
            <a:r>
              <a:rPr lang="en-US" altLang="zh-TW" sz="1400">
                <a:solidFill>
                  <a:srgbClr val="FF0000"/>
                </a:solidFill>
                <a:latin typeface="+mj-ea"/>
                <a:ea typeface="+mj-ea"/>
              </a:rPr>
              <a:t>:</a:t>
            </a:r>
            <a:r>
              <a:rPr lang="zh-TW" altLang="en-US" sz="140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zh-TW" sz="1400">
                <a:solidFill>
                  <a:srgbClr val="FF0000"/>
                </a:solidFill>
                <a:latin typeface="+mj-ea"/>
                <a:ea typeface="+mj-ea"/>
              </a:rPr>
              <a:t>Brian ####</a:t>
            </a:r>
          </a:p>
        </p:txBody>
      </p:sp>
    </p:spTree>
    <p:extLst>
      <p:ext uri="{BB962C8B-B14F-4D97-AF65-F5344CB8AC3E}">
        <p14:creationId xmlns:p14="http://schemas.microsoft.com/office/powerpoint/2010/main" val="134231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DA00E-E32C-1AB1-7BB0-B3A32A613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5B8D4AB-9075-1AB8-9863-9DF9D39E1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735013"/>
          </a:xfrm>
        </p:spPr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solidFill>
                  <a:srgbClr val="FF6240"/>
                </a:solidFill>
                <a:latin typeface="+mn-ea"/>
              </a:rPr>
              <a:t>活動頁面管理</a:t>
            </a:r>
            <a:r>
              <a:rPr lang="en-US" altLang="zh-TW">
                <a:solidFill>
                  <a:srgbClr val="FF6240"/>
                </a:solidFill>
                <a:latin typeface="+mn-ea"/>
              </a:rPr>
              <a:t>(2)</a:t>
            </a:r>
            <a:r>
              <a:rPr lang="zh-TW" altLang="en-US">
                <a:solidFill>
                  <a:srgbClr val="FF6240"/>
                </a:solidFill>
                <a:latin typeface="+mn-ea"/>
              </a:rPr>
              <a:t> </a:t>
            </a:r>
            <a:r>
              <a:rPr lang="zh-TW" altLang="en-US" sz="1800">
                <a:solidFill>
                  <a:srgbClr val="FF6240"/>
                </a:solidFill>
                <a:latin typeface="+mn-ea"/>
              </a:rPr>
              <a:t>內容修改頁面</a:t>
            </a:r>
            <a:r>
              <a:rPr lang="en-US" altLang="zh-TW" sz="1800">
                <a:latin typeface="+mn-ea"/>
              </a:rPr>
              <a:t>(</a:t>
            </a:r>
            <a:r>
              <a:rPr lang="en-US" altLang="zh-TW" sz="1800" b="1" err="1">
                <a:latin typeface="+mj-ea"/>
                <a:ea typeface="+mj-ea"/>
              </a:rPr>
              <a:t>portal_website_event</a:t>
            </a:r>
            <a:r>
              <a:rPr lang="en-US" altLang="zh-TW" sz="1800" b="1">
                <a:latin typeface="+mj-ea"/>
                <a:ea typeface="+mj-ea"/>
              </a:rPr>
              <a:t>)</a:t>
            </a:r>
            <a:br>
              <a:rPr lang="zh-TW" altLang="en-US" sz="1800" b="1">
                <a:latin typeface="+mj-ea"/>
                <a:ea typeface="+mj-ea"/>
              </a:rPr>
            </a:br>
            <a:r>
              <a:rPr lang="en-US" altLang="zh-TW" sz="1800">
                <a:latin typeface="+mn-ea"/>
              </a:rPr>
              <a:t>)</a:t>
            </a:r>
            <a:endParaRPr lang="zh-TW" altLang="en-US" sz="1800">
              <a:latin typeface="+mn-ea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99E396-9D80-7B34-7F77-B187D7C7A9CC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FC07569-0563-6575-1B5C-0B65F636CB28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00181BF-7FFE-2151-7519-0AD3959BC5A7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B16FB02-629F-A83D-688A-3B670994167C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574500"/>
          <a:ext cx="10515599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再檢核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login.empy_page_role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==9 (admin)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都須檢核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page_dept_id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in ( $login.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負責單位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1FFE56F-BCC7-917E-CCB0-BCAF907D0710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portal_website_event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D77DD7-1894-6447-83CB-9C2B1054524C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F0D05DE-9A69-79DC-1849-6B0FB4CAA9A5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在內容修改才有可能出現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75138F89-D7B3-D8A7-2A57-C718B3FB8FC1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8472C3E-42D3-874C-49E4-8A14994FD686}"/>
              </a:ext>
            </a:extLst>
          </p:cNvPr>
          <p:cNvSpPr/>
          <p:nvPr/>
        </p:nvSpPr>
        <p:spPr>
          <a:xfrm>
            <a:off x="3893340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內容上稿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4BDC29FC-E96A-626A-9373-3F8497120F6F}"/>
              </a:ext>
            </a:extLst>
          </p:cNvPr>
          <p:cNvSpPr/>
          <p:nvPr/>
        </p:nvSpPr>
        <p:spPr>
          <a:xfrm>
            <a:off x="6982289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退回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28B8DFDA-FF2A-81EB-4B09-021CA071C6B9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AE8C1F86-EE87-CD46-A086-DD6C77176EE8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9C4086-C65D-67CB-994A-98131A67053F}"/>
              </a:ext>
            </a:extLst>
          </p:cNvPr>
          <p:cNvSpPr txBox="1"/>
          <p:nvPr/>
        </p:nvSpPr>
        <p:spPr>
          <a:xfrm>
            <a:off x="838199" y="3130013"/>
            <a:ext cx="2887980" cy="1997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lvl="0" indent="-285750" algn="l" defTabSz="9144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功能按鈕是否顯示</a:t>
            </a:r>
            <a:endParaRPr lang="en-US" altLang="zh-TW" sz="1200" b="1" kern="1200">
              <a:solidFill>
                <a:schemeClr val="accent5">
                  <a:lumMod val="50000"/>
                </a:schemeClr>
              </a:solidFill>
              <a:latin typeface="+mj-ea"/>
              <a:ea typeface="+mj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</a:rPr>
              <a:t>內容上稿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in ( 0 ,1 )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送審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( 0,1 )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退回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(3)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通過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(3)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預覽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all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200" b="1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</a:rPr>
              <a:t>強制失效 </a:t>
            </a:r>
            <a:r>
              <a:rPr lang="en-US" altLang="zh-TW" sz="1200" b="1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</a:rPr>
              <a:t>: </a:t>
            </a:r>
            <a:r>
              <a:rPr lang="en-US" altLang="zh-TW" sz="12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(4,5)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2006AC5-BA87-A6F6-004E-32FFC4F5CC30}"/>
              </a:ext>
            </a:extLst>
          </p:cNvPr>
          <p:cNvSpPr txBox="1"/>
          <p:nvPr/>
        </p:nvSpPr>
        <p:spPr>
          <a:xfrm>
            <a:off x="6144242" y="3246327"/>
            <a:ext cx="46075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latin typeface="+mj-ea"/>
                <a:ea typeface="+mj-ea"/>
              </a:rPr>
              <a:t>狀態控制</a:t>
            </a:r>
            <a:endParaRPr lang="en-US" altLang="zh-TW" sz="1400">
              <a:latin typeface="+mj-ea"/>
              <a:ea typeface="+mj-ea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TW" altLang="en-US" sz="1400">
                <a:latin typeface="+mj-ea"/>
                <a:ea typeface="+mj-ea"/>
              </a:rPr>
              <a:t>0:新建</a:t>
            </a:r>
            <a:r>
              <a:rPr lang="en-US" altLang="zh-TW" sz="1400">
                <a:latin typeface="+mj-ea"/>
                <a:ea typeface="+mj-ea"/>
              </a:rPr>
              <a:t>(</a:t>
            </a:r>
            <a:r>
              <a:rPr lang="zh-TW" altLang="en-US" sz="1400">
                <a:latin typeface="+mj-ea"/>
                <a:ea typeface="+mj-ea"/>
              </a:rPr>
              <a:t>預設</a:t>
            </a:r>
            <a:r>
              <a:rPr lang="en-US" altLang="zh-TW" sz="1400">
                <a:latin typeface="+mj-ea"/>
                <a:ea typeface="+mj-ea"/>
              </a:rPr>
              <a:t>)</a:t>
            </a:r>
            <a:endParaRPr lang="zh-TW" altLang="en-US" sz="1400">
              <a:latin typeface="+mj-ea"/>
              <a:ea typeface="+mj-ea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TW" altLang="en-US" sz="1400">
                <a:latin typeface="+mj-ea"/>
                <a:ea typeface="+mj-ea"/>
              </a:rPr>
              <a:t>1:退回重編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TW" altLang="en-US" sz="1400">
                <a:latin typeface="+mj-ea"/>
                <a:ea typeface="+mj-ea"/>
              </a:rPr>
              <a:t>3:送審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TW" altLang="en-US" sz="1400">
                <a:latin typeface="+mj-ea"/>
                <a:ea typeface="+mj-ea"/>
              </a:rPr>
              <a:t>4:審核通過 ( job by 分鐘 去比對啟用時間 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TW" altLang="en-US" sz="1400">
                <a:latin typeface="+mj-ea"/>
                <a:ea typeface="+mj-ea"/>
              </a:rPr>
              <a:t>5:上架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TW" sz="1400">
                <a:latin typeface="+mj-ea"/>
                <a:ea typeface="+mj-ea"/>
              </a:rPr>
              <a:t>8:</a:t>
            </a:r>
            <a:r>
              <a:rPr lang="zh-TW" altLang="en-US" sz="1400">
                <a:latin typeface="+mj-ea"/>
                <a:ea typeface="+mj-ea"/>
              </a:rPr>
              <a:t>強制關閉 </a:t>
            </a:r>
            <a:r>
              <a:rPr lang="en-US" altLang="zh-TW" sz="1400">
                <a:latin typeface="+mj-ea"/>
                <a:ea typeface="+mj-ea"/>
              </a:rPr>
              <a:t>5-&gt;8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TW" sz="1400">
                <a:latin typeface="+mj-ea"/>
                <a:ea typeface="+mj-ea"/>
              </a:rPr>
              <a:t>9:</a:t>
            </a:r>
            <a:r>
              <a:rPr lang="zh-TW" altLang="en-US" sz="1400">
                <a:latin typeface="+mj-ea"/>
                <a:ea typeface="+mj-ea"/>
              </a:rPr>
              <a:t>時間到自動從</a:t>
            </a:r>
            <a:r>
              <a:rPr lang="en-US" altLang="zh-TW" sz="1400">
                <a:latin typeface="+mj-ea"/>
                <a:ea typeface="+mj-ea"/>
              </a:rPr>
              <a:t>5</a:t>
            </a:r>
            <a:r>
              <a:rPr lang="zh-TW" altLang="en-US" sz="1400">
                <a:latin typeface="+mj-ea"/>
                <a:ea typeface="+mj-ea"/>
              </a:rPr>
              <a:t>變</a:t>
            </a:r>
            <a:r>
              <a:rPr lang="en-US" altLang="zh-TW" sz="1400">
                <a:latin typeface="+mj-ea"/>
                <a:ea typeface="+mj-ea"/>
              </a:rPr>
              <a:t>9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8628887-5476-364D-06BE-C3FC757B3DA4}"/>
              </a:ext>
            </a:extLst>
          </p:cNvPr>
          <p:cNvSpPr/>
          <p:nvPr/>
        </p:nvSpPr>
        <p:spPr>
          <a:xfrm>
            <a:off x="9775087" y="1341565"/>
            <a:ext cx="132222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強制失效</a:t>
            </a:r>
          </a:p>
        </p:txBody>
      </p:sp>
    </p:spTree>
    <p:extLst>
      <p:ext uri="{BB962C8B-B14F-4D97-AF65-F5344CB8AC3E}">
        <p14:creationId xmlns:p14="http://schemas.microsoft.com/office/powerpoint/2010/main" val="429348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FC56-FD55-7467-42F6-794CB1C8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613B80F-31A9-205C-75A5-6836F7AE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solidFill>
                  <a:srgbClr val="FF6240"/>
                </a:solidFill>
                <a:latin typeface="+mn-ea"/>
              </a:rPr>
              <a:t>活動頁面管理</a:t>
            </a:r>
            <a:r>
              <a:rPr lang="en-US" altLang="zh-TW">
                <a:solidFill>
                  <a:srgbClr val="FF6240"/>
                </a:solidFill>
                <a:latin typeface="+mn-ea"/>
              </a:rPr>
              <a:t>(3)</a:t>
            </a:r>
            <a:r>
              <a:rPr lang="zh-TW" altLang="en-US">
                <a:solidFill>
                  <a:srgbClr val="FF6240"/>
                </a:solidFill>
                <a:latin typeface="+mn-ea"/>
              </a:rPr>
              <a:t> </a:t>
            </a:r>
            <a:r>
              <a:rPr lang="zh-TW" altLang="en-US" sz="1800">
                <a:solidFill>
                  <a:srgbClr val="FF6240"/>
                </a:solidFill>
                <a:latin typeface="+mn-ea"/>
              </a:rPr>
              <a:t>內容上稿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8075E7C-D9BE-967D-922D-4E7920682525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E5A0D84-2C4A-E3D4-8F09-D6410E3F8DE7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02DC585-DA2B-2BBF-3996-5ABB31BE7AD0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C1DB05E-3180-4649-5116-76D880422BB8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portal_website_event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DA5CED-9956-AF55-25FF-B77D7F351E27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759C2F2-04E1-083F-329A-5CFBD10895E4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在內容修改才有可能出現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C88677E-C37F-21D9-806A-F90BE217A282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74C54C4-DC98-1ACD-DCB0-08C12559F69E}"/>
              </a:ext>
            </a:extLst>
          </p:cNvPr>
          <p:cNvSpPr/>
          <p:nvPr/>
        </p:nvSpPr>
        <p:spPr>
          <a:xfrm>
            <a:off x="3893340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內容上稿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796E7AD2-9818-D852-3487-C29BFD01539A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42B1E08-0E35-1A57-A6FA-6288BA7B2E0F}"/>
              </a:ext>
            </a:extLst>
          </p:cNvPr>
          <p:cNvSpPr txBox="1"/>
          <p:nvPr/>
        </p:nvSpPr>
        <p:spPr>
          <a:xfrm>
            <a:off x="7550558" y="2265943"/>
            <a:ext cx="3718248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內容上稿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(0</a:t>
            </a: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，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1)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831B4A0-98BE-740A-B9F1-A3A03A31C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416809"/>
              </p:ext>
            </p:extLst>
          </p:nvPr>
        </p:nvGraphicFramePr>
        <p:xfrm>
          <a:off x="875999" y="2835089"/>
          <a:ext cx="10250710" cy="880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071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內容上搞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提供上架資料夾功能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內容將放在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/upload/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event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/$</a:t>
                      </a:r>
                      <a:r>
                        <a:rPr lang="en-US" altLang="zh-TW" sz="12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/…….(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活動頁面管理資料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51A9316-ACEB-CBA3-E414-A453A747A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708671"/>
              </p:ext>
            </p:extLst>
          </p:nvPr>
        </p:nvGraphicFramePr>
        <p:xfrm>
          <a:off x="956241" y="4000894"/>
          <a:ext cx="7101841" cy="1089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841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送審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 status =3 where (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 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)</a:t>
                      </a: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742950" marR="0" lvl="1" indent="-28575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新增一筆資料到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歷程資料表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insert into [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zh-TW" altLang="en-US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website_id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=‘event’, 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website_page_version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=0, 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website_page_code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….)</a:t>
                      </a:r>
                      <a:endParaRPr lang="en-US" altLang="zh-TW" sz="1100" b="1" i="0" u="none" strike="noStrike" kern="1200" noProof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03885DC-BC6A-10AD-332F-197512B00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21168"/>
              </p:ext>
            </p:extLst>
          </p:nvPr>
        </p:nvGraphicFramePr>
        <p:xfrm>
          <a:off x="956241" y="5284764"/>
          <a:ext cx="7101841" cy="332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841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顯示上傳資料夾中的樹狀結構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32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954C-CEC8-33E7-AB17-B989CB66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8DD928E-784B-0C86-17CA-F998AE89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solidFill>
                  <a:srgbClr val="FF6240"/>
                </a:solidFill>
                <a:latin typeface="+mn-ea"/>
              </a:rPr>
              <a:t>活動頁面管理</a:t>
            </a:r>
            <a:r>
              <a:rPr lang="en-US" altLang="zh-TW">
                <a:solidFill>
                  <a:srgbClr val="FF6240"/>
                </a:solidFill>
                <a:latin typeface="+mn-ea"/>
              </a:rPr>
              <a:t>(4)</a:t>
            </a:r>
            <a:r>
              <a:rPr lang="zh-TW" altLang="en-US">
                <a:solidFill>
                  <a:srgbClr val="FF6240"/>
                </a:solidFill>
                <a:latin typeface="+mn-ea"/>
              </a:rPr>
              <a:t> </a:t>
            </a:r>
            <a:r>
              <a:rPr lang="zh-TW" altLang="en-US" sz="1800">
                <a:solidFill>
                  <a:srgbClr val="FF6240"/>
                </a:solidFill>
                <a:latin typeface="+mn-ea"/>
              </a:rPr>
              <a:t>送審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40EDAF-32EF-398F-F2DE-3FD5BAD013AE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9DE6844-F800-7740-260A-DC161D4F5BA2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0A44CFA-FF5A-17B1-F882-FDA4E6C16AD7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8B88C5C-845B-B234-38DB-E8C1D194E54D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9ED5863-5BA2-2169-6BEA-BEF2E1149D2B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6FA283AA-6976-65AF-597C-B22823538427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ABC56FB-FB7A-0505-0A12-73E81DCA3A65}"/>
              </a:ext>
            </a:extLst>
          </p:cNvPr>
          <p:cNvSpPr txBox="1"/>
          <p:nvPr/>
        </p:nvSpPr>
        <p:spPr>
          <a:xfrm>
            <a:off x="8236094" y="2313720"/>
            <a:ext cx="3461324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送審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:</a:t>
            </a:r>
            <a:r>
              <a:rPr lang="zh-TW" altLang="en-US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( 3 )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B61B458-668F-5FB8-B393-880162EB7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133843"/>
              </p:ext>
            </p:extLst>
          </p:nvPr>
        </p:nvGraphicFramePr>
        <p:xfrm>
          <a:off x="494582" y="2770640"/>
          <a:ext cx="7101841" cy="1089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841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退回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 status =1 where (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 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)</a:t>
                      </a: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742950" marR="0" lvl="1" indent="-28575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新增一筆資料到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歷程資料表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insert into [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zh-TW" altLang="en-US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website_id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=‘event’, 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website_page_version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=0, 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website_page_code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….)</a:t>
                      </a:r>
                      <a:endParaRPr lang="en-US" altLang="zh-TW" sz="1100" b="1" i="0" u="none" strike="noStrike" kern="1200" noProof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46DF5F5B-83D8-31AA-0C5C-83A09984686A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portal_website_event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D4091A8-00EB-DAC3-0926-56F988999A98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89FEBC4-B538-E711-4A40-C2C4BA3E1052}"/>
              </a:ext>
            </a:extLst>
          </p:cNvPr>
          <p:cNvSpPr/>
          <p:nvPr/>
        </p:nvSpPr>
        <p:spPr>
          <a:xfrm>
            <a:off x="6982289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退回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88C7488-9990-C067-D14E-ACA0602B367A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A0C4414-8DE7-EDDA-7336-227635746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23055"/>
              </p:ext>
            </p:extLst>
          </p:nvPr>
        </p:nvGraphicFramePr>
        <p:xfrm>
          <a:off x="619821" y="4264232"/>
          <a:ext cx="7101841" cy="1089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841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通過 </a:t>
                      </a:r>
                      <a:r>
                        <a:rPr lang="en-US" altLang="zh-TW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zh-TW" sz="12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set  status =4 where ( 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= 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)</a:t>
                      </a:r>
                      <a:endParaRPr lang="en-US" altLang="zh-TW" sz="11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742950" marR="0" lvl="1" indent="-28575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新增一筆資料到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歷程資料表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insert into [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zh-TW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zh-TW" altLang="en-US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website_id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=‘event’, 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website_page_version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=0, </a:t>
                      </a:r>
                      <a:r>
                        <a:rPr lang="en-US" altLang="zh-TW" sz="11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website_page_code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=$</a:t>
                      </a:r>
                      <a:r>
                        <a:rPr lang="en-US" altLang="zh-TW" sz="11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website_event_page_code</a:t>
                      </a:r>
                      <a:r>
                        <a:rPr lang="en-US" altLang="zh-TW" sz="11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….)</a:t>
                      </a:r>
                      <a:endParaRPr lang="en-US" altLang="zh-TW" sz="1100" b="1" i="0" u="none" strike="noStrike" kern="1200" noProof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99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39FC2-2DEB-139E-C6A2-1C7A3D7E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5E97292-FE29-6107-9508-04E8F4DA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 b="1">
                <a:latin typeface="+mn-ea"/>
              </a:rPr>
              <a:t>網頁管理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solidFill>
                  <a:srgbClr val="FF6240"/>
                </a:solidFill>
                <a:latin typeface="+mn-ea"/>
              </a:rPr>
              <a:t>活動頁面管理</a:t>
            </a:r>
            <a:r>
              <a:rPr lang="en-US" altLang="zh-TW">
                <a:solidFill>
                  <a:srgbClr val="FF6240"/>
                </a:solidFill>
                <a:latin typeface="+mn-ea"/>
              </a:rPr>
              <a:t>(6)</a:t>
            </a:r>
            <a:r>
              <a:rPr lang="zh-TW" altLang="en-US">
                <a:solidFill>
                  <a:srgbClr val="FF6240"/>
                </a:solidFill>
                <a:latin typeface="+mn-ea"/>
              </a:rPr>
              <a:t> </a:t>
            </a:r>
            <a:r>
              <a:rPr lang="zh-TW" altLang="en-US" sz="1800" b="1">
                <a:latin typeface="+mn-ea"/>
              </a:rPr>
              <a:t>預覽</a:t>
            </a:r>
            <a:endParaRPr lang="zh-TW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F2ABCE-137F-54FD-0A45-CF35CEA389BF}"/>
              </a:ext>
            </a:extLst>
          </p:cNvPr>
          <p:cNvSpPr/>
          <p:nvPr/>
        </p:nvSpPr>
        <p:spPr>
          <a:xfrm>
            <a:off x="3855837" y="1155120"/>
            <a:ext cx="7436140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A2126CD-14B9-6110-4D5B-0A67816DD792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F539A50-F3D6-2CCE-507D-B5A08C9C1DD8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EF5F14C-8CED-C63C-AB84-FB5E5F10CC85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1522CE1-AE07-E92D-3A1E-2744FD4717B6}"/>
              </a:ext>
            </a:extLst>
          </p:cNvPr>
          <p:cNvSpPr txBox="1"/>
          <p:nvPr/>
        </p:nvSpPr>
        <p:spPr>
          <a:xfrm>
            <a:off x="3855837" y="1890134"/>
            <a:ext cx="7436140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元件規劃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C13B652-36B1-0AEB-2D9E-AE8E5419C471}"/>
              </a:ext>
            </a:extLst>
          </p:cNvPr>
          <p:cNvSpPr txBox="1"/>
          <p:nvPr/>
        </p:nvSpPr>
        <p:spPr>
          <a:xfrm>
            <a:off x="8448543" y="2265943"/>
            <a:ext cx="2790645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TW" sz="1800" b="1" kern="120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status in (all)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C0109F4-D79F-68E4-1A2D-68EC5E020C2C}"/>
              </a:ext>
            </a:extLst>
          </p:cNvPr>
          <p:cNvSpPr/>
          <p:nvPr/>
        </p:nvSpPr>
        <p:spPr>
          <a:xfrm>
            <a:off x="8828416" y="1343021"/>
            <a:ext cx="871424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預覽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843AA496-148B-D1BA-A672-E5E28BDB5D73}"/>
              </a:ext>
            </a:extLst>
          </p:cNvPr>
          <p:cNvSpPr/>
          <p:nvPr/>
        </p:nvSpPr>
        <p:spPr>
          <a:xfrm>
            <a:off x="6982289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退回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FAD44912-6714-52EA-0F53-E28E8B0A67CC}"/>
              </a:ext>
            </a:extLst>
          </p:cNvPr>
          <p:cNvSpPr/>
          <p:nvPr/>
        </p:nvSpPr>
        <p:spPr>
          <a:xfrm>
            <a:off x="7902982" y="1343025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通過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E150A3E9-B3D1-8580-0AB6-002011CC9010}"/>
              </a:ext>
            </a:extLst>
          </p:cNvPr>
          <p:cNvSpPr/>
          <p:nvPr/>
        </p:nvSpPr>
        <p:spPr>
          <a:xfrm>
            <a:off x="6051639" y="1333927"/>
            <a:ext cx="871424" cy="49529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送審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964CF94-E2C0-3788-DDED-DB6115DFA300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portal_website_event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7D0DF02-FC10-4A04-CA20-8AD1E173973B}"/>
              </a:ext>
            </a:extLst>
          </p:cNvPr>
          <p:cNvSpPr/>
          <p:nvPr/>
        </p:nvSpPr>
        <p:spPr>
          <a:xfrm>
            <a:off x="3893340" y="1341565"/>
            <a:ext cx="1227649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內容上稿</a:t>
            </a:r>
          </a:p>
        </p:txBody>
      </p:sp>
    </p:spTree>
    <p:extLst>
      <p:ext uri="{BB962C8B-B14F-4D97-AF65-F5344CB8AC3E}">
        <p14:creationId xmlns:p14="http://schemas.microsoft.com/office/powerpoint/2010/main" val="14159049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6C31-AF09-B383-C940-C4FE86C7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FBA40-7571-8601-A1E5-2EAA8EBD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共用管理機制 </a:t>
            </a:r>
            <a:r>
              <a:rPr lang="en-US" altLang="zh-TW"/>
              <a:t>&gt;</a:t>
            </a:r>
            <a:r>
              <a:rPr lang="zh-TW" altLang="en-US"/>
              <a:t>文件資料管理</a:t>
            </a:r>
          </a:p>
        </p:txBody>
      </p:sp>
    </p:spTree>
    <p:extLst>
      <p:ext uri="{BB962C8B-B14F-4D97-AF65-F5344CB8AC3E}">
        <p14:creationId xmlns:p14="http://schemas.microsoft.com/office/powerpoint/2010/main" val="21160030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FA691-1A4D-18A2-3581-2EC67A2B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4411075-A0E4-3904-D993-F23A1651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文件類型管理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82DE3C-CD38-3B67-364D-0DF43717D584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EBAC14F-8D3D-CB41-7B45-B0E5A7C324A3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113087A-02A4-DEFC-02D9-9E0604670F1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EACBC08-DD25-0604-313C-2AC44A94C5B2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2338A4F-3C7A-7276-E18A-3B3B4E54D2BE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B97B60B-9F34-4136-969A-EFFE0BA558B0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F8C6578-0387-810F-5860-55F6D0E1D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735818"/>
              </p:ext>
            </p:extLst>
          </p:nvPr>
        </p:nvGraphicFramePr>
        <p:xfrm>
          <a:off x="838199" y="2574500"/>
          <a:ext cx="10515599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87C5FA66-26D1-4A87-A9B9-2B7880F143EA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portal_upload_file_type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9973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BF01-B2A0-94C7-D8E9-CD8A78C7D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1A18C45-3233-F647-4B15-909720E1B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latin typeface="+mn-ea"/>
              </a:rPr>
              <a:t> 文件資料管理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4D508B-AC6B-CD24-A8A5-8FF07D45E064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40780D8-1B98-C814-4969-66CF667E1CAC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ADFCAF8-AC7F-2BFE-3010-90D8E32A70F5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EF30016-D42F-CC52-CE26-4B3D979A55AC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FA259A0-2799-5B15-ABD7-9DEC4DE5FEEB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3362746-166C-167D-CF9A-CEDE6E6260BB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18C44E1-E637-A9C6-6D3A-C06AFFCB65D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>
                <a:latin typeface="+mj-ea"/>
                <a:ea typeface="+mj-ea"/>
              </a:rPr>
              <a:t> </a:t>
            </a:r>
            <a:r>
              <a:rPr lang="en-US" altLang="zh-TW" sz="1600" b="1" err="1">
                <a:latin typeface="+mj-ea"/>
                <a:ea typeface="+mj-ea"/>
              </a:rPr>
              <a:t>portal_upload_file</a:t>
            </a:r>
            <a:endParaRPr lang="zh-TW" altLang="en-US" sz="1600" b="1">
              <a:latin typeface="+mj-ea"/>
              <a:ea typeface="+mj-ea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AE7A8CD-0B07-82F6-91D2-4C1BB60B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654486"/>
              </p:ext>
            </p:extLst>
          </p:nvPr>
        </p:nvGraphicFramePr>
        <p:xfrm>
          <a:off x="838201" y="2317753"/>
          <a:ext cx="12144468" cy="6624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468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實體檔案資料將於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90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天後移除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~”)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upload_file_id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規則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: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“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UF2405161753230001”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限制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10M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必須指定檔案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type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800" b="1" u="sng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upload_file_type_id</a:t>
                      </a:r>
                      <a:r>
                        <a:rPr lang="zh-TW" altLang="en-US" sz="1800" b="1" u="sng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800" b="1" u="sng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zh-TW" altLang="en-US" sz="1800" b="1" u="sng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不能為空值</a:t>
                      </a:r>
                      <a:r>
                        <a:rPr lang="en-US" altLang="zh-TW" sz="1800" b="1" u="sng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file_path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=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/upload/doc/{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upload_file_type_id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}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/{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編碼過的檔案名稱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副檔名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}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列表要秀出下載位置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(USER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需要知道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，規格如下</a:t>
                      </a:r>
                      <a:r>
                        <a:rPr lang="en-US" altLang="zh-TW" sz="1800" b="1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:</a:t>
                      </a:r>
                      <a:r>
                        <a:rPr lang="en-US" altLang="zh-TW" sz="18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https://xxxx.xxxxx.xxx/{file_path</a:t>
                      </a:r>
                      <a:r>
                        <a:rPr lang="en-US" altLang="zh-TW" sz="18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ea"/>
                          <a:ea typeface="+mn-ea"/>
                          <a:cs typeface="+mn-cs"/>
                        </a:rPr>
                        <a:t>檔案限制說明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如果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CD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沒資料就用預設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en-US" sz="1800" b="1" i="0" u="none" strike="noStrike" kern="1200" noProof="0">
                        <a:solidFill>
                          <a:schemeClr val="accent5">
                            <a:lumMod val="50000"/>
                          </a:schemeClr>
                        </a:solidFill>
                        <a:latin typeface="Microsoft JhengHei"/>
                      </a:endParaRP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預設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10M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doc,docx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xls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,xlsx ,pdf ,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jpg,jpeg,png,gif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檔名轉小寫再比對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CD 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新增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 主類別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UPLOAD_FILE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次類別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:SIZE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數值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:10 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定義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　Ｍ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CD 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新增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 主類別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UPLOAD_FILE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次類別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:FILE_EXTENSION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altLang="zh-TW" sz="1800" b="1" kern="1200">
                          <a:solidFill>
                            <a:srgbClr val="1F4E79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                   數值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doc,docx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TW" sz="1800" b="1" kern="120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xls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,xlsx ,pdf 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定義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可用副檔名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zh-TW" sz="1800" b="1" u="sng">
                        <a:solidFill>
                          <a:srgbClr val="FF0000"/>
                        </a:solidFill>
                        <a:latin typeface="+mj-ea"/>
                        <a:ea typeface="+mj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rgbClr val="FF0000"/>
                        </a:solidFill>
                        <a:latin typeface="+mj-ea"/>
                        <a:ea typeface="+mj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3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F4F8-62BC-316B-578B-CC032EC2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B5E5E1F-789B-280A-4A0D-70CF9FE0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/>
              <a:t>貼標管理</a:t>
            </a: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9FF8D-BC8B-F2BF-5441-CF6A326A8177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7670CCD-4B0A-F896-9A12-57CDC84E1245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1B9C91E-8ECE-D40B-2AD8-A1393F93AEC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5664BEF-69F0-39EB-04A8-90EB1ACC2853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3763E86-3310-E139-30BD-6E9EB31D7A9A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A73DC4D-14DC-331E-3673-491352685BCB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9818538-5905-2C0D-2035-D966BABE3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561800"/>
              </p:ext>
            </p:extLst>
          </p:nvPr>
        </p:nvGraphicFramePr>
        <p:xfrm>
          <a:off x="838199" y="2574500"/>
          <a:ext cx="10515599" cy="1275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TW" altLang="zh-TW" b="1">
                        <a:solidFill>
                          <a:schemeClr val="accent1"/>
                        </a:solidFill>
                        <a:latin typeface="+mn-lt"/>
                        <a:ea typeface="Microsoft JhengHei"/>
                        <a:cs typeface="Arial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2E4AFF02-9D6B-6E98-2794-611769B890D9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portal_hashtag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268A7DC-DD8B-0848-DD42-9B2FC1FA6F0E}"/>
              </a:ext>
            </a:extLst>
          </p:cNvPr>
          <p:cNvSpPr txBox="1"/>
          <p:nvPr/>
        </p:nvSpPr>
        <p:spPr>
          <a:xfrm>
            <a:off x="437555" y="4686293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portal_hashtag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282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D4AD-59D2-73CF-F696-06FCB793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B51A560-D86A-1FC4-88A7-C741791B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最新消息管理</a:t>
            </a: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28F115-0C30-019F-64E3-31EF962902BA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F671CCE-152A-0D4F-7CA3-9AD57E33F543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896F002-9E62-9E43-E5D3-18EEC8F09083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E1DB20C-EBA9-8435-71F5-B8976793D0F9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9F85C8C-91D2-133D-B03A-895C9B4E4080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44E1C61-F498-0028-41C1-24D3FBB2F23B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B5568E-68B0-89E5-AE19-4D84F6C3B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911698"/>
              </p:ext>
            </p:extLst>
          </p:nvPr>
        </p:nvGraphicFramePr>
        <p:xfrm>
          <a:off x="838199" y="2574500"/>
          <a:ext cx="10515599" cy="1275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TW" altLang="zh-TW" b="1">
                        <a:solidFill>
                          <a:schemeClr val="accent1"/>
                        </a:solidFill>
                        <a:latin typeface="+mn-lt"/>
                        <a:ea typeface="Microsoft JhengHei"/>
                        <a:cs typeface="Arial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00AFF94B-A7F8-87D5-7E98-A7996891AA39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portal_news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316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B375C-DC3A-A678-FEBC-A59D91CC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9E65E49-0A85-CC55-CFD6-DDFA8994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solidFill>
                  <a:srgbClr val="FFC000"/>
                </a:solidFill>
                <a:latin typeface="+mn-lt"/>
                <a:ea typeface="+mn-ea"/>
              </a:rPr>
              <a:t>文章資料管理</a:t>
            </a: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D3EF21-F560-6111-67DB-B04B50CB471A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8631DDC-FB31-7593-FC02-05E5F2260B83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F6F419C-1B59-BBFB-7064-8EECF6600435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0052982-A188-10D1-92B8-505765EF523A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DBE0E1B-A0AE-E023-E61D-AC9273CA3B51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52853F3-406A-2E1A-7E77-1629C4386C44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21A9865-F802-8D4C-C193-3026C5DD1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346491"/>
              </p:ext>
            </p:extLst>
          </p:nvPr>
        </p:nvGraphicFramePr>
        <p:xfrm>
          <a:off x="838199" y="2574500"/>
          <a:ext cx="10515599" cy="1275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TW" altLang="zh-TW" b="1">
                        <a:solidFill>
                          <a:schemeClr val="accent1"/>
                        </a:solidFill>
                        <a:latin typeface="+mn-lt"/>
                        <a:ea typeface="Microsoft JhengHei"/>
                        <a:cs typeface="Arial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27C52F09-94E9-1B65-F3B3-87B33E1EECE2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portal_article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7882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7CEB-D073-B87A-9F0F-D40E7094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9F141E3-1E6F-0CA2-5C6B-2DD65A6D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solidFill>
                  <a:schemeClr val="accent1"/>
                </a:solidFill>
                <a:latin typeface="+mn-lt"/>
                <a:ea typeface="Microsoft JhengHei"/>
                <a:cs typeface="Arial"/>
              </a:rPr>
              <a:t>訊息發送資料</a:t>
            </a: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F90B22-19EA-C9CF-7E8A-C16874052E48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5875137-0F1C-0920-BCA1-BF469CED069B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4CB4DFB-2093-C645-80C7-8C4F5F0906BA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7BB4EB3-B1B9-4062-526A-32B67E1074F9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EB5F7F4-BB41-4614-FE58-CFBBC56FE323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5E90462-DDC1-6406-5E4C-874197319CF7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FEBB9C6-C8B4-E08D-D4F8-96A13E014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762954"/>
              </p:ext>
            </p:extLst>
          </p:nvPr>
        </p:nvGraphicFramePr>
        <p:xfrm>
          <a:off x="838199" y="2574500"/>
          <a:ext cx="10515599" cy="1275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TW" altLang="zh-TW" b="1">
                        <a:solidFill>
                          <a:schemeClr val="accent1"/>
                        </a:solidFill>
                        <a:latin typeface="+mn-lt"/>
                        <a:ea typeface="Microsoft JhengHei"/>
                        <a:cs typeface="Arial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087EFB80-9B01-0786-C193-9780B1742794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>
                <a:latin typeface="+mj-ea"/>
                <a:ea typeface="+mj-ea"/>
              </a:rPr>
              <a:t> </a:t>
            </a:r>
            <a:r>
              <a:rPr lang="en-US" altLang="zh-TW" sz="1600" b="1" err="1">
                <a:latin typeface="+mj-ea"/>
                <a:ea typeface="+mj-ea"/>
              </a:rPr>
              <a:t>portal_send_message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8563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16B0A-CF1D-190E-D14F-E4F8BA98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FCB9658-8CB3-35F8-A36D-192BD2F6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solidFill>
                  <a:schemeClr val="accent1"/>
                </a:solidFill>
                <a:latin typeface="+mn-lt"/>
                <a:ea typeface="Microsoft JhengHei"/>
                <a:cs typeface="Arial"/>
              </a:rPr>
              <a:t>活動資訊管理</a:t>
            </a:r>
            <a:br>
              <a:rPr lang="zh-TW" altLang="zh-TW" b="1">
                <a:solidFill>
                  <a:schemeClr val="accent1"/>
                </a:solidFill>
                <a:latin typeface="+mn-lt"/>
                <a:ea typeface="Microsoft JhengHei"/>
                <a:cs typeface="Arial"/>
              </a:rPr>
            </a:b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95B879-69B8-785F-B873-B92B8D16CEAE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F3C200D-22C3-B57D-27A6-64949DEE6206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A31DB19-DE4E-7FA9-169E-D638DC7486E1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36D1CA6-880F-4ABB-EC2D-E2E6D318AD83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D9AE509-F2A0-E66E-B983-011305EF85DB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FF3AC0F-ECB6-924B-1335-459AD4814460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B57AFA5-1ED3-9899-8FA5-A822D3A503D6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574500"/>
          <a:ext cx="10515599" cy="1275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TW" altLang="zh-TW" b="1">
                        <a:solidFill>
                          <a:schemeClr val="accent1"/>
                        </a:solidFill>
                        <a:latin typeface="+mn-lt"/>
                        <a:ea typeface="Microsoft JhengHei"/>
                        <a:cs typeface="Arial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51AB34AB-8633-E351-D1FC-7153BF77251B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portal_event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9659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72BC6-69EF-65EF-93F1-A8180FA4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F2F83DE-EC81-ECDF-752A-830ECD834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 b="1">
                <a:solidFill>
                  <a:srgbClr val="F99437"/>
                </a:solidFill>
                <a:latin typeface="+mn-lt"/>
                <a:ea typeface="Microsoft JhengHei"/>
                <a:cs typeface="Arial"/>
              </a:rPr>
              <a:t>活動留資表單設定</a:t>
            </a:r>
            <a:br>
              <a:rPr lang="en-US" altLang="zh-TW" b="1">
                <a:solidFill>
                  <a:srgbClr val="F99437"/>
                </a:solidFill>
                <a:latin typeface="Arial"/>
                <a:ea typeface="Microsoft JhengHei"/>
                <a:cs typeface="Arial"/>
              </a:rPr>
            </a:br>
            <a:br>
              <a:rPr lang="zh-TW" altLang="zh-TW" b="1">
                <a:solidFill>
                  <a:schemeClr val="accent1"/>
                </a:solidFill>
                <a:latin typeface="+mn-lt"/>
                <a:ea typeface="Microsoft JhengHei"/>
                <a:cs typeface="Arial"/>
              </a:rPr>
            </a:b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781149-0EF3-2295-45AB-A82D8D656A95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D6FDD58-42EF-B549-CC63-383DCDE5F713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60DE29-5037-0793-0DB3-BED2363F645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BC615C9-F4CD-CB45-F8F0-E654731C5A3E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D66E239-C396-B6FB-8622-B0D252B54DA2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48B5A61-E782-AC73-F77C-F62D8426AB98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FFB6878-C19D-62D0-F7A6-BD86611BE0FB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574500"/>
          <a:ext cx="10515599" cy="1275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TW" altLang="zh-TW" b="1">
                        <a:solidFill>
                          <a:schemeClr val="accent1"/>
                        </a:solidFill>
                        <a:latin typeface="+mn-lt"/>
                        <a:ea typeface="Microsoft JhengHei"/>
                        <a:cs typeface="Arial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6C6AFEC5-F1EE-C867-C9EE-BB6C293C9DE9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portal_event_data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9926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DC370-B6DC-6EF4-CB6C-EA40A4D8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A5ADD45-C96D-A341-121A-A72ABAA7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TW" altLang="en-US"/>
              <a:t>共用管理機制 </a:t>
            </a:r>
            <a:r>
              <a:rPr lang="en-US" altLang="zh-TW" b="1">
                <a:latin typeface="+mn-ea"/>
              </a:rPr>
              <a:t>&gt;</a:t>
            </a:r>
            <a:r>
              <a:rPr lang="zh-TW" altLang="en-US">
                <a:solidFill>
                  <a:schemeClr val="accent1"/>
                </a:solidFill>
                <a:latin typeface="+mn-lt"/>
                <a:ea typeface="Microsoft JhengHei"/>
                <a:cs typeface="Arial"/>
              </a:rPr>
              <a:t>活動留資資料管理</a:t>
            </a:r>
            <a:br>
              <a:rPr lang="zh-TW" altLang="zh-TW" b="1">
                <a:solidFill>
                  <a:schemeClr val="bg1">
                    <a:lumMod val="75000"/>
                  </a:schemeClr>
                </a:solidFill>
                <a:latin typeface="Arial"/>
                <a:ea typeface="Microsoft JhengHei"/>
                <a:cs typeface="Arial"/>
              </a:rPr>
            </a:br>
            <a:br>
              <a:rPr lang="zh-TW" altLang="zh-TW" b="1">
                <a:solidFill>
                  <a:schemeClr val="accent1"/>
                </a:solidFill>
                <a:latin typeface="+mn-lt"/>
                <a:ea typeface="Microsoft JhengHei"/>
                <a:cs typeface="Arial"/>
              </a:rPr>
            </a:b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E4A019-6DF0-3D42-77B9-B9B9E88BA2A3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86BDB08-6A74-B88F-E3DB-86DE841A371C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07E6785-8653-67C6-AAE9-30B919EEC89C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A1DEB7F-5341-4064-7675-072FD38AD8DD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FE895E5-E6AC-1078-069F-CEF1F1644D47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AA16902-48BA-B22F-AB35-23D68071A7F5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E11D812-8E26-D935-C10A-B8A4CD95E8D5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574500"/>
          <a:ext cx="10515599" cy="1275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TW" altLang="zh-TW" b="1">
                        <a:solidFill>
                          <a:schemeClr val="accent1"/>
                        </a:solidFill>
                        <a:latin typeface="+mn-lt"/>
                        <a:ea typeface="Microsoft JhengHei"/>
                        <a:cs typeface="Arial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33B626DB-E76F-BFB5-9C64-DB882D8B95E9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portal_event_data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452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FCD408-8DEE-D3B4-2EEE-426F5DC9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JOB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2127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8615" cy="735013"/>
          </a:xfrm>
        </p:spPr>
        <p:txBody>
          <a:bodyPr/>
          <a:lstStyle/>
          <a:p>
            <a:pPr algn="l"/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JOB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01–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通過審核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判斷有效時間後更新為上架狀態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6786C2-3299-E11B-9026-26DCFB033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952765"/>
              </p:ext>
            </p:extLst>
          </p:nvPr>
        </p:nvGraphicFramePr>
        <p:xfrm>
          <a:off x="838200" y="1185647"/>
          <a:ext cx="10763250" cy="292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每分鐘跑一次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 i="0" u="none" strike="noStrike" noProof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Microsoft JhengHei"/>
                        </a:rPr>
                        <a:t>新版</a:t>
                      </a:r>
                      <a:r>
                        <a:rPr lang="en-US" sz="1800" b="1" i="0" u="none" strike="noStrike" noProof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Microsoft JhengHei"/>
                        </a:rPr>
                        <a:t>4-&gt;5 (</a:t>
                      </a:r>
                      <a:r>
                        <a:rPr lang="zh-TW" altLang="en-US" sz="1800" b="1" i="0" u="none" strike="noStrike" noProof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Microsoft JhengHei"/>
                        </a:rPr>
                        <a:t>有效時間)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where status=4 and </a:t>
                      </a:r>
                      <a:r>
                        <a:rPr lang="en-US" altLang="zh-TW" sz="1800" err="1">
                          <a:solidFill>
                            <a:srgbClr val="FF6700"/>
                          </a:solidFill>
                        </a:rPr>
                        <a:t>start_date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 &gt;= now</a:t>
                      </a:r>
                      <a:endParaRPr lang="en-US" altLang="zh-TW" sz="1800" b="1" i="0" u="none" strike="noStrike" noProof="0">
                        <a:solidFill>
                          <a:schemeClr val="accent5">
                            <a:lumMod val="50000"/>
                          </a:schemeClr>
                        </a:solidFill>
                        <a:latin typeface="Microsoft JhengHei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原本的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-&gt;7 (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舊版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  <a:ea typeface="Microsoft JhengHei"/>
                        </a:rPr>
                        <a:t>新增一筆資料到 </a:t>
                      </a:r>
                      <a:r>
                        <a:rPr lang="en-US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[</a:t>
                      </a:r>
                      <a:r>
                        <a:rPr lang="en-US" sz="18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]</a:t>
                      </a:r>
                      <a:r>
                        <a:rPr lang="zh-TW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  <a:ea typeface="Microsoft JhengHei"/>
                        </a:rPr>
                        <a:t> 歷程資料表 </a:t>
                      </a:r>
                      <a:r>
                        <a:rPr lang="en-US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insert into [</a:t>
                      </a:r>
                      <a:r>
                        <a:rPr lang="en-US" sz="18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]</a:t>
                      </a:r>
                      <a:r>
                        <a:rPr lang="zh-TW" altLang="en-US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  <a:ea typeface="Microsoft JhengHei"/>
                        </a:rPr>
                        <a:t> </a:t>
                      </a:r>
                      <a:br>
                        <a:rPr lang="en-US" altLang="zh-TW" sz="1800" b="0" kern="1200">
                          <a:solidFill>
                            <a:srgbClr val="2F5597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en-US" altLang="zh-TW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([</a:t>
                      </a:r>
                      <a:r>
                        <a:rPr lang="en-US" altLang="zh-TW" sz="1800" b="0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create_user</a:t>
                      </a:r>
                      <a:r>
                        <a:rPr lang="en-US" altLang="zh-TW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 = </a:t>
                      </a:r>
                      <a:r>
                        <a:rPr lang="da-DK" altLang="zh-TW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portal_job_id+":"+portal_job_log_id)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zh-TW" sz="1800" b="1" i="0" u="none" strike="noStrike" kern="1200" noProof="0">
                          <a:solidFill>
                            <a:srgbClr val="FF6700"/>
                          </a:solidFill>
                          <a:latin typeface="Microsoft JhengHei"/>
                          <a:ea typeface="Microsoft JhengHei"/>
                        </a:rPr>
                        <a:t>新增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j-ea"/>
                          <a:ea typeface="+mn-ea"/>
                          <a:cs typeface="+mn-cs"/>
                        </a:rPr>
                        <a:t>ELK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j-ea"/>
                          <a:ea typeface="+mn-ea"/>
                          <a:cs typeface="+mn-cs"/>
                        </a:rPr>
                        <a:t>也要</a:t>
                      </a:r>
                      <a:endParaRPr lang="en-US" altLang="zh-TW" sz="1800" b="1" kern="1200">
                        <a:solidFill>
                          <a:srgbClr val="FF67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90A5C1A4-7C7C-5E36-F3C5-DE4E802F09B0}"/>
              </a:ext>
            </a:extLst>
          </p:cNvPr>
          <p:cNvSpPr txBox="1"/>
          <p:nvPr/>
        </p:nvSpPr>
        <p:spPr>
          <a:xfrm>
            <a:off x="838199" y="973616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945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JOB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02–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將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status=5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且目前日期已失效更新為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853675A-096C-4834-C1BF-7886CE037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86291"/>
              </p:ext>
            </p:extLst>
          </p:nvPr>
        </p:nvGraphicFramePr>
        <p:xfrm>
          <a:off x="838200" y="1185647"/>
          <a:ext cx="10763250" cy="292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每分鐘跑一次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5-&gt;9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where status=5 and </a:t>
                      </a:r>
                      <a:r>
                        <a:rPr lang="en-US" altLang="zh-TW" sz="1800" err="1">
                          <a:solidFill>
                            <a:srgbClr val="FF6700"/>
                          </a:solidFill>
                        </a:rPr>
                        <a:t>end_date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 &lt; now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新增一筆資料到 </a:t>
                      </a:r>
                      <a:r>
                        <a:rPr lang="en-US" altLang="zh-TW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8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</a:t>
                      </a:r>
                      <a:r>
                        <a:rPr lang="zh-TW" altLang="en-US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歷程資料表 </a:t>
                      </a:r>
                      <a:r>
                        <a:rPr lang="en-US" altLang="zh-TW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insert into [</a:t>
                      </a:r>
                      <a:r>
                        <a:rPr lang="en-US" sz="18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portal_page_log</a:t>
                      </a:r>
                      <a:r>
                        <a:rPr lang="en-US" altLang="zh-TW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]</a:t>
                      </a:r>
                      <a:r>
                        <a:rPr lang="zh-TW" altLang="en-US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      ([</a:t>
                      </a:r>
                      <a:r>
                        <a:rPr lang="en-US" sz="1800" b="0" i="0" u="none" strike="no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create_user</a:t>
                      </a:r>
                      <a:r>
                        <a:rPr lang="en-US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] = </a:t>
                      </a:r>
                      <a:r>
                        <a:rPr lang="da-DK" sz="1800" b="0" i="0" u="none" strike="no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portal_job_id+":"+portal_job_log_id)</a:t>
                      </a:r>
                      <a:endParaRPr lang="da-DK" sz="1800" b="0" i="0" u="none" strike="noStrike" kern="1200" noProof="0">
                        <a:solidFill>
                          <a:schemeClr val="accent1">
                            <a:lumMod val="75000"/>
                          </a:schemeClr>
                        </a:solidFill>
                        <a:latin typeface="Microsoft JhengHei"/>
                        <a:ea typeface="+mn-ea"/>
                      </a:endParaRP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b="1" i="0" u="none" strike="noStrike" kern="1200" noProof="0">
                          <a:solidFill>
                            <a:srgbClr val="FF6700"/>
                          </a:solidFill>
                          <a:latin typeface="Microsoft JhengHei"/>
                          <a:ea typeface="Microsoft JhengHei"/>
                        </a:rPr>
                        <a:t>新增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j-ea"/>
                          <a:ea typeface="+mn-ea"/>
                          <a:cs typeface="+mn-cs"/>
                        </a:rPr>
                        <a:t>ELK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j-ea"/>
                          <a:ea typeface="+mn-ea"/>
                          <a:cs typeface="+mn-cs"/>
                        </a:rPr>
                        <a:t>也要</a:t>
                      </a:r>
                      <a:endParaRPr lang="en-US" altLang="zh-TW" sz="1800" b="1" kern="1200">
                        <a:solidFill>
                          <a:srgbClr val="FF67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altLang="zh-TW" sz="1800" b="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E82AB88-DBE2-1876-6221-1F61B8A20DEA}"/>
              </a:ext>
            </a:extLst>
          </p:cNvPr>
          <p:cNvSpPr txBox="1"/>
          <p:nvPr/>
        </p:nvSpPr>
        <p:spPr>
          <a:xfrm>
            <a:off x="838199" y="973616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9644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03 –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刪除大於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5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個版本的頁面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NAS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資料</a:t>
            </a:r>
            <a:endParaRPr lang="en-US" altLang="zh-TW">
              <a:solidFill>
                <a:srgbClr val="FF6700"/>
              </a:solidFill>
              <a:ea typeface="微軟正黑體"/>
              <a:cs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853675A-096C-4834-C1BF-7886CE03738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85647"/>
          <a:ext cx="10763250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zh-TW" altLang="en-US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CF171D6-625A-9CA1-44C7-FA828082B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985580"/>
              </p:ext>
            </p:extLst>
          </p:nvPr>
        </p:nvGraphicFramePr>
        <p:xfrm>
          <a:off x="990600" y="1338047"/>
          <a:ext cx="10763250" cy="2509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每天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01:00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一次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作法 </a:t>
                      </a:r>
                      <a:r>
                        <a:rPr lang="en-US" altLang="zh-TW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240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TW" sz="1800" b="1" kern="1200" err="1">
                          <a:solidFill>
                            <a:srgbClr val="FF6240"/>
                          </a:solidFill>
                          <a:latin typeface="+mj-ea"/>
                          <a:ea typeface="+mn-ea"/>
                          <a:cs typeface="+mn-cs"/>
                        </a:rPr>
                        <a:t>xxxx</a:t>
                      </a:r>
                      <a:r>
                        <a:rPr lang="en-US" altLang="zh-TW" sz="1800" b="1" kern="1200">
                          <a:solidFill>
                            <a:srgbClr val="FF6240"/>
                          </a:solidFill>
                          <a:latin typeface="+mj-ea"/>
                          <a:ea typeface="+mn-ea"/>
                          <a:cs typeface="+mn-cs"/>
                        </a:rPr>
                        <a:t>/xxx</a:t>
                      </a:r>
                      <a:r>
                        <a:rPr lang="zh-TW" altLang="en-US" sz="1800" b="1" kern="1200">
                          <a:solidFill>
                            <a:srgbClr val="FF6240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240"/>
                          </a:solidFill>
                          <a:latin typeface="+mj-ea"/>
                          <a:ea typeface="+mn-ea"/>
                          <a:cs typeface="+mn-cs"/>
                        </a:rPr>
                        <a:t>Brian ###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b="1" kern="1200">
                          <a:solidFill>
                            <a:srgbClr val="FF6240"/>
                          </a:solidFill>
                          <a:latin typeface="+mj-ea"/>
                          <a:ea typeface="+mn-ea"/>
                          <a:cs typeface="+mn-cs"/>
                        </a:rPr>
                        <a:t>1:upload ?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b="1" kern="1200">
                          <a:solidFill>
                            <a:srgbClr val="FF6240"/>
                          </a:solidFill>
                          <a:latin typeface="+mj-ea"/>
                          <a:ea typeface="+mn-ea"/>
                          <a:cs typeface="+mn-cs"/>
                        </a:rPr>
                        <a:t>2:TB ?</a:t>
                      </a: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zh-TW" alt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  <a:ea typeface="Microsoft JhengHei"/>
                        </a:rPr>
                        <a:t>新增一筆資料到 </a:t>
                      </a:r>
                      <a:r>
                        <a:rPr 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[</a:t>
                      </a:r>
                      <a:r>
                        <a:rPr lang="en-US" sz="1800" b="0" i="0" u="none" strike="sng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]</a:t>
                      </a:r>
                      <a:r>
                        <a:rPr lang="zh-TW" alt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  <a:ea typeface="Microsoft JhengHei"/>
                        </a:rPr>
                        <a:t> 歷程資料表 </a:t>
                      </a:r>
                      <a:r>
                        <a:rPr 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insert into [</a:t>
                      </a:r>
                      <a:r>
                        <a:rPr lang="en-US" sz="1800" b="0" i="0" u="none" strike="sng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portal_page_log</a:t>
                      </a:r>
                      <a:r>
                        <a:rPr 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]</a:t>
                      </a:r>
                      <a:r>
                        <a:rPr lang="zh-TW" alt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  <a:ea typeface="Microsoft JhengHei"/>
                        </a:rPr>
                        <a:t> </a:t>
                      </a:r>
                      <a:endParaRPr lang="en-US" sz="1800" b="1" i="0" u="none" strike="sngStrike" kern="1200" noProof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([</a:t>
                      </a:r>
                      <a:r>
                        <a:rPr lang="en-US" sz="1800" b="0" i="0" u="none" strike="sngStrike" kern="1200" noProof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create_user</a:t>
                      </a:r>
                      <a:r>
                        <a:rPr lang="en-US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] = </a:t>
                      </a:r>
                      <a:r>
                        <a:rPr lang="da-DK" sz="1800" b="0" i="0" u="none" strike="sngStrike" kern="1200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JhengHei"/>
                        </a:rPr>
                        <a:t>portal_job_id+":"+portal_job_log_id)</a:t>
                      </a:r>
                      <a:endParaRPr lang="en-US" strike="sngStrike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42351350-4898-A9DD-3033-132A33B130A2}"/>
              </a:ext>
            </a:extLst>
          </p:cNvPr>
          <p:cNvSpPr txBox="1"/>
          <p:nvPr/>
        </p:nvSpPr>
        <p:spPr>
          <a:xfrm>
            <a:off x="838199" y="973616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portal_website_page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6412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83AA-0F21-7895-3302-8EDEB702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A84C28-C7E0-15B6-959A-F9C92D3E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8615" cy="73501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6700"/>
                </a:solidFill>
              </a:rPr>
              <a:t>JOB</a:t>
            </a:r>
            <a:r>
              <a:rPr lang="zh-TW" altLang="en-US">
                <a:solidFill>
                  <a:srgbClr val="FF6700"/>
                </a:solidFill>
              </a:rPr>
              <a:t> </a:t>
            </a:r>
            <a:r>
              <a:rPr lang="en-US" altLang="zh-TW">
                <a:solidFill>
                  <a:srgbClr val="FF6700"/>
                </a:solidFill>
              </a:rPr>
              <a:t>04–</a:t>
            </a:r>
            <a:r>
              <a:rPr lang="zh-TW" altLang="en-US" sz="2000">
                <a:solidFill>
                  <a:srgbClr val="FF6700"/>
                </a:solidFill>
              </a:rPr>
              <a:t>活動頁面資料將通過審核</a:t>
            </a:r>
            <a:r>
              <a:rPr lang="en-US" altLang="zh-TW" sz="2000">
                <a:solidFill>
                  <a:srgbClr val="FF6700"/>
                </a:solidFill>
              </a:rPr>
              <a:t>4</a:t>
            </a:r>
            <a:r>
              <a:rPr lang="zh-TW" altLang="en-US" sz="2000">
                <a:solidFill>
                  <a:srgbClr val="FF6700"/>
                </a:solidFill>
              </a:rPr>
              <a:t>判斷有效時間後更新為上架狀態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9F83CD3-EB93-B901-1867-7BF529471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026685"/>
              </p:ext>
            </p:extLst>
          </p:nvPr>
        </p:nvGraphicFramePr>
        <p:xfrm>
          <a:off x="838200" y="1185647"/>
          <a:ext cx="10763250" cy="863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每分鐘跑一次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>
                          <a:solidFill>
                            <a:srgbClr val="FF6700"/>
                          </a:solidFill>
                        </a:rPr>
                        <a:t>判斷有效時間後更新為上架狀態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where status=4 and </a:t>
                      </a:r>
                      <a:r>
                        <a:rPr lang="en-US" altLang="zh-TW" sz="1800" err="1">
                          <a:solidFill>
                            <a:srgbClr val="FF6700"/>
                          </a:solidFill>
                        </a:rPr>
                        <a:t>start_date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 &gt;= now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727DDD9D-E999-87F6-C714-D2793345C95F}"/>
              </a:ext>
            </a:extLst>
          </p:cNvPr>
          <p:cNvSpPr txBox="1"/>
          <p:nvPr/>
        </p:nvSpPr>
        <p:spPr>
          <a:xfrm>
            <a:off x="1097279" y="213507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portal_website_event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9B48F91-6D16-5CB1-680C-9A4426EE152C}"/>
              </a:ext>
            </a:extLst>
          </p:cNvPr>
          <p:cNvSpPr txBox="1"/>
          <p:nvPr/>
        </p:nvSpPr>
        <p:spPr>
          <a:xfrm>
            <a:off x="400050" y="2620988"/>
            <a:ext cx="8522970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set  status =5 where ( </a:t>
            </a:r>
            <a:r>
              <a:rPr lang="en-US" altLang="zh-TW" sz="1200" b="0" kern="1200" err="1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website_event_page_code</a:t>
            </a: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0" kern="1200" noProof="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= $</a:t>
            </a:r>
            <a:r>
              <a:rPr lang="en-US" altLang="zh-TW" sz="1200" b="0" kern="1200" err="1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website_event_page_code</a:t>
            </a: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 )</a:t>
            </a:r>
            <a:endParaRPr lang="en-US" altLang="zh-TW" sz="1200" b="0" kern="1200">
              <a:solidFill>
                <a:schemeClr val="accent1">
                  <a:lumMod val="75000"/>
                </a:schemeClr>
              </a:solidFill>
              <a:latin typeface="+mj-ea"/>
              <a:ea typeface="+mj-ea"/>
              <a:cs typeface="+mn-cs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TW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新增一筆資料到 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portal_page_log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zh-TW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 歷程資料表 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insert into [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portal_page_log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zh-TW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TW" altLang="en-US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website_id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=‘event’, 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website_page_version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=0, 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website_page_code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=$</a:t>
            </a:r>
            <a:r>
              <a:rPr lang="en-US" altLang="zh-TW" sz="1200" b="0" kern="1200" err="1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website_event_page_code</a:t>
            </a: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, [</a:t>
            </a:r>
            <a:r>
              <a:rPr lang="en-US" altLang="zh-TW" sz="1200" b="0" kern="1200" err="1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create_user</a:t>
            </a: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] = </a:t>
            </a:r>
            <a:r>
              <a:rPr lang="da-DK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portal_job_id+":"+portal_job_log_id )</a:t>
            </a:r>
            <a:endParaRPr lang="en-US" altLang="zh-TW" sz="1200" b="0" kern="1200">
              <a:solidFill>
                <a:schemeClr val="accent1">
                  <a:lumMod val="75000"/>
                </a:schemeClr>
              </a:solidFill>
              <a:latin typeface="+mj-ea"/>
              <a:ea typeface="+mn-ea"/>
              <a:cs typeface="+mn-cs"/>
            </a:endParaRPr>
          </a:p>
          <a:p>
            <a:pPr marL="742950" marR="0" lvl="1" indent="-28575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zh-TW" sz="1200" b="1" i="0" u="none" strike="noStrike" kern="1200" noProof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32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9BB70-B5EA-B867-B700-655539BA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89F28EF-4CBF-5EC7-6B47-8CB3EB9E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8615" cy="73501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6700"/>
                </a:solidFill>
              </a:rPr>
              <a:t>JOB</a:t>
            </a:r>
            <a:r>
              <a:rPr lang="zh-TW" altLang="en-US">
                <a:solidFill>
                  <a:srgbClr val="FF6700"/>
                </a:solidFill>
              </a:rPr>
              <a:t> </a:t>
            </a:r>
            <a:r>
              <a:rPr lang="en-US" altLang="zh-TW">
                <a:solidFill>
                  <a:srgbClr val="FF6700"/>
                </a:solidFill>
              </a:rPr>
              <a:t>05–</a:t>
            </a:r>
            <a:r>
              <a:rPr lang="zh-TW" altLang="en-US" sz="2000">
                <a:solidFill>
                  <a:srgbClr val="FF6700"/>
                </a:solidFill>
              </a:rPr>
              <a:t>活動頁面資料將</a:t>
            </a:r>
            <a:r>
              <a:rPr lang="en-US" altLang="zh-TW" sz="2000">
                <a:solidFill>
                  <a:srgbClr val="FF6700"/>
                </a:solidFill>
              </a:rPr>
              <a:t>status=5</a:t>
            </a:r>
            <a:r>
              <a:rPr lang="zh-TW" altLang="en-US" sz="2000">
                <a:solidFill>
                  <a:srgbClr val="FF6700"/>
                </a:solidFill>
              </a:rPr>
              <a:t>且目前日期已失效更新為</a:t>
            </a:r>
            <a:r>
              <a:rPr lang="en-US" altLang="zh-TW" sz="2000">
                <a:solidFill>
                  <a:srgbClr val="FF6700"/>
                </a:solidFill>
              </a:rPr>
              <a:t>9</a:t>
            </a:r>
            <a:endParaRPr lang="zh-TW" altLang="en-US" sz="2000">
              <a:solidFill>
                <a:srgbClr val="FF670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EFDBEC0-13C7-ED4D-FC7B-D414188FC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233791"/>
              </p:ext>
            </p:extLst>
          </p:nvPr>
        </p:nvGraphicFramePr>
        <p:xfrm>
          <a:off x="838200" y="1185647"/>
          <a:ext cx="10763250" cy="863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每分鐘跑一次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>
                          <a:solidFill>
                            <a:srgbClr val="FF6700"/>
                          </a:solidFill>
                        </a:rPr>
                        <a:t>判斷失效時間後更新為上架狀態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where status=5 and </a:t>
                      </a:r>
                      <a:r>
                        <a:rPr lang="en-US" altLang="zh-TW" sz="1800" err="1">
                          <a:solidFill>
                            <a:srgbClr val="FF6700"/>
                          </a:solidFill>
                        </a:rPr>
                        <a:t>end_date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 &lt; now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18E1A8A7-A684-1A82-F029-7DB7A40E9C2F}"/>
              </a:ext>
            </a:extLst>
          </p:cNvPr>
          <p:cNvSpPr txBox="1"/>
          <p:nvPr/>
        </p:nvSpPr>
        <p:spPr>
          <a:xfrm>
            <a:off x="1097279" y="213507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portal_website_event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078AD3E-0B42-1DB8-780F-0C45F2ACDEC9}"/>
              </a:ext>
            </a:extLst>
          </p:cNvPr>
          <p:cNvSpPr txBox="1"/>
          <p:nvPr/>
        </p:nvSpPr>
        <p:spPr>
          <a:xfrm>
            <a:off x="400050" y="2620988"/>
            <a:ext cx="8522970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set  status =9 where ( </a:t>
            </a:r>
            <a:r>
              <a:rPr lang="en-US" altLang="zh-TW" sz="1200" b="0" kern="1200" err="1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website_event_page_code</a:t>
            </a: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 </a:t>
            </a:r>
            <a:r>
              <a:rPr lang="en-US" altLang="zh-TW" sz="1200" b="0" kern="1200" noProof="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= $</a:t>
            </a:r>
            <a:r>
              <a:rPr lang="en-US" altLang="zh-TW" sz="1200" b="0" kern="1200" err="1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website_event_page_code</a:t>
            </a: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 )</a:t>
            </a:r>
            <a:endParaRPr lang="en-US" altLang="zh-TW" sz="1200" b="0" kern="1200">
              <a:solidFill>
                <a:schemeClr val="accent1">
                  <a:lumMod val="75000"/>
                </a:schemeClr>
              </a:solidFill>
              <a:latin typeface="+mj-ea"/>
              <a:ea typeface="+mj-ea"/>
              <a:cs typeface="+mn-cs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TW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新增一筆資料到 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portal_page_log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zh-TW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 歷程資料表 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insert into [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portal_page_log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zh-TW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TW" altLang="en-US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website_id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=‘event’, 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website_page_version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=0, </a:t>
            </a:r>
            <a:r>
              <a:rPr lang="en-US" altLang="zh-TW" sz="1200" b="0" i="0" u="none" strike="noStrike" kern="1200" noProof="0" err="1">
                <a:solidFill>
                  <a:schemeClr val="accent1">
                    <a:lumMod val="75000"/>
                  </a:schemeClr>
                </a:solidFill>
              </a:rPr>
              <a:t>website_page_code</a:t>
            </a:r>
            <a:r>
              <a:rPr lang="en-US" altLang="zh-TW" sz="1200" b="0" i="0" u="none" strike="noStrike" kern="1200" noProof="0">
                <a:solidFill>
                  <a:schemeClr val="accent1">
                    <a:lumMod val="75000"/>
                  </a:schemeClr>
                </a:solidFill>
              </a:rPr>
              <a:t>=$</a:t>
            </a:r>
            <a:r>
              <a:rPr lang="en-US" altLang="zh-TW" sz="1200" b="0" kern="1200" err="1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website_event_page_code</a:t>
            </a: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, [</a:t>
            </a:r>
            <a:r>
              <a:rPr lang="en-US" altLang="zh-TW" sz="1200" b="0" kern="1200" err="1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create_user</a:t>
            </a:r>
            <a:r>
              <a:rPr lang="en-US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] = </a:t>
            </a:r>
            <a:r>
              <a:rPr lang="da-DK" altLang="zh-TW" sz="1200" b="0" kern="1200">
                <a:solidFill>
                  <a:schemeClr val="accent1">
                    <a:lumMod val="75000"/>
                  </a:schemeClr>
                </a:solidFill>
                <a:latin typeface="+mj-ea"/>
                <a:ea typeface="+mn-ea"/>
                <a:cs typeface="+mn-cs"/>
              </a:rPr>
              <a:t>portal_job_id+":"+portal_job_log_id )</a:t>
            </a:r>
            <a:endParaRPr lang="en-US" altLang="zh-TW" sz="1200" b="0" kern="1200">
              <a:solidFill>
                <a:schemeClr val="accent1">
                  <a:lumMod val="75000"/>
                </a:schemeClr>
              </a:solidFill>
              <a:latin typeface="+mj-ea"/>
              <a:ea typeface="+mn-ea"/>
              <a:cs typeface="+mn-cs"/>
            </a:endParaRPr>
          </a:p>
          <a:p>
            <a:pPr marL="742950" marR="0" lvl="1" indent="-28575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zh-TW" sz="1200" b="1" i="0" u="none" strike="noStrike" kern="1200" noProof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73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27F4-C863-47F6-1177-F26375CC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633A651-D46C-D22C-DF5B-6B1281C9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06 –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直接</a:t>
            </a:r>
            <a:r>
              <a:rPr lang="zh-TW" altLang="en-US">
                <a:solidFill>
                  <a:srgbClr val="FF6700"/>
                </a:solidFill>
              </a:rPr>
              <a:t>刪除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已失效且大於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60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天的活動頁面</a:t>
            </a:r>
            <a:endParaRPr lang="en-US" altLang="zh-TW">
              <a:solidFill>
                <a:srgbClr val="FF6700"/>
              </a:solidFill>
              <a:ea typeface="微軟正黑體"/>
              <a:cs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B5CDBBF-B576-2DC2-DA29-5A99D5FA058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85647"/>
          <a:ext cx="10763250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zh-TW" altLang="en-US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B3F058F7-DE9E-ED9E-5C76-8C0FBBB9D1C1}"/>
              </a:ext>
            </a:extLst>
          </p:cNvPr>
          <p:cNvSpPr txBox="1"/>
          <p:nvPr/>
        </p:nvSpPr>
        <p:spPr>
          <a:xfrm>
            <a:off x="1142999" y="2217268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portal_website_event</a:t>
            </a:r>
            <a:endParaRPr lang="zh-TW" altLang="en-US" sz="1600" b="1">
              <a:latin typeface="+mj-ea"/>
              <a:ea typeface="+mj-ea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ED3BC32-25B0-44D0-CEF9-6E62AA986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585699"/>
              </p:ext>
            </p:extLst>
          </p:nvPr>
        </p:nvGraphicFramePr>
        <p:xfrm>
          <a:off x="838200" y="1185647"/>
          <a:ext cx="10763250" cy="863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67356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每天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03:00</a:t>
                      </a: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>
                          <a:solidFill>
                            <a:srgbClr val="FF6700"/>
                          </a:solidFill>
                        </a:rPr>
                        <a:t>判斷失效時間後更新為上架狀態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where status=9 and ( </a:t>
                      </a:r>
                      <a:r>
                        <a:rPr lang="en-US" altLang="zh-TW" sz="1800" err="1">
                          <a:solidFill>
                            <a:srgbClr val="FF6700"/>
                          </a:solidFill>
                        </a:rPr>
                        <a:t>end_date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 + 60 &lt; now 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08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E7E6-FDFB-DA5E-6E53-3B4A4DF7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D80BCC6-9F76-9DA8-6579-7308879F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07 –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移除已刪除且大於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90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天的文件檔案資料</a:t>
            </a:r>
            <a:endParaRPr lang="en-US" altLang="zh-TW">
              <a:solidFill>
                <a:srgbClr val="FF6700"/>
              </a:solidFill>
              <a:ea typeface="微軟正黑體"/>
              <a:cs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0177627-61A9-942E-9DD7-007CBB0E00E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85647"/>
          <a:ext cx="10763250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zh-TW" altLang="en-US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61EA1A90-A89E-60C0-0BCE-2D1966A6F1EF}"/>
              </a:ext>
            </a:extLst>
          </p:cNvPr>
          <p:cNvSpPr txBox="1"/>
          <p:nvPr/>
        </p:nvSpPr>
        <p:spPr>
          <a:xfrm>
            <a:off x="1142999" y="2217268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>
                <a:latin typeface="+mj-ea"/>
                <a:ea typeface="+mj-ea"/>
              </a:rPr>
              <a:t> </a:t>
            </a:r>
            <a:r>
              <a:rPr lang="en-US" altLang="zh-TW" sz="1600" b="1" err="1">
                <a:latin typeface="+mj-ea"/>
                <a:ea typeface="+mj-ea"/>
              </a:rPr>
              <a:t>portal_upload_file</a:t>
            </a:r>
            <a:endParaRPr lang="zh-TW" altLang="en-US" sz="1600" b="1">
              <a:latin typeface="+mj-ea"/>
              <a:ea typeface="+mj-ea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9612473-3BFC-9822-3065-647327D1C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045876"/>
              </p:ext>
            </p:extLst>
          </p:nvPr>
        </p:nvGraphicFramePr>
        <p:xfrm>
          <a:off x="838200" y="1185647"/>
          <a:ext cx="10763250" cy="863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每天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04:00</a:t>
                      </a: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>
                          <a:solidFill>
                            <a:srgbClr val="FF6700"/>
                          </a:solidFill>
                        </a:rPr>
                        <a:t>判斷已刪除且過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90</a:t>
                      </a:r>
                      <a:r>
                        <a:rPr lang="zh-TW" altLang="en-US" sz="1800">
                          <a:solidFill>
                            <a:srgbClr val="FF6700"/>
                          </a:solidFill>
                        </a:rPr>
                        <a:t>天的檔案資料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where </a:t>
                      </a:r>
                      <a:r>
                        <a:rPr lang="en-US" altLang="zh-TW" sz="1800" err="1">
                          <a:solidFill>
                            <a:srgbClr val="FF6700"/>
                          </a:solidFill>
                        </a:rPr>
                        <a:t>is_delete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=‘Y’ and (</a:t>
                      </a:r>
                      <a:r>
                        <a:rPr lang="en-US" altLang="zh-TW" sz="1800" err="1">
                          <a:solidFill>
                            <a:srgbClr val="FF6700"/>
                          </a:solidFill>
                        </a:rPr>
                        <a:t>update_date</a:t>
                      </a:r>
                      <a:r>
                        <a:rPr lang="zh-TW" altLang="en-US" sz="1800">
                          <a:solidFill>
                            <a:srgbClr val="FF6700"/>
                          </a:solidFill>
                        </a:rPr>
                        <a:t>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+ 90</a:t>
                      </a:r>
                      <a:r>
                        <a:rPr lang="zh-TW" altLang="en-US" sz="1800">
                          <a:solidFill>
                            <a:srgbClr val="FF6700"/>
                          </a:solidFill>
                        </a:rPr>
                        <a:t>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&lt; now </a:t>
                      </a:r>
                      <a:r>
                        <a:rPr lang="zh-TW" altLang="en-US" sz="1800">
                          <a:solidFill>
                            <a:srgbClr val="FF6700"/>
                          </a:solidFill>
                        </a:rPr>
                        <a:t> </a:t>
                      </a:r>
                      <a:r>
                        <a:rPr lang="en-US" altLang="zh-TW" sz="1800">
                          <a:solidFill>
                            <a:srgbClr val="FF67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72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5B97-8CE2-68C6-9588-36C38419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77D2D7B-6EE6-37E1-1E1C-06C57FE2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08 –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zh-TW">
                <a:solidFill>
                  <a:srgbClr val="FF6700"/>
                </a:solidFill>
                <a:ea typeface="微軟正黑體"/>
                <a:cs typeface="+mj-lt"/>
              </a:rPr>
              <a:t>註記刪除</a:t>
            </a:r>
            <a:r>
              <a:rPr lang="zh-TW" altLang="en-US">
                <a:solidFill>
                  <a:srgbClr val="FF6700"/>
                </a:solidFill>
                <a:ea typeface="微軟正黑體"/>
                <a:cs typeface="+mj-lt"/>
              </a:rPr>
              <a:t>90天未登入系統的帳號</a:t>
            </a:r>
            <a:endParaRPr lang="en-US" sz="1100" b="0">
              <a:solidFill>
                <a:srgbClr val="333333"/>
              </a:solidFill>
              <a:ea typeface="微軟正黑體"/>
              <a:cs typeface="+mj-lt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91AE9BC-C27A-DC86-A28C-E3696D5229B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85647"/>
          <a:ext cx="10763250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zh-TW" altLang="en-US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D83C75-8D12-D729-A58E-BD9049A81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882241"/>
              </p:ext>
            </p:extLst>
          </p:nvPr>
        </p:nvGraphicFramePr>
        <p:xfrm>
          <a:off x="981974" y="1113214"/>
          <a:ext cx="10763250" cy="5339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頻率: 每天 05:00</a:t>
                      </a:r>
                      <a:br>
                        <a:rPr lang="zh-TW" altLang="en-US" sz="1800" b="1">
                          <a:solidFill>
                            <a:srgbClr val="1F4E79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業務邏輯: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1.查empy_login資料表登入紀錄，該使用者任何活動紀錄最後時間超過90天或</a:t>
                      </a:r>
                      <a:r>
                        <a:rPr lang="zh-TW" altLang="en-US" sz="1800" b="1" kern="1200" noProof="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沒有登入記錄且開立帳號的時間</a:t>
                      </a:r>
                      <a:r>
                        <a:rPr lang="en-US" altLang="zh-TW" sz="1800" b="1" kern="1200" noProof="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zh-TW" altLang="en-US" sz="1800" b="1" kern="1200" noProof="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超過 </a:t>
                      </a:r>
                      <a:r>
                        <a:rPr lang="en-US" altLang="zh-TW" sz="1800" b="1" kern="1200" noProof="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90 </a:t>
                      </a:r>
                      <a:r>
                        <a:rPr lang="zh-TW" altLang="en-US" sz="1800" b="1" kern="1200" noProof="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天</a:t>
                      </a:r>
                      <a:endParaRPr lang="zh-TW" altLang="en-US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2.則將帳號主檔(portal_empy)該使用者註記為刪除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3.寫入job_log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Select portal_empy_login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create_date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+ 90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&lt; now)</a:t>
                      </a:r>
                      <a:b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update 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portal_empy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empy_id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noProof="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sz="1800" b="1" kern="1200" noProof="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=Y</a:t>
                      </a:r>
                      <a:endParaRPr lang="zh-TW" altLang="en-US"/>
                    </a:p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altLang="zh-TW" sz="1800" b="1" kern="1200" noProof="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altLang="zh-TW" sz="1800" b="1" kern="1200" noProof="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zh-TW" altLang="en-US" sz="36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49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A463B-E6D6-92DA-25A5-51093E3F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0DFBB9-4FB8-6C5F-09E0-5EEE0CED1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JOB-09 –</a:t>
            </a:r>
            <a:r>
              <a:rPr lang="zh-TW" altLang="en-US">
                <a:solidFill>
                  <a:srgbClr val="FF6700"/>
                </a:solidFill>
                <a:ea typeface="微軟正黑體"/>
                <a:cs typeface="+mj-lt"/>
              </a:rPr>
              <a:t>發送訊息</a:t>
            </a:r>
            <a:r>
              <a:rPr lang="en-US" altLang="zh-TW">
                <a:solidFill>
                  <a:srgbClr val="FF6700"/>
                </a:solidFill>
                <a:ea typeface="微軟正黑體"/>
                <a:cs typeface="+mj-lt"/>
              </a:rPr>
              <a:t>(</a:t>
            </a:r>
            <a:r>
              <a:rPr lang="zh-TW" altLang="en-US">
                <a:solidFill>
                  <a:srgbClr val="FF6700"/>
                </a:solidFill>
                <a:ea typeface="微軟正黑體"/>
                <a:cs typeface="+mj-lt"/>
              </a:rPr>
              <a:t>單筆發送</a:t>
            </a:r>
            <a:r>
              <a:rPr lang="en-US" altLang="zh-TW">
                <a:solidFill>
                  <a:srgbClr val="FF6700"/>
                </a:solidFill>
                <a:ea typeface="微軟正黑體"/>
                <a:cs typeface="+mj-lt"/>
              </a:rPr>
              <a:t>)</a:t>
            </a:r>
            <a:endParaRPr lang="en-US" sz="1100" b="0">
              <a:solidFill>
                <a:srgbClr val="333333"/>
              </a:solidFill>
              <a:ea typeface="微軟正黑體"/>
              <a:cs typeface="+mj-lt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78FF0CB-D600-06D4-E624-C7864C329C7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85647"/>
          <a:ext cx="10763250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zh-TW" altLang="en-US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19586D3-706E-43E9-4534-9D2B6E458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6687"/>
              </p:ext>
            </p:extLst>
          </p:nvPr>
        </p:nvGraphicFramePr>
        <p:xfrm>
          <a:off x="0" y="1080873"/>
          <a:ext cx="11210026" cy="621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026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頻率: 每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5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分鐘發一次 </a:t>
                      </a:r>
                      <a:br>
                        <a:rPr lang="zh-TW" altLang="en-US" sz="1800" b="1">
                          <a:solidFill>
                            <a:srgbClr val="1F4E79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業務邏輯: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1.取出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portal_send_message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】. 【status】==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and 【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send_method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】 == 1 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尚未發送的資料，呼叫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【UC 4.3.1】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進行發送</a:t>
                      </a: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TW" altLang="en-US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.取出</a:t>
                      </a:r>
                      <a:r>
                        <a:rPr lang="en-US" altLang="zh-TW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en-US" altLang="zh-TW" sz="1800" b="1" kern="120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portal_send_message</a:t>
                      </a:r>
                      <a:r>
                        <a:rPr lang="en-US" altLang="zh-TW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】. 【status】==</a:t>
                      </a:r>
                      <a:r>
                        <a:rPr lang="zh-TW" altLang="en-US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TW" altLang="en-US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and 【</a:t>
                      </a:r>
                      <a:r>
                        <a:rPr lang="en-US" altLang="zh-TW" sz="1800" b="1" kern="120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send_method</a:t>
                      </a:r>
                      <a:r>
                        <a:rPr lang="en-US" altLang="zh-TW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】 == 2 </a:t>
                      </a:r>
                      <a:r>
                        <a:rPr lang="zh-TW" altLang="en-US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尚未發送的資料，呼叫</a:t>
                      </a:r>
                      <a:r>
                        <a:rPr lang="en-US" altLang="zh-TW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【XXXXX】</a:t>
                      </a:r>
                      <a:r>
                        <a:rPr lang="zh-TW" altLang="en-US" sz="1800" b="1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進行發送</a:t>
                      </a:r>
                      <a:endParaRPr lang="en-US" altLang="zh-TW" sz="1800" b="1" kern="120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.取出</a:t>
                      </a: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en-US" altLang="zh-TW" sz="1800" b="1" kern="120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portal_send_message</a:t>
                      </a: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】. 【status】==</a:t>
                      </a: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and 【</a:t>
                      </a:r>
                      <a:r>
                        <a:rPr lang="en-US" altLang="zh-TW" sz="1800" b="1" kern="120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send_method</a:t>
                      </a: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】 == 3</a:t>
                      </a: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尚未發送的資料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b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3-1 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進行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check 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白名單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check</a:t>
                      </a:r>
                      <a:b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3-2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呼叫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【UC 4.4.1】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進行發送</a:t>
                      </a:r>
                      <a:endParaRPr lang="en-US" altLang="zh-TW" sz="18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.成功 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set【portal_send_message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】. 【status】=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portal_send_message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】. 【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status_note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】=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work_id</a:t>
                      </a:r>
                      <a:b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失敗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set【portal_send_message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】. 【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status_note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】=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原因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}(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卡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字元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9135D27-791B-DF67-FBA4-C7D24E743D04}"/>
              </a:ext>
            </a:extLst>
          </p:cNvPr>
          <p:cNvSpPr txBox="1"/>
          <p:nvPr/>
        </p:nvSpPr>
        <p:spPr>
          <a:xfrm>
            <a:off x="4916543" y="732631"/>
            <a:ext cx="6818257" cy="313932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0" i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Backend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0" i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訊息列表不能直接顯示 需要加上 時間</a:t>
            </a:r>
            <a:endParaRPr lang="en-US" altLang="zh-TW" b="0" i="0">
              <a:solidFill>
                <a:srgbClr val="333333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其他功能要檢查一下</a:t>
            </a:r>
            <a:endParaRPr lang="en-US" altLang="zh-TW" b="0" i="0">
              <a:solidFill>
                <a:srgbClr val="333333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Job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只重送</a:t>
            </a: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24hr</a:t>
            </a: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內訊息</a:t>
            </a: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24hr</a:t>
            </a: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以上</a:t>
            </a: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update  status=9 ,</a:t>
            </a: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呼叫</a:t>
            </a: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UC 3.3.19</a:t>
            </a: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發告警</a:t>
            </a:r>
            <a:endParaRPr lang="en-US" altLang="zh-TW">
              <a:solidFill>
                <a:srgbClr val="333333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b="0" i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update date </a:t>
            </a:r>
            <a:r>
              <a:rPr lang="zh-TW" altLang="en-US" b="0" i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每次操作要更新</a:t>
            </a:r>
            <a:r>
              <a:rPr lang="en-US" altLang="zh-TW" b="0" i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IP USER TIME,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0" i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寄送失敗 </a:t>
            </a:r>
            <a:r>
              <a:rPr lang="en-US" altLang="zh-TW" b="0" i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!=0000 </a:t>
            </a: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錯誤要寫入</a:t>
            </a: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status note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監控機制</a:t>
            </a:r>
            <a:r>
              <a:rPr lang="en-US" altLang="zh-TW" b="0" i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儀錶板 要顯示容量</a:t>
            </a:r>
            <a:endParaRPr lang="en-US" altLang="zh-TW">
              <a:solidFill>
                <a:srgbClr val="333333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新增每一小時</a:t>
            </a: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job temp </a:t>
            </a: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容量大於</a:t>
            </a: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20G</a:t>
            </a: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呼叫</a:t>
            </a:r>
            <a:r>
              <a:rPr lang="en-US" altLang="zh-TW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UC 3.3.19</a:t>
            </a:r>
            <a:r>
              <a:rPr lang="zh-TW" altLang="en-US">
                <a:solidFill>
                  <a:srgbClr val="33333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發告警</a:t>
            </a:r>
            <a:endParaRPr lang="en-US" altLang="zh-TW">
              <a:solidFill>
                <a:srgbClr val="333333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665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DA955-8825-5FBA-8987-5FB2A2970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59C808E-19E5-8F6F-2145-1FF1A2DA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JOB-10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UC 3.5.10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發送活動留資清單給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PM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endParaRPr lang="en-US">
              <a:solidFill>
                <a:srgbClr val="FF6700"/>
              </a:solidFill>
              <a:ea typeface="微軟正黑體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BC0C499-FAC6-176D-699D-06597C836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519462"/>
              </p:ext>
            </p:extLst>
          </p:nvPr>
        </p:nvGraphicFramePr>
        <p:xfrm>
          <a:off x="590550" y="1100138"/>
          <a:ext cx="11210026" cy="127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026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頻率: 每天早上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6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點</a:t>
                      </a:r>
                      <a:br>
                        <a:rPr lang="zh-TW" altLang="en-US" sz="1800" b="1">
                          <a:solidFill>
                            <a:srgbClr val="1F4E79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業務邏輯: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05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5BB5-476F-207D-E4AD-081B84E4B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FA58B25-C252-1C02-7EC5-9A916194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9000"/>
          </a:xfrm>
        </p:spPr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JOB-11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UC 3.5.11 NAS house keeping (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清除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NAS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上的無效檔案或資料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)</a:t>
            </a:r>
            <a:br>
              <a:rPr lang="en-US" altLang="zh-TW">
                <a:solidFill>
                  <a:srgbClr val="FF6700"/>
                </a:solidFill>
                <a:ea typeface="微軟正黑體"/>
              </a:rPr>
            </a:br>
            <a:endParaRPr lang="en-US">
              <a:solidFill>
                <a:srgbClr val="FF6700"/>
              </a:solidFill>
              <a:ea typeface="微軟正黑體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021BA39-120C-F12B-B830-AE454EB99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69657"/>
              </p:ext>
            </p:extLst>
          </p:nvPr>
        </p:nvGraphicFramePr>
        <p:xfrm>
          <a:off x="635520" y="1624794"/>
          <a:ext cx="11210026" cy="127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026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頻率:每天早上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7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點</a:t>
                      </a: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業務邏輯: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2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32664-B12C-829D-F976-F442A335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0E54C7E-26F9-841A-6E70-AF30F37F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12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UC 3.5.12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每日將有效帳號與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SSO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確認是否有效 無效自動刪除</a:t>
            </a:r>
            <a:endParaRPr lang="en-US">
              <a:solidFill>
                <a:srgbClr val="FF6700"/>
              </a:solidFill>
              <a:ea typeface="微軟正黑體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C262ED2-A789-565B-6BAA-0E5E5856A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524491"/>
              </p:ext>
            </p:extLst>
          </p:nvPr>
        </p:nvGraphicFramePr>
        <p:xfrm>
          <a:off x="590550" y="1564833"/>
          <a:ext cx="11210026" cy="4531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026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453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 strike="noStrike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頻率:  </a:t>
                      </a:r>
                      <a:r>
                        <a:rPr lang="en-US" altLang="zh-TW" sz="1800" b="1" strike="noStrike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00:10</a:t>
                      </a:r>
                      <a:r>
                        <a:rPr lang="zh-TW" altLang="en-US" sz="1800" b="1" strike="noStrike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每日一次</a:t>
                      </a:r>
                      <a:br>
                        <a:rPr lang="zh-TW" altLang="en-US" sz="1800" b="1" strike="noStrike">
                          <a:solidFill>
                            <a:srgbClr val="1F4E79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zh-TW" altLang="en-US" sz="1800" b="1" strike="noStrike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業務邏輯:</a:t>
                      </a:r>
                      <a:br>
                        <a:rPr lang="zh-TW" altLang="en-US" sz="1800" b="1" strike="noStrike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strike="noStrike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 </a:t>
                      </a:r>
                      <a:r>
                        <a:rPr lang="en-US" altLang="zh-TW" sz="18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UC 3.5.12</a:t>
                      </a:r>
                      <a:r>
                        <a:rPr lang="zh-TW" alt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 </a:t>
                      </a:r>
                      <a:r>
                        <a:rPr lang="zh-TW" altLang="en-US" sz="1800" strike="noStrik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8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JOB </a:t>
                      </a:r>
                      <a:r>
                        <a:rPr lang="zh-TW" alt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是否有進行每日將有效帳號與</a:t>
                      </a:r>
                      <a:r>
                        <a:rPr lang="en-US" altLang="zh-TW" sz="18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SSO</a:t>
                      </a:r>
                      <a:r>
                        <a:rPr lang="zh-TW" alt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確認是否有效 無效自動刪除 </a:t>
                      </a:r>
                      <a:r>
                        <a:rPr lang="en-US" altLang="zh-TW" sz="18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+ </a:t>
                      </a:r>
                      <a:r>
                        <a:rPr lang="zh-TW" alt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備註說明</a:t>
                      </a:r>
                      <a:r>
                        <a:rPr lang="zh-TW" altLang="en-US" sz="1800" strike="noStrike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zh-TW" sz="1800" strike="noStrike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800" strike="noStrike">
                          <a:solidFill>
                            <a:schemeClr val="tx1"/>
                          </a:solidFill>
                        </a:rPr>
                        <a:t>SSO</a:t>
                      </a:r>
                      <a:r>
                        <a:rPr lang="zh-TW" altLang="en-US" sz="1800" strike="noStrike">
                          <a:solidFill>
                            <a:schemeClr val="tx1"/>
                          </a:solidFill>
                        </a:rPr>
                        <a:t> 系統提供的方法</a:t>
                      </a:r>
                      <a:r>
                        <a:rPr lang="en-US" altLang="zh-TW" sz="1800" strike="noStrike">
                          <a:solidFill>
                            <a:schemeClr val="tx1"/>
                          </a:solidFill>
                        </a:rPr>
                        <a:t>(FTP</a:t>
                      </a:r>
                      <a:r>
                        <a:rPr lang="zh-TW" altLang="en-US" sz="1800" strike="noStrike">
                          <a:solidFill>
                            <a:schemeClr val="tx1"/>
                          </a:solidFill>
                        </a:rPr>
                        <a:t> 讀檔案</a:t>
                      </a:r>
                      <a:r>
                        <a:rPr lang="en-US" altLang="zh-TW" sz="1800" strike="noStrike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TW" altLang="en-US" sz="1800" strike="noStrike">
                          <a:solidFill>
                            <a:schemeClr val="tx1"/>
                          </a:solidFill>
                        </a:rPr>
                        <a:t> 給出 每日失效名單</a:t>
                      </a:r>
                      <a:endParaRPr lang="en-US" altLang="zh-TW" sz="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57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24A82-BFEA-BE40-74A7-2E48C268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39A37E1-0118-BD4D-089F-0D3B6620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13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UC 3.5.13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JOB 80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天無登入或已開帳號日的為主 自動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M+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通知  哪天會刪除帳號 </a:t>
            </a:r>
            <a:endParaRPr lang="en-US">
              <a:solidFill>
                <a:srgbClr val="FF6700"/>
              </a:solidFill>
              <a:ea typeface="微軟正黑體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88714F4-5363-3AE2-E905-1AC47DD77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9509"/>
              </p:ext>
            </p:extLst>
          </p:nvPr>
        </p:nvGraphicFramePr>
        <p:xfrm>
          <a:off x="590550" y="1564833"/>
          <a:ext cx="11210026" cy="250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026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0956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頻率: 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00:15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每日一次</a:t>
                      </a:r>
                      <a:br>
                        <a:rPr lang="zh-TW" altLang="en-US" sz="1800" b="1">
                          <a:solidFill>
                            <a:srgbClr val="1F4E79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業務邏輯: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 </a:t>
                      </a: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C5CE6-C278-DBDE-4383-7EC71A4D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E7A395-AE8F-00D4-4417-DA41A2CE7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14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UC 3.5.14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自動檢測機制</a:t>
            </a:r>
            <a:endParaRPr lang="en-US">
              <a:solidFill>
                <a:srgbClr val="FF6700"/>
              </a:solidFill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5601C30-46FA-C0AF-2F81-4CBFA710DAEB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portal_system_check</a:t>
            </a:r>
            <a:r>
              <a:rPr lang="en-US" altLang="zh-TW" sz="1600" b="1">
                <a:latin typeface="+mj-ea"/>
                <a:ea typeface="+mj-ea"/>
              </a:rPr>
              <a:t> 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A28337E-0864-57C5-68DE-22FAAE2F30A9}"/>
              </a:ext>
            </a:extLst>
          </p:cNvPr>
          <p:cNvSpPr txBox="1"/>
          <p:nvPr/>
        </p:nvSpPr>
        <p:spPr>
          <a:xfrm>
            <a:off x="3734937" y="930861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portal_system_check_report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E86EB3-CE06-D7B6-4CB2-ECA7D98E13EC}"/>
              </a:ext>
            </a:extLst>
          </p:cNvPr>
          <p:cNvSpPr txBox="1"/>
          <p:nvPr/>
        </p:nvSpPr>
        <p:spPr>
          <a:xfrm>
            <a:off x="7032319" y="938494"/>
            <a:ext cx="3940481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portal_system_check_report_detail</a:t>
            </a:r>
            <a:endParaRPr lang="zh-TW" altLang="en-US" sz="1600" b="1">
              <a:latin typeface="+mj-ea"/>
              <a:ea typeface="+mj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68FC365-977C-EA29-C4D5-103CFCD4E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969365"/>
              </p:ext>
            </p:extLst>
          </p:nvPr>
        </p:nvGraphicFramePr>
        <p:xfrm>
          <a:off x="437555" y="1409278"/>
          <a:ext cx="10763250" cy="5344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ea typeface="+mn-ea"/>
                          <a:cs typeface="+mn-cs"/>
                        </a:rPr>
                        <a:t>06:30</a:t>
                      </a:r>
                      <a:r>
                        <a:rPr lang="zh-TW" altLang="en-US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ea typeface="+mn-ea"/>
                          <a:cs typeface="+mn-cs"/>
                        </a:rPr>
                        <a:t>每日一次</a:t>
                      </a:r>
                      <a:endParaRPr lang="en-US" altLang="zh-TW" sz="1400" b="0" i="0" u="none" strike="noStrike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ea typeface="+mn-ea"/>
                          <a:cs typeface="+mn-cs"/>
                        </a:rPr>
                        <a:t>$data = select * from [</a:t>
                      </a:r>
                      <a:r>
                        <a:rPr lang="en-US" altLang="zh-TW" sz="14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ea typeface="+mn-ea"/>
                          <a:cs typeface="+mn-cs"/>
                        </a:rPr>
                        <a:t>portal_system_check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ea typeface="+mn-ea"/>
                          <a:cs typeface="+mn-cs"/>
                        </a:rPr>
                        <a:t>] where </a:t>
                      </a:r>
                      <a:r>
                        <a:rPr lang="en-US" altLang="zh-TW" sz="14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ea typeface="+mn-ea"/>
                          <a:cs typeface="+mn-cs"/>
                        </a:rPr>
                        <a:t>is_delete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ea typeface="+mn-ea"/>
                          <a:cs typeface="+mn-cs"/>
                        </a:rPr>
                        <a:t>=‘N’</a:t>
                      </a:r>
                    </a:p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foreach ($data) 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zh-TW" altLang="en-US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(by </a:t>
                      </a:r>
                      <a:r>
                        <a:rPr lang="en-US" altLang="zh-TW" sz="14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web </a:t>
                      </a:r>
                      <a:r>
                        <a:rPr lang="zh-TW" altLang="en-US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分開作業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$response = {</a:t>
                      </a:r>
                      <a:r>
                        <a:rPr lang="zh-TW" altLang="en-US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執行 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data.system_check_path</a:t>
                      </a:r>
                      <a:r>
                        <a:rPr lang="zh-TW" altLang="en-US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zh-TW" altLang="en-US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=&gt;</a:t>
                      </a:r>
                      <a:r>
                        <a:rPr lang="zh-TW" altLang="en-US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需要寫一個測試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demo</a:t>
                      </a:r>
                      <a:r>
                        <a:rPr lang="zh-TW" altLang="en-US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zh-TW" altLang="en-US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最小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連線狀況，執行時間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TW" altLang="en-US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指定部屬位置 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(/</a:t>
                      </a:r>
                      <a:r>
                        <a:rPr lang="en-US" altLang="zh-TW" sz="12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system_check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TW" sz="12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check_api_xxx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, (/</a:t>
                      </a:r>
                      <a:r>
                        <a:rPr lang="en-US" altLang="zh-TW" sz="12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system_check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TW" sz="12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check_web_xxx</a:t>
                      </a:r>
                      <a:r>
                        <a:rPr lang="en-US" altLang="zh-TW" sz="12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en-US" altLang="zh-TW" sz="1200" b="0" i="0" u="none" strike="noStrike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200150" marR="0" lvl="2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取得執行狀態 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system_check_status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=$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response.code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(5:success0000, 7:warn9990,9:fail9999)</a:t>
                      </a:r>
                    </a:p>
                    <a:p>
                      <a:pPr marL="1200150" marR="0" lvl="2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取得執行說明 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system_check_note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=$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response.note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200150" marR="0" lvl="2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取得執行時間 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system_execution_time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=$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response.message.system_execution_time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insert into [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portal_system_check_report_detail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] (……)value(…..)</a:t>
                      </a:r>
                    </a:p>
                    <a:p>
                      <a:pPr marL="1200150" marR="0" lvl="2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Switch ($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system_check_status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){ </a:t>
                      </a:r>
                      <a:b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case(5): 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system_check_num_success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  <a:b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case(7): 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system_check_num_warn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++ </a:t>
                      </a:r>
                      <a:b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case(9): $</a:t>
                      </a:r>
                      <a:r>
                        <a:rPr lang="en-US" altLang="zh-TW" sz="12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system_check_num_fail</a:t>
                      </a: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  <a:b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insert into [ </a:t>
                      </a:r>
                      <a:r>
                        <a:rPr lang="en-US" altLang="zh-TW" sz="1400" b="0" i="0" u="none" strike="noStrike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portal_system_check_report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] (.…) value (….)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發送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M+ </a:t>
                      </a:r>
                      <a:r>
                        <a:rPr lang="zh-TW" altLang="en-US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通知狀況 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失敗的測試報告 要顯示在訊息</a:t>
                      </a:r>
                      <a:r>
                        <a:rPr lang="en-US" altLang="zh-TW" sz="14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800" b="1" kern="1200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44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9A8D-045A-EFD8-E99A-FE72B075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77E872F-BACC-887A-A205-482DD5DA2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rgbClr val="FF6700"/>
                </a:solidFill>
                <a:ea typeface="微軟正黑體"/>
              </a:rPr>
              <a:t>JOB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15</a:t>
            </a:r>
            <a:r>
              <a:rPr lang="zh-TW" altLang="en-US">
                <a:solidFill>
                  <a:srgbClr val="FF6700"/>
                </a:solidFill>
                <a:ea typeface="微軟正黑體"/>
              </a:rPr>
              <a:t> </a:t>
            </a:r>
            <a:r>
              <a:rPr lang="en-US" altLang="zh-TW">
                <a:solidFill>
                  <a:srgbClr val="FF6700"/>
                </a:solidFill>
                <a:ea typeface="微軟正黑體"/>
              </a:rPr>
              <a:t>UC 3.5.15 </a:t>
            </a:r>
            <a:r>
              <a:rPr lang="en-US" altLang="zh-TW" err="1">
                <a:solidFill>
                  <a:srgbClr val="FF6700"/>
                </a:solidFill>
                <a:latin typeface="Arial"/>
                <a:ea typeface="微軟正黑體"/>
                <a:cs typeface="Arial"/>
              </a:rPr>
              <a:t>自動清除job_log執行紀錄</a:t>
            </a:r>
            <a:endParaRPr lang="en-US" err="1">
              <a:solidFill>
                <a:srgbClr val="FF6700"/>
              </a:solidFill>
              <a:latin typeface="Arial"/>
              <a:ea typeface="微軟正黑體"/>
              <a:cs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5AC66E1-AF38-7876-479A-9A4A0A87D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812395"/>
              </p:ext>
            </p:extLst>
          </p:nvPr>
        </p:nvGraphicFramePr>
        <p:xfrm>
          <a:off x="590550" y="1564833"/>
          <a:ext cx="11210026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026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095651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頻率: 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04:00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每日一次</a:t>
                      </a:r>
                      <a:br>
                        <a:rPr lang="zh-TW" altLang="en-US" sz="1800" b="1">
                          <a:solidFill>
                            <a:srgbClr val="1F4E79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業務邏輯: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/>
                          <a:ea typeface="+mn-ea"/>
                        </a:rPr>
                        <a:t> </a:t>
                      </a:r>
                      <a:r>
                        <a:rPr lang="en-US" altLang="zh-TW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微軟正黑體"/>
                          <a:ea typeface="+mn-ea"/>
                        </a:rPr>
                        <a:t>刪除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/>
                          <a:ea typeface="+mn-ea"/>
                        </a:rPr>
                        <a:t>  </a:t>
                      </a:r>
                      <a:r>
                        <a:rPr lang="en-US" altLang="zh-TW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微軟正黑體"/>
                          <a:ea typeface="+mn-ea"/>
                        </a:rPr>
                        <a:t>portal_jo_log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/>
                          <a:ea typeface="+mn-ea"/>
                        </a:rPr>
                        <a:t> </a:t>
                      </a:r>
                      <a:r>
                        <a:rPr lang="en-US" altLang="zh-TW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微軟正黑體"/>
                          <a:ea typeface="+mn-ea"/>
                        </a:rPr>
                        <a:t>超過N天的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/>
                          <a:ea typeface="+mn-ea"/>
                        </a:rPr>
                        <a:t> log data </a:t>
                      </a: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/>
                          <a:ea typeface="+mn-ea"/>
                        </a:rPr>
                        <a:t>2. N= CD基本資料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house_keeping.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db_log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5BBF9FB4-7D0C-1EA6-AE27-698B6496116C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600" b="1" err="1">
                <a:latin typeface="微軟正黑體"/>
                <a:ea typeface="微軟正黑體"/>
              </a:rPr>
              <a:t>portal_jo_log</a:t>
            </a:r>
            <a:r>
              <a:rPr lang="en-US" altLang="zh-TW" sz="1600" b="1">
                <a:latin typeface="微軟正黑體"/>
                <a:ea typeface="微軟正黑體"/>
              </a:rPr>
              <a:t> </a:t>
            </a:r>
            <a:endParaRPr lang="zh-TW" altLang="en-US" sz="1600" b="1"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1060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1E84-DFDE-63FE-C730-23A8DB26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8CD3D-86FF-207D-714D-42DA84CB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Api/web</a:t>
            </a:r>
            <a:r>
              <a:rPr lang="zh-TW" altLang="en-US"/>
              <a:t>自動監控</a:t>
            </a:r>
          </a:p>
        </p:txBody>
      </p:sp>
    </p:spTree>
    <p:extLst>
      <p:ext uri="{BB962C8B-B14F-4D97-AF65-F5344CB8AC3E}">
        <p14:creationId xmlns:p14="http://schemas.microsoft.com/office/powerpoint/2010/main" val="36942263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4B75-C2B4-3EA3-B244-BF62DE79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ADDDFBD-D27E-7F17-E959-6773205BC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自動監控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ERM</a:t>
            </a: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BE1787A-9AD6-9C9F-7101-C9310EC2C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1980998"/>
            <a:ext cx="9564435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940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3144-4CEB-3F05-0FAB-6FA2FDD5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1B28BC1-A103-5946-9FB3-BE4A760F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系統管理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b="0"/>
              <a:t>UC 3.4.2.13</a:t>
            </a:r>
            <a:r>
              <a:rPr lang="zh-TW" altLang="en-US"/>
              <a:t> </a:t>
            </a:r>
            <a:r>
              <a:rPr lang="zh-TW" altLang="en-US" b="0"/>
              <a:t>系統檢測主檔 </a:t>
            </a: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88C754-F14E-653C-A1ED-B7671A83C9FA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47D9860-C127-C3BC-32C4-F2F814F525B5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6A36152-4795-B573-F998-0BCEE757A8CB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F7BB864-7378-799C-5D69-ED3B8502B8D4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A9F709D-93CF-C32F-D55E-4A00236AB031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3FD21C3-0CA9-7B8F-338B-63835622439A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C976AC8-2282-5A4D-33C4-B61C2CD3F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357643"/>
              </p:ext>
            </p:extLst>
          </p:nvPr>
        </p:nvGraphicFramePr>
        <p:xfrm>
          <a:off x="437555" y="2830659"/>
          <a:ext cx="10515599" cy="1686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(“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?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”)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b="1">
                          <a:solidFill>
                            <a:srgbClr val="FF6700"/>
                          </a:solidFill>
                          <a:latin typeface="+mn-lt"/>
                          <a:ea typeface="+mn-ea"/>
                        </a:rPr>
                        <a:t>測試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位置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部屬位置  </a:t>
                      </a:r>
                      <a:r>
                        <a:rPr lang="en-US" altLang="zh-TW" sz="1800" b="1" kern="1200" err="1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TW" altLang="zh-TW" b="1">
                        <a:solidFill>
                          <a:schemeClr val="accent1"/>
                        </a:solidFill>
                        <a:latin typeface="+mn-lt"/>
                        <a:ea typeface="Microsoft JhengHei"/>
                        <a:cs typeface="Arial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AE3B085C-09CB-2863-4317-6F00F1D665D5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portal_system_check</a:t>
            </a:r>
            <a:r>
              <a:rPr lang="en-US" altLang="zh-TW" sz="1600" b="1">
                <a:latin typeface="+mj-ea"/>
                <a:ea typeface="+mj-ea"/>
              </a:rPr>
              <a:t> 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7671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F84E6-7879-2F2C-1DFE-BB1EC740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9EF2C2E-76B4-94E7-3CD3-4C9C45CA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系統管理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b="0"/>
              <a:t>UC 3.4.2.14</a:t>
            </a:r>
            <a:r>
              <a:rPr lang="zh-TW" altLang="en-US"/>
              <a:t> </a:t>
            </a:r>
            <a:r>
              <a:rPr lang="zh-TW" altLang="en-US" b="0"/>
              <a:t>系統檢測報表</a:t>
            </a:r>
            <a:r>
              <a:rPr lang="zh-TW" altLang="en-US"/>
              <a:t> </a:t>
            </a:r>
            <a:br>
              <a:rPr lang="zh-TW" altLang="zh-TW" b="1">
                <a:solidFill>
                  <a:schemeClr val="accent1"/>
                </a:solidFill>
                <a:latin typeface="+mn-lt"/>
                <a:ea typeface="Microsoft JhengHei"/>
                <a:cs typeface="Arial"/>
              </a:rPr>
            </a:b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F3D99A3-F3B1-1F6D-82D1-9ECDD7132E46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C3AE5ED-E552-DAB3-30A2-FDBD5C0FD2D5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48FEBB2-E6DA-1E11-BEED-5DCD52D06A42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portal_system_check_report</a:t>
            </a:r>
            <a:endParaRPr lang="zh-TW" altLang="en-US" sz="1600" b="1">
              <a:latin typeface="+mj-ea"/>
              <a:ea typeface="+mj-ea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0B87D55-ADD3-4BB8-5D55-76F418B0B887}"/>
              </a:ext>
            </a:extLst>
          </p:cNvPr>
          <p:cNvSpPr/>
          <p:nvPr/>
        </p:nvSpPr>
        <p:spPr>
          <a:xfrm>
            <a:off x="3871475" y="1343020"/>
            <a:ext cx="1568743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手動檢測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685EEEB-7E8E-8C30-179E-8195BBF7B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287"/>
              </p:ext>
            </p:extLst>
          </p:nvPr>
        </p:nvGraphicFramePr>
        <p:xfrm>
          <a:off x="437555" y="2081201"/>
          <a:ext cx="11210026" cy="209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026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0956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手動檢測邏輯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b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同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UC</a:t>
                      </a:r>
                      <a:r>
                        <a:rPr lang="zh-TW" altLang="en-US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1" kern="1200">
                          <a:solidFill>
                            <a:srgbClr val="FF6700"/>
                          </a:solidFill>
                          <a:latin typeface="+mn-lt"/>
                          <a:ea typeface="+mn-ea"/>
                          <a:cs typeface="+mn-cs"/>
                        </a:rPr>
                        <a:t>3.5.14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1800" b="1" kern="1200">
                        <a:solidFill>
                          <a:srgbClr val="FF67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04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C26E-191E-8740-00AC-4BBBC3EB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0EDAE50-33C7-B1FC-6A4E-3ABF082E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系統管理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b="0"/>
              <a:t>UC 3.4.2.15</a:t>
            </a:r>
            <a:r>
              <a:rPr lang="zh-TW" altLang="en-US"/>
              <a:t> </a:t>
            </a:r>
            <a:r>
              <a:rPr lang="zh-TW" altLang="en-US" b="0"/>
              <a:t>系統檢測報表明細 </a:t>
            </a:r>
            <a:br>
              <a:rPr lang="zh-TW" altLang="zh-TW" b="1">
                <a:solidFill>
                  <a:schemeClr val="accent1"/>
                </a:solidFill>
                <a:latin typeface="+mn-lt"/>
                <a:ea typeface="Microsoft JhengHei"/>
                <a:cs typeface="Arial"/>
              </a:rPr>
            </a:br>
            <a:br>
              <a:rPr lang="en-US" altLang="zh-TW" b="1">
                <a:solidFill>
                  <a:srgbClr val="FFC000"/>
                </a:solidFill>
                <a:latin typeface="+mn-lt"/>
                <a:ea typeface="+mn-ea"/>
              </a:rPr>
            </a:br>
            <a:br>
              <a:rPr lang="en-US" altLang="zh-TW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</a:br>
            <a:r>
              <a:rPr lang="zh-TW" altLang="en-US" b="1">
                <a:latin typeface="+mn-ea"/>
              </a:rPr>
              <a:t>  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185B9D7-FDB1-07DF-0952-5268CFE5C53A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7CEFB24-EAA2-77BB-E7DA-897C8B6F4BC9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E9BB6B0-BE5B-83EA-873D-E631C6FD63A1}"/>
              </a:ext>
            </a:extLst>
          </p:cNvPr>
          <p:cNvSpPr txBox="1"/>
          <p:nvPr/>
        </p:nvSpPr>
        <p:spPr>
          <a:xfrm>
            <a:off x="437554" y="938494"/>
            <a:ext cx="3940481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 err="1">
                <a:latin typeface="+mj-ea"/>
                <a:ea typeface="+mj-ea"/>
              </a:rPr>
              <a:t>portal_system_check_report_detail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840105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FCD408-8DEE-D3B4-2EEE-426F5DC9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ELK</a:t>
            </a:r>
            <a:br>
              <a:rPr lang="en-US" altLang="zh-TW"/>
            </a:b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4578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0B2CD-E3F8-FB34-8151-C1D4CF29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52C77DB-D351-BE09-A145-808F5538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ELK</a:t>
            </a:r>
            <a:endParaRPr lang="en-US" altLang="zh-TW">
              <a:solidFill>
                <a:schemeClr val="tx1">
                  <a:lumMod val="75000"/>
                  <a:lumOff val="25000"/>
                </a:schemeClr>
              </a:solidFill>
              <a:ea typeface="微軟正黑體"/>
              <a:cs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CAC9FAC-653A-94D9-E9BE-7F7DC600EBD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85647"/>
          <a:ext cx="10763250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zh-TW" altLang="en-US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21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8A08-0BC4-4C47-DA8E-F7F32540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2E24B4-014D-24A8-8CEA-FBA13B60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預覽</a:t>
            </a:r>
            <a:br>
              <a:rPr lang="en-US" altLang="zh-TW"/>
            </a:b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99458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0F4A4-47E2-60AF-D805-84543848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DF46577-3EDD-4F9F-B86D-E7C59A0F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PROD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  <a:ea typeface="微軟正黑體"/>
              </a:rPr>
              <a:t> 預覽</a:t>
            </a:r>
            <a:endParaRPr lang="en-US" altLang="zh-TW">
              <a:solidFill>
                <a:schemeClr val="tx1">
                  <a:lumMod val="75000"/>
                  <a:lumOff val="25000"/>
                </a:schemeClr>
              </a:solidFill>
              <a:ea typeface="微軟正黑體"/>
              <a:cs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652A8E0-762D-8FC0-DAA4-A1787700BE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85647"/>
          <a:ext cx="10763250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zh-TW" altLang="en-US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ED5670C-6D66-E820-C230-3EB48B9BE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26332"/>
              </p:ext>
            </p:extLst>
          </p:nvPr>
        </p:nvGraphicFramePr>
        <p:xfrm>
          <a:off x="838200" y="1185647"/>
          <a:ext cx="10763250" cy="86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50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不用卡控</a:t>
                      </a:r>
                      <a:r>
                        <a:rPr lang="en-US" altLang="zh-TW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status </a:t>
                      </a:r>
                      <a:r>
                        <a:rPr lang="zh-TW" altLang="en-US" sz="18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直接取得元件資料屬性</a:t>
                      </a:r>
                      <a:endParaRPr lang="en-US" altLang="zh-TW" sz="1800" b="1">
                        <a:solidFill>
                          <a:srgbClr val="FF0000"/>
                        </a:solidFill>
                        <a:latin typeface="+mj-ea"/>
                        <a:ea typeface="+mj-ea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卡控不在指定</a:t>
                      </a:r>
                      <a:r>
                        <a:rPr lang="en-US" altLang="zh-TW" sz="18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IP</a:t>
                      </a:r>
                      <a:r>
                        <a:rPr lang="zh-TW" altLang="en-US" sz="1800" b="1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區間網段不可預覽頁面</a:t>
                      </a:r>
                      <a:endParaRPr lang="en-US" altLang="zh-TW" sz="1800" b="1" kern="1200">
                        <a:solidFill>
                          <a:srgbClr val="FF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47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E8EA5-90BF-1D29-B4DA-BBD308CFB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FAB8FE-7420-E693-BC65-B5880575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404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2916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A24F1-83C4-91C0-BAF9-81832F777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2">
            <a:extLst>
              <a:ext uri="{FF2B5EF4-FFF2-40B4-BE49-F238E27FC236}">
                <a16:creationId xmlns:a16="http://schemas.microsoft.com/office/drawing/2014/main" id="{ABCA5DAD-6A15-A98E-B54F-C22E0CAD5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404/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系統錯誤預設頁面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0816FA-F597-DFB4-36E6-97FB9B7245C7}"/>
              </a:ext>
            </a:extLst>
          </p:cNvPr>
          <p:cNvSpPr txBox="1"/>
          <p:nvPr/>
        </p:nvSpPr>
        <p:spPr>
          <a:xfrm>
            <a:off x="801690" y="5559176"/>
            <a:ext cx="105886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000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底層產生 </a:t>
            </a:r>
            <a:r>
              <a:rPr lang="en-US" altLang="zh-TW" sz="6000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404 / </a:t>
            </a:r>
            <a:r>
              <a:rPr lang="zh-TW" altLang="en-US" sz="6000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系統錯誤頁面</a:t>
            </a:r>
            <a:endParaRPr lang="en-US" altLang="zh-TW" sz="6000" b="1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42CC19A-E26E-2A20-B5E9-039CC9A55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78" y="868251"/>
            <a:ext cx="7092424" cy="460362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44BA42E-2979-C4D6-EDC7-50824A29BC02}"/>
              </a:ext>
            </a:extLst>
          </p:cNvPr>
          <p:cNvSpPr txBox="1"/>
          <p:nvPr/>
        </p:nvSpPr>
        <p:spPr>
          <a:xfrm>
            <a:off x="5368499" y="2523734"/>
            <a:ext cx="3911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PRD</a:t>
            </a:r>
            <a:r>
              <a:rPr lang="zh-TW" altLang="en-US" sz="36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拿掉</a:t>
            </a:r>
            <a:endParaRPr lang="en-US" altLang="zh-TW" sz="3600" b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6AF9CC-9DC0-A8E0-5B4D-DCBFCE7AE2A7}"/>
              </a:ext>
            </a:extLst>
          </p:cNvPr>
          <p:cNvSpPr/>
          <p:nvPr/>
        </p:nvSpPr>
        <p:spPr>
          <a:xfrm>
            <a:off x="2454442" y="1867301"/>
            <a:ext cx="6631806" cy="29549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012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FCD408-8DEE-D3B4-2EEE-426F5DC9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其他參考</a:t>
            </a:r>
          </a:p>
        </p:txBody>
      </p:sp>
    </p:spTree>
    <p:extLst>
      <p:ext uri="{BB962C8B-B14F-4D97-AF65-F5344CB8AC3E}">
        <p14:creationId xmlns:p14="http://schemas.microsoft.com/office/powerpoint/2010/main" val="17503740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b="1">
                <a:latin typeface="+mn-ea"/>
              </a:rPr>
              <a:t>XXX&gt;</a:t>
            </a:r>
            <a:r>
              <a:rPr lang="zh-TW" altLang="en-US" b="1">
                <a:latin typeface="+mn-ea"/>
              </a:rPr>
              <a:t>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XXXX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66ADBC-0208-2189-B411-5DB3166C2F96}"/>
              </a:ext>
            </a:extLst>
          </p:cNvPr>
          <p:cNvSpPr/>
          <p:nvPr/>
        </p:nvSpPr>
        <p:spPr>
          <a:xfrm>
            <a:off x="3855837" y="1155120"/>
            <a:ext cx="2853928" cy="735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AF2CC0-8A70-D645-20AC-5B601323BE4E}"/>
              </a:ext>
            </a:extLst>
          </p:cNvPr>
          <p:cNvSpPr/>
          <p:nvPr/>
        </p:nvSpPr>
        <p:spPr>
          <a:xfrm>
            <a:off x="437555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新增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25C97A-5733-6CB3-CE38-D16D4C4801BD}"/>
              </a:ext>
            </a:extLst>
          </p:cNvPr>
          <p:cNvSpPr/>
          <p:nvPr/>
        </p:nvSpPr>
        <p:spPr>
          <a:xfrm>
            <a:off x="1576982" y="1343021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列表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314ED5C-FD12-A5CE-9107-4167D6848C0B}"/>
              </a:ext>
            </a:extLst>
          </p:cNvPr>
          <p:cNvSpPr/>
          <p:nvPr/>
        </p:nvSpPr>
        <p:spPr>
          <a:xfrm>
            <a:off x="2716409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查詢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C237E95-82C6-572D-BF08-D552600AAB28}"/>
              </a:ext>
            </a:extLst>
          </p:cNvPr>
          <p:cNvSpPr/>
          <p:nvPr/>
        </p:nvSpPr>
        <p:spPr>
          <a:xfrm>
            <a:off x="3855836" y="1343025"/>
            <a:ext cx="1095375" cy="4952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+mj-ea"/>
                <a:ea typeface="+mj-ea"/>
              </a:rPr>
              <a:t>刪除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8279C0-8B8D-412B-12EA-FAF75BEA66E7}"/>
              </a:ext>
            </a:extLst>
          </p:cNvPr>
          <p:cNvSpPr txBox="1"/>
          <p:nvPr/>
        </p:nvSpPr>
        <p:spPr>
          <a:xfrm>
            <a:off x="3855837" y="1890134"/>
            <a:ext cx="2853928" cy="3758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在內容修改頁才出現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28E4F35-F79C-C239-11E3-3D8320BD142F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574500"/>
          <a:ext cx="10515599" cy="45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按下刪除鍵，要進行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confirm (“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確認要刪除嗎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?”)</a:t>
                      </a:r>
                      <a:r>
                        <a:rPr lang="zh-TW" altLang="en-US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 ， 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set [</a:t>
                      </a:r>
                      <a:r>
                        <a:rPr lang="en-US" altLang="zh-TW" sz="1800" b="1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is_delete</a:t>
                      </a:r>
                      <a:r>
                        <a:rPr lang="en-US" altLang="zh-TW" sz="18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] =“Y”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6584E0-7D3D-CD23-6CCF-E9499CCB39CD}"/>
              </a:ext>
            </a:extLst>
          </p:cNvPr>
          <p:cNvSpPr txBox="1"/>
          <p:nvPr/>
        </p:nvSpPr>
        <p:spPr>
          <a:xfrm>
            <a:off x="437555" y="938494"/>
            <a:ext cx="3184326" cy="33855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600" b="1">
                <a:latin typeface="+mj-ea"/>
                <a:ea typeface="+mj-ea"/>
              </a:rPr>
              <a:t>P</a:t>
            </a:r>
            <a:r>
              <a:rPr lang="zh-TW" altLang="en-US" sz="1600" b="1">
                <a:latin typeface="+mj-ea"/>
                <a:ea typeface="+mj-ea"/>
              </a:rPr>
              <a:t>ortal</a:t>
            </a:r>
            <a:r>
              <a:rPr lang="en-US" altLang="zh-TW" sz="1600" b="1">
                <a:latin typeface="+mj-ea"/>
                <a:ea typeface="+mj-ea"/>
              </a:rPr>
              <a:t>_XXX</a:t>
            </a:r>
            <a:endParaRPr lang="zh-TW" altLang="en-US" sz="16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08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建立 彈性的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Portal 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管理架構</a:t>
            </a: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B296001C-0ABC-D9F8-D61C-0B338168F9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結合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TST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TWM 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雙後台優點 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48F92474-CB30-6355-163C-E38E0E6101CE}"/>
              </a:ext>
            </a:extLst>
          </p:cNvPr>
          <p:cNvCxnSpPr>
            <a:cxnSpLocks/>
          </p:cNvCxnSpPr>
          <p:nvPr/>
        </p:nvCxnSpPr>
        <p:spPr>
          <a:xfrm>
            <a:off x="6096000" y="1871099"/>
            <a:ext cx="0" cy="47717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C422455A-1FAF-596D-40FE-0B741BA02BA4}"/>
              </a:ext>
            </a:extLst>
          </p:cNvPr>
          <p:cNvSpPr txBox="1"/>
          <p:nvPr/>
        </p:nvSpPr>
        <p:spPr>
          <a:xfrm>
            <a:off x="903826" y="1885305"/>
            <a:ext cx="42883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600" b="1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TST</a:t>
            </a:r>
            <a:r>
              <a:rPr lang="zh-TW" altLang="en-US" sz="3600" b="1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 後台</a:t>
            </a:r>
            <a:endParaRPr lang="en-US" altLang="zh-TW" sz="3600" b="1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pPr algn="ctr"/>
            <a:endParaRPr lang="en-US" altLang="zh-TW" sz="2800" b="1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r>
              <a:rPr lang="zh-TW" altLang="en-US" sz="8000" b="1">
                <a:solidFill>
                  <a:srgbClr val="FF6700"/>
                </a:solidFill>
                <a:latin typeface="+mn-lt"/>
                <a:ea typeface="+mn-ea"/>
              </a:rPr>
              <a:t>編輯網頁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56C2FC-55CC-700D-5C3E-FBAE96848639}"/>
              </a:ext>
            </a:extLst>
          </p:cNvPr>
          <p:cNvSpPr txBox="1"/>
          <p:nvPr/>
        </p:nvSpPr>
        <p:spPr>
          <a:xfrm>
            <a:off x="6999823" y="1885305"/>
            <a:ext cx="42883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600" b="1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TWM</a:t>
            </a:r>
            <a:r>
              <a:rPr lang="zh-TW" altLang="en-US" sz="3600" b="1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 後台</a:t>
            </a:r>
            <a:endParaRPr lang="en-US" altLang="zh-TW" sz="3600" b="1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pPr algn="ctr"/>
            <a:endParaRPr lang="en-US" altLang="zh-TW" sz="2800" b="1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pPr algn="ctr"/>
            <a:r>
              <a:rPr lang="zh-TW" altLang="en-US" sz="8000" b="1">
                <a:solidFill>
                  <a:srgbClr val="FF6700"/>
                </a:solidFill>
                <a:latin typeface="+mn-lt"/>
                <a:ea typeface="+mn-ea"/>
              </a:rPr>
              <a:t>操作介面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E44B2CC-ECFA-43EB-6306-73EFA687FCAA}"/>
              </a:ext>
            </a:extLst>
          </p:cNvPr>
          <p:cNvGraphicFramePr>
            <a:graphicFrameLocks noGrp="1"/>
          </p:cNvGraphicFramePr>
          <p:nvPr/>
        </p:nvGraphicFramePr>
        <p:xfrm>
          <a:off x="1359756" y="4181699"/>
          <a:ext cx="3376493" cy="253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6493">
                  <a:extLst>
                    <a:ext uri="{9D8B030D-6E8A-4147-A177-3AD203B41FA5}">
                      <a16:colId xmlns:a16="http://schemas.microsoft.com/office/drawing/2014/main" val="4241865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建立新頁面</a:t>
                      </a:r>
                      <a:endParaRPr lang="en-US" altLang="zh-TW" sz="105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內容組版 </a:t>
                      </a: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共用元件 </a:t>
                      </a: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+</a:t>
                      </a: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獨立元件 </a:t>
                      </a: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+</a:t>
                      </a: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位置調整 </a:t>
                      </a: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)</a:t>
                      </a: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009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建立既有頁面新版本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一鍵複製目前版本內容 </a:t>
                      </a: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+</a:t>
                      </a: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網址自動生成版號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2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編輯頁面內容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共用元件 </a:t>
                      </a:r>
                      <a:r>
                        <a:rPr lang="en-US" altLang="zh-TW" sz="105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( C0009 )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獨立元件 </a:t>
                      </a: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功能模組、內容模組、跳提模組 </a:t>
                      </a: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en-US" altLang="zh-TW" sz="105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390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預覽頁面資訊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5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完整呈現廣宣頁</a:t>
                      </a:r>
                      <a:endParaRPr lang="en-US" altLang="zh-TW" sz="105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815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設定頁面屬性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設定會員是否需登入</a:t>
                      </a:r>
                      <a:endParaRPr lang="en-US" altLang="zh-TW" sz="105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設定頁面轉址</a:t>
                      </a:r>
                      <a:endParaRPr lang="en-US" altLang="zh-TW" sz="105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設定內網外網瀏覽限制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62624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1E8CAE0-EEB9-5E2A-0342-244AB5B07E8F}"/>
              </a:ext>
            </a:extLst>
          </p:cNvPr>
          <p:cNvGraphicFramePr>
            <a:graphicFrameLocks noGrp="1"/>
          </p:cNvGraphicFramePr>
          <p:nvPr/>
        </p:nvGraphicFramePr>
        <p:xfrm>
          <a:off x="7959937" y="4181699"/>
          <a:ext cx="236812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124">
                  <a:extLst>
                    <a:ext uri="{9D8B030D-6E8A-4147-A177-3AD203B41FA5}">
                      <a16:colId xmlns:a16="http://schemas.microsoft.com/office/drawing/2014/main" val="4241865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TW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Experience Studio</a:t>
                      </a:r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zh-TW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體驗模式 </a:t>
                      </a:r>
                      <a:r>
                        <a:rPr lang="en-US" altLang="zh-TW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資料夾 </a:t>
                      </a: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/</a:t>
                      </a: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單元呈現切換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009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單元管理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編輯首頁各區塊內容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編輯選單項目內容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編輯總覽頁內容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編輯個製彈窗與結果頁內容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FAQ</a:t>
                      </a: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內容管理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服務公告管理</a:t>
                      </a:r>
                      <a:endParaRPr lang="en-US" altLang="zh-TW" sz="1050" b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2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SEO</a:t>
                      </a:r>
                      <a:r>
                        <a:rPr lang="zh-TW" altLang="en-US" sz="105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管理</a:t>
                      </a:r>
                      <a:endParaRPr lang="en-US" altLang="zh-TW" sz="105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50" b="0" kern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設定 </a:t>
                      </a:r>
                      <a:r>
                        <a:rPr lang="en-US" altLang="zh-TW" sz="1050" b="0" kern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META </a:t>
                      </a:r>
                      <a:r>
                        <a:rPr lang="zh-TW" altLang="en-US" sz="1050" b="0" kern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50" b="0" kern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設定搜尋引擎是否開放</a:t>
                      </a:r>
                      <a:endParaRPr lang="en-US" altLang="zh-TW" sz="1050" b="0" kern="120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81759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427C373-2B56-8AA7-595F-F0712FD31951}"/>
              </a:ext>
            </a:extLst>
          </p:cNvPr>
          <p:cNvGraphicFramePr>
            <a:graphicFrameLocks noGrp="1"/>
          </p:cNvGraphicFramePr>
          <p:nvPr/>
        </p:nvGraphicFramePr>
        <p:xfrm>
          <a:off x="11515164" y="89218"/>
          <a:ext cx="5782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224">
                  <a:extLst>
                    <a:ext uri="{9D8B030D-6E8A-4147-A177-3AD203B41FA5}">
                      <a16:colId xmlns:a16="http://schemas.microsoft.com/office/drawing/2014/main" val="33488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>
                          <a:latin typeface="+mj-ea"/>
                          <a:ea typeface="+mj-ea"/>
                        </a:rPr>
                        <a:t>1.5</a:t>
                      </a:r>
                      <a:endParaRPr lang="zh-TW" altLang="en-US" sz="1400" b="1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62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後台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558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5850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175769B5-ABAA-EE4E-9FB1-83A7F4582F24}"/>
              </a:ext>
            </a:extLst>
          </p:cNvPr>
          <p:cNvSpPr/>
          <p:nvPr/>
        </p:nvSpPr>
        <p:spPr>
          <a:xfrm>
            <a:off x="4327277" y="1529355"/>
            <a:ext cx="7864723" cy="5331449"/>
          </a:xfrm>
          <a:prstGeom prst="rect">
            <a:avLst/>
          </a:prstGeom>
          <a:solidFill>
            <a:schemeClr val="accent6">
              <a:lumMod val="20000"/>
              <a:lumOff val="8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F3BC939-10DF-BDEA-02D6-D841DB577549}"/>
              </a:ext>
            </a:extLst>
          </p:cNvPr>
          <p:cNvSpPr/>
          <p:nvPr/>
        </p:nvSpPr>
        <p:spPr>
          <a:xfrm>
            <a:off x="-9687" y="1526551"/>
            <a:ext cx="4427539" cy="5328645"/>
          </a:xfrm>
          <a:prstGeom prst="rect">
            <a:avLst/>
          </a:prstGeom>
          <a:solidFill>
            <a:schemeClr val="accent4">
              <a:lumMod val="20000"/>
              <a:lumOff val="8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 descr="一張含有 黑色, 黑暗 的圖片&#10;&#10;自動產生的描述">
            <a:hlinkClick r:id="" action="ppaction://noaction"/>
            <a:extLst>
              <a:ext uri="{FF2B5EF4-FFF2-40B4-BE49-F238E27FC236}">
                <a16:creationId xmlns:a16="http://schemas.microsoft.com/office/drawing/2014/main" id="{B1E81C1F-F477-6BCE-31CF-00571514F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868025" y="3542232"/>
            <a:ext cx="323975" cy="32397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C53AB02-9B5D-8CE7-A855-DBFC923A5417}"/>
              </a:ext>
            </a:extLst>
          </p:cNvPr>
          <p:cNvSpPr txBox="1"/>
          <p:nvPr/>
        </p:nvSpPr>
        <p:spPr>
          <a:xfrm>
            <a:off x="936413" y="2083147"/>
            <a:ext cx="2236510" cy="7078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zh-TW" altLang="en-US" sz="4000" b="1">
                <a:solidFill>
                  <a:schemeClr val="bg1"/>
                </a:solidFill>
              </a:rPr>
              <a:t>產品</a:t>
            </a:r>
            <a:r>
              <a:rPr lang="zh-TW" altLang="en-US" sz="4000" b="1">
                <a:solidFill>
                  <a:schemeClr val="bg1"/>
                </a:solidFill>
                <a:latin typeface="+mn-lt"/>
                <a:ea typeface="+mn-ea"/>
              </a:rPr>
              <a:t>前台</a:t>
            </a:r>
            <a:endParaRPr lang="en-US" altLang="zh-TW" sz="4000" b="1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4" name="標題 2">
            <a:extLst>
              <a:ext uri="{FF2B5EF4-FFF2-40B4-BE49-F238E27FC236}">
                <a16:creationId xmlns:a16="http://schemas.microsoft.com/office/drawing/2014/main" id="{6AC96062-D8A1-A64C-5F01-AE42B83A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架構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範疇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3DB5E8-7FED-5722-49A2-03BCAB1DC04C}"/>
              </a:ext>
            </a:extLst>
          </p:cNvPr>
          <p:cNvSpPr txBox="1"/>
          <p:nvPr/>
        </p:nvSpPr>
        <p:spPr>
          <a:xfrm>
            <a:off x="5075073" y="2083147"/>
            <a:ext cx="2481066" cy="7078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000" b="1">
                <a:solidFill>
                  <a:schemeClr val="bg1"/>
                </a:solidFill>
                <a:latin typeface="+mn-lt"/>
                <a:ea typeface="+mn-ea"/>
              </a:rPr>
              <a:t>API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7AE9B2E-5361-EF8E-44CD-082F7CC2C016}"/>
              </a:ext>
            </a:extLst>
          </p:cNvPr>
          <p:cNvSpPr txBox="1"/>
          <p:nvPr/>
        </p:nvSpPr>
        <p:spPr>
          <a:xfrm>
            <a:off x="9321143" y="2083147"/>
            <a:ext cx="2236510" cy="7078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zh-TW" altLang="en-US" sz="4000" b="1">
                <a:solidFill>
                  <a:schemeClr val="bg1"/>
                </a:solidFill>
              </a:rPr>
              <a:t>產品</a:t>
            </a:r>
            <a:r>
              <a:rPr lang="zh-TW" altLang="en-US" sz="4000" b="1">
                <a:solidFill>
                  <a:schemeClr val="bg1"/>
                </a:solidFill>
                <a:latin typeface="+mn-lt"/>
                <a:ea typeface="+mn-ea"/>
              </a:rPr>
              <a:t>後台</a:t>
            </a:r>
            <a:endParaRPr lang="en-US" altLang="zh-TW" sz="4000" b="1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C916BE3-15F5-2F97-AC6F-CB2D7228EA97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172923" y="2437090"/>
            <a:ext cx="19021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E04FF0A9-A0FC-C591-69FA-FFB8B3311A7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556139" y="2437090"/>
            <a:ext cx="176500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80838B9-64D8-190F-E289-3B862541A231}"/>
              </a:ext>
            </a:extLst>
          </p:cNvPr>
          <p:cNvSpPr txBox="1"/>
          <p:nvPr/>
        </p:nvSpPr>
        <p:spPr>
          <a:xfrm>
            <a:off x="936613" y="2790392"/>
            <a:ext cx="2236510" cy="70788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4000" b="1">
                <a:solidFill>
                  <a:schemeClr val="bg1"/>
                </a:solidFill>
              </a:rPr>
              <a:t>元件系統</a:t>
            </a:r>
            <a:endParaRPr lang="en-US" altLang="zh-TW" sz="4000" b="1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63433EF4-BF71-4BFA-1058-490B8E3A6BF0}"/>
              </a:ext>
            </a:extLst>
          </p:cNvPr>
          <p:cNvSpPr txBox="1"/>
          <p:nvPr/>
        </p:nvSpPr>
        <p:spPr>
          <a:xfrm>
            <a:off x="5075273" y="2791033"/>
            <a:ext cx="2481066" cy="70788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4000" b="1">
                <a:solidFill>
                  <a:schemeClr val="bg1"/>
                </a:solidFill>
              </a:rPr>
              <a:t>元件</a:t>
            </a:r>
            <a:r>
              <a:rPr lang="en-US" altLang="zh-TW" sz="4000" b="1">
                <a:solidFill>
                  <a:schemeClr val="bg1"/>
                </a:solidFill>
              </a:rPr>
              <a:t>API</a:t>
            </a:r>
            <a:endParaRPr lang="en-US" altLang="zh-TW" sz="4000" b="1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7C96B57-1DCC-5F4F-5B82-486FE68763B0}"/>
              </a:ext>
            </a:extLst>
          </p:cNvPr>
          <p:cNvSpPr txBox="1"/>
          <p:nvPr/>
        </p:nvSpPr>
        <p:spPr>
          <a:xfrm>
            <a:off x="9321143" y="5328645"/>
            <a:ext cx="2236511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4000" b="1">
                <a:solidFill>
                  <a:schemeClr val="tx1"/>
                </a:solidFill>
              </a:rPr>
              <a:t>異質系統</a:t>
            </a:r>
            <a:endParaRPr lang="en-US" altLang="zh-TW" sz="4000" b="1">
              <a:solidFill>
                <a:schemeClr val="tx1"/>
              </a:solidFill>
              <a:latin typeface="+mn-lt"/>
              <a:ea typeface="+mn-ea"/>
            </a:endParaRP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37082B21-D2D2-B0B5-F9E6-719A4E3BE62C}"/>
              </a:ext>
            </a:extLst>
          </p:cNvPr>
          <p:cNvCxnSpPr>
            <a:cxnSpLocks/>
            <a:stCxn id="43" idx="3"/>
            <a:endCxn id="46" idx="1"/>
          </p:cNvCxnSpPr>
          <p:nvPr/>
        </p:nvCxnSpPr>
        <p:spPr>
          <a:xfrm>
            <a:off x="3173123" y="3144335"/>
            <a:ext cx="1902150" cy="6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98CE64E1-DBAD-24F4-BAF4-916CAE04CE5D}"/>
              </a:ext>
            </a:extLst>
          </p:cNvPr>
          <p:cNvCxnSpPr>
            <a:cxnSpLocks/>
            <a:stCxn id="47" idx="1"/>
            <a:endCxn id="46" idx="3"/>
          </p:cNvCxnSpPr>
          <p:nvPr/>
        </p:nvCxnSpPr>
        <p:spPr>
          <a:xfrm flipH="1" flipV="1">
            <a:off x="7556339" y="3144976"/>
            <a:ext cx="1764804" cy="25376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2EC9BC38-50AA-0B2B-EF5D-2F36D67C8C6E}"/>
              </a:ext>
            </a:extLst>
          </p:cNvPr>
          <p:cNvSpPr txBox="1"/>
          <p:nvPr/>
        </p:nvSpPr>
        <p:spPr>
          <a:xfrm>
            <a:off x="147485" y="813343"/>
            <a:ext cx="11720340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建立一套 </a:t>
            </a:r>
            <a:r>
              <a:rPr lang="en-US" altLang="zh-TW" sz="1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By Domain</a:t>
            </a:r>
            <a:r>
              <a:rPr lang="zh-TW" alt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的 </a:t>
            </a:r>
            <a:r>
              <a:rPr lang="en-US" altLang="zh-TW" sz="1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docker </a:t>
            </a:r>
            <a:r>
              <a:rPr lang="zh-TW" alt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化產品</a:t>
            </a:r>
            <a:endParaRPr lang="en-US" altLang="zh-TW" sz="1800" b="1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41911A0-54C4-A307-D26F-65C06FFE105C}"/>
              </a:ext>
            </a:extLst>
          </p:cNvPr>
          <p:cNvGrpSpPr/>
          <p:nvPr/>
        </p:nvGrpSpPr>
        <p:grpSpPr>
          <a:xfrm>
            <a:off x="312561" y="3653281"/>
            <a:ext cx="11081233" cy="2645752"/>
            <a:chOff x="414359" y="2981224"/>
            <a:chExt cx="11081233" cy="2645752"/>
          </a:xfrm>
        </p:grpSpPr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B432087E-3004-5261-CBA4-575C352B5BAF}"/>
                </a:ext>
              </a:extLst>
            </p:cNvPr>
            <p:cNvCxnSpPr>
              <a:cxnSpLocks/>
              <a:stCxn id="21" idx="2"/>
              <a:endCxn id="33" idx="0"/>
            </p:cNvCxnSpPr>
            <p:nvPr/>
          </p:nvCxnSpPr>
          <p:spPr>
            <a:xfrm>
              <a:off x="2200143" y="4130333"/>
              <a:ext cx="0" cy="3502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4DF68F5C-062A-916D-27C2-645559AD18A5}"/>
                </a:ext>
              </a:extLst>
            </p:cNvPr>
            <p:cNvSpPr/>
            <p:nvPr/>
          </p:nvSpPr>
          <p:spPr>
            <a:xfrm>
              <a:off x="414359" y="2983923"/>
              <a:ext cx="3571568" cy="1146410"/>
            </a:xfrm>
            <a:prstGeom prst="roundRect">
              <a:avLst>
                <a:gd name="adj" fmla="val 49987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>
                  <a:latin typeface="+mn-ea"/>
                  <a:ea typeface="微軟正黑體" panose="020B0604030504040204" pitchFamily="34" charset="-120"/>
                </a:rPr>
                <a:t>依據 </a:t>
              </a:r>
              <a:r>
                <a:rPr lang="en-US" altLang="zh-TW" sz="1600" b="1">
                  <a:latin typeface="+mn-ea"/>
                  <a:ea typeface="微軟正黑體" panose="020B0604030504040204" pitchFamily="34" charset="-120"/>
                </a:rPr>
                <a:t>$website_id,$</a:t>
              </a:r>
              <a:r>
                <a:rPr lang="en-US" altLang="zh-TW" sz="1600" b="1" err="1">
                  <a:latin typeface="+mn-ea"/>
                  <a:ea typeface="微軟正黑體" panose="020B0604030504040204" pitchFamily="34" charset="-120"/>
                </a:rPr>
                <a:t>page_id</a:t>
              </a:r>
              <a:endParaRPr lang="en-US" altLang="zh-TW" sz="1600" b="1">
                <a:latin typeface="+mn-ea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透過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API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向產品後台</a:t>
              </a:r>
              <a:endPara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取得頁面架構與本源頁面資料</a:t>
              </a:r>
              <a:endPara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A8820514-9DA4-EDE6-1137-A3E4778BDC27}"/>
                </a:ext>
              </a:extLst>
            </p:cNvPr>
            <p:cNvSpPr/>
            <p:nvPr/>
          </p:nvSpPr>
          <p:spPr>
            <a:xfrm>
              <a:off x="414359" y="4480566"/>
              <a:ext cx="3571568" cy="1146410"/>
            </a:xfrm>
            <a:prstGeom prst="roundRect">
              <a:avLst>
                <a:gd name="adj" fmla="val 4998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>
                  <a:latin typeface="+mj-ea"/>
                  <a:ea typeface="+mj-ea"/>
                </a:rPr>
                <a:t>利用</a:t>
              </a:r>
              <a:r>
                <a:rPr lang="en-US" altLang="zh-TW" sz="1600" b="1">
                  <a:latin typeface="+mj-ea"/>
                  <a:ea typeface="+mj-ea"/>
                </a:rPr>
                <a:t>ajax</a:t>
              </a:r>
              <a:r>
                <a:rPr lang="zh-TW" altLang="en-US" sz="1600" b="1">
                  <a:latin typeface="+mj-ea"/>
                  <a:ea typeface="+mj-ea"/>
                </a:rPr>
                <a:t>取異質系統資料</a:t>
              </a:r>
              <a:endParaRPr lang="en-US" altLang="zh-TW" sz="1600" b="1">
                <a:latin typeface="+mj-ea"/>
                <a:ea typeface="+mj-ea"/>
              </a:endParaRPr>
            </a:p>
            <a:p>
              <a:pPr algn="ctr"/>
              <a:r>
                <a:rPr lang="zh-TW" altLang="en-US" sz="1600" b="1">
                  <a:latin typeface="+mj-ea"/>
                  <a:ea typeface="+mj-ea"/>
                </a:rPr>
                <a:t>依照每個產品制定的元件</a:t>
              </a:r>
              <a:endParaRPr lang="en-US" altLang="zh-TW" sz="1600">
                <a:latin typeface="+mj-ea"/>
                <a:ea typeface="+mj-ea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29F6A7DF-D7DD-490B-7C20-B13E02BE15DF}"/>
                </a:ext>
              </a:extLst>
            </p:cNvPr>
            <p:cNvSpPr/>
            <p:nvPr/>
          </p:nvSpPr>
          <p:spPr>
            <a:xfrm>
              <a:off x="4461342" y="3132196"/>
              <a:ext cx="1415053" cy="849863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>
                  <a:latin typeface="+mn-ea"/>
                  <a:ea typeface="微軟正黑體" panose="020B0604030504040204" pitchFamily="34" charset="-120"/>
                </a:rPr>
                <a:t>取頁面基本資料</a:t>
              </a:r>
            </a:p>
          </p:txBody>
        </p:sp>
        <p:sp>
          <p:nvSpPr>
            <p:cNvPr id="79" name="矩形: 圓角 78">
              <a:extLst>
                <a:ext uri="{FF2B5EF4-FFF2-40B4-BE49-F238E27FC236}">
                  <a16:creationId xmlns:a16="http://schemas.microsoft.com/office/drawing/2014/main" id="{4B69E732-B700-76E4-7204-730F7A05D7E9}"/>
                </a:ext>
              </a:extLst>
            </p:cNvPr>
            <p:cNvSpPr/>
            <p:nvPr/>
          </p:nvSpPr>
          <p:spPr>
            <a:xfrm>
              <a:off x="4891898" y="4475778"/>
              <a:ext cx="3034654" cy="1146410"/>
            </a:xfrm>
            <a:prstGeom prst="roundRect">
              <a:avLst>
                <a:gd name="adj" fmla="val 4998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>
                  <a:latin typeface="+mj-ea"/>
                  <a:ea typeface="+mj-ea"/>
                </a:rPr>
                <a:t>利用</a:t>
              </a:r>
              <a:r>
                <a:rPr lang="en-US" altLang="zh-TW" sz="1600" b="1">
                  <a:latin typeface="+mj-ea"/>
                  <a:ea typeface="+mj-ea"/>
                </a:rPr>
                <a:t>ajax</a:t>
              </a:r>
              <a:r>
                <a:rPr lang="zh-TW" altLang="en-US" sz="1600" b="1">
                  <a:latin typeface="+mj-ea"/>
                  <a:ea typeface="+mj-ea"/>
                </a:rPr>
                <a:t>取異質系統資料</a:t>
              </a:r>
              <a:endParaRPr lang="en-US" altLang="zh-TW" sz="1600" b="1">
                <a:latin typeface="+mj-ea"/>
                <a:ea typeface="+mj-ea"/>
              </a:endParaRPr>
            </a:p>
            <a:p>
              <a:pPr algn="ctr"/>
              <a:r>
                <a:rPr lang="zh-TW" altLang="en-US" sz="1600" b="1">
                  <a:latin typeface="+mj-ea"/>
                  <a:ea typeface="+mj-ea"/>
                </a:rPr>
                <a:t>依照每個產品制定的元件</a:t>
              </a:r>
              <a:endParaRPr lang="en-US" altLang="zh-TW" sz="1600" b="1">
                <a:latin typeface="+mj-ea"/>
                <a:ea typeface="+mj-ea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22E2DF3E-74B5-01FE-CC32-A83D50E8CF26}"/>
                </a:ext>
              </a:extLst>
            </p:cNvPr>
            <p:cNvSpPr/>
            <p:nvPr/>
          </p:nvSpPr>
          <p:spPr>
            <a:xfrm>
              <a:off x="5701701" y="3145363"/>
              <a:ext cx="1415049" cy="84809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>
                  <a:latin typeface="+mn-ea"/>
                  <a:ea typeface="微軟正黑體" panose="020B0604030504040204" pitchFamily="34" charset="-120"/>
                </a:rPr>
                <a:t>網站目錄</a:t>
              </a: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AD57905A-3BE5-1754-52A8-E9C3AC679463}"/>
                </a:ext>
              </a:extLst>
            </p:cNvPr>
            <p:cNvSpPr/>
            <p:nvPr/>
          </p:nvSpPr>
          <p:spPr>
            <a:xfrm>
              <a:off x="9359640" y="2981224"/>
              <a:ext cx="2135952" cy="114641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>
                  <a:latin typeface="+mn-ea"/>
                  <a:ea typeface="微軟正黑體" panose="020B0604030504040204" pitchFamily="34" charset="-120"/>
                </a:rPr>
                <a:t>提供權限 網頁組成，</a:t>
              </a:r>
              <a:r>
                <a:rPr lang="en-US" altLang="zh-TW" sz="1600" b="1">
                  <a:latin typeface="+mn-ea"/>
                  <a:ea typeface="微軟正黑體" panose="020B0604030504040204" pitchFamily="34" charset="-120"/>
                </a:rPr>
                <a:t>service</a:t>
              </a:r>
              <a:r>
                <a:rPr lang="zh-TW" altLang="en-US" sz="1600" b="1">
                  <a:latin typeface="+mn-ea"/>
                  <a:ea typeface="微軟正黑體" panose="020B0604030504040204" pitchFamily="34" charset="-120"/>
                </a:rPr>
                <a:t> </a:t>
              </a:r>
              <a:r>
                <a:rPr lang="en-US" altLang="zh-TW" sz="1600" b="1">
                  <a:latin typeface="+mn-ea"/>
                  <a:ea typeface="微軟正黑體" panose="020B0604030504040204" pitchFamily="34" charset="-120"/>
                </a:rPr>
                <a:t>log…</a:t>
              </a:r>
              <a:r>
                <a:rPr lang="zh-TW" altLang="en-US" sz="1600" b="1">
                  <a:latin typeface="+mn-ea"/>
                  <a:ea typeface="微軟正黑體" panose="020B0604030504040204" pitchFamily="34" charset="-120"/>
                </a:rPr>
                <a:t>功能</a:t>
              </a: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373D4419-AA25-62E1-A56D-A53922CDDE18}"/>
                </a:ext>
              </a:extLst>
            </p:cNvPr>
            <p:cNvSpPr/>
            <p:nvPr/>
          </p:nvSpPr>
          <p:spPr>
            <a:xfrm>
              <a:off x="6942056" y="3131112"/>
              <a:ext cx="1415049" cy="84809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>
                  <a:latin typeface="+mn-ea"/>
                  <a:ea typeface="微軟正黑體" panose="020B0604030504040204" pitchFamily="34" charset="-120"/>
                </a:rPr>
                <a:t>Service log</a:t>
              </a:r>
              <a:endParaRPr lang="zh-TW" altLang="en-US" sz="1600" b="1">
                <a:latin typeface="+mn-ea"/>
                <a:ea typeface="微軟正黑體" panose="020B0604030504040204" pitchFamily="34" charset="-120"/>
              </a:endParaRPr>
            </a:p>
          </p:txBody>
        </p:sp>
      </p:grp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83EEEA05-DEEE-E365-31EF-FAAEE8BB1DCF}"/>
              </a:ext>
            </a:extLst>
          </p:cNvPr>
          <p:cNvSpPr txBox="1"/>
          <p:nvPr/>
        </p:nvSpPr>
        <p:spPr>
          <a:xfrm>
            <a:off x="2622976" y="1072435"/>
            <a:ext cx="6157450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1800" b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rPr>
              <a:t>xxxxx1</a:t>
            </a:r>
            <a:r>
              <a:rPr lang="en-US" altLang="zh-TW" sz="1800" b="1">
                <a:latin typeface="+mj-ea"/>
                <a:ea typeface="+mj-ea"/>
              </a:rPr>
              <a:t>.taiwanmobile.com/</a:t>
            </a:r>
            <a:r>
              <a:rPr lang="en-US" altLang="zh-TW" sz="1800" b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rPr>
              <a:t>$</a:t>
            </a:r>
            <a:r>
              <a:rPr lang="en-US" altLang="zh-TW" sz="1800" b="1" err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rPr>
              <a:t>website_id</a:t>
            </a:r>
            <a:r>
              <a:rPr lang="en-US" altLang="zh-TW" sz="1800" b="1">
                <a:latin typeface="+mj-ea"/>
                <a:ea typeface="+mj-ea"/>
              </a:rPr>
              <a:t>/</a:t>
            </a:r>
            <a:r>
              <a:rPr lang="en-US" altLang="zh-TW" sz="1800" b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rPr>
              <a:t>$</a:t>
            </a:r>
            <a:r>
              <a:rPr lang="en-US" altLang="zh-TW" sz="1800" b="1" err="1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</a:rPr>
              <a:t>page_id</a:t>
            </a:r>
            <a:endParaRPr lang="zh-TW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4BC079FB-2B63-8B0E-DF40-1B23CDE09726}"/>
              </a:ext>
            </a:extLst>
          </p:cNvPr>
          <p:cNvSpPr txBox="1"/>
          <p:nvPr/>
        </p:nvSpPr>
        <p:spPr>
          <a:xfrm>
            <a:off x="273604" y="1172608"/>
            <a:ext cx="2236510" cy="707886"/>
          </a:xfrm>
          <a:custGeom>
            <a:avLst/>
            <a:gdLst>
              <a:gd name="csX0" fmla="*/ 0 w 2236510"/>
              <a:gd name="csY0" fmla="*/ 0 h 707886"/>
              <a:gd name="csX1" fmla="*/ 536762 w 2236510"/>
              <a:gd name="csY1" fmla="*/ 0 h 707886"/>
              <a:gd name="csX2" fmla="*/ 1095890 w 2236510"/>
              <a:gd name="csY2" fmla="*/ 0 h 707886"/>
              <a:gd name="csX3" fmla="*/ 1677383 w 2236510"/>
              <a:gd name="csY3" fmla="*/ 0 h 707886"/>
              <a:gd name="csX4" fmla="*/ 2236510 w 2236510"/>
              <a:gd name="csY4" fmla="*/ 0 h 707886"/>
              <a:gd name="csX5" fmla="*/ 2236510 w 2236510"/>
              <a:gd name="csY5" fmla="*/ 361022 h 707886"/>
              <a:gd name="csX6" fmla="*/ 2236510 w 2236510"/>
              <a:gd name="csY6" fmla="*/ 707886 h 707886"/>
              <a:gd name="csX7" fmla="*/ 1632652 w 2236510"/>
              <a:gd name="csY7" fmla="*/ 707886 h 707886"/>
              <a:gd name="csX8" fmla="*/ 1028795 w 2236510"/>
              <a:gd name="csY8" fmla="*/ 707886 h 707886"/>
              <a:gd name="csX9" fmla="*/ 0 w 2236510"/>
              <a:gd name="csY9" fmla="*/ 707886 h 707886"/>
              <a:gd name="csX10" fmla="*/ 0 w 2236510"/>
              <a:gd name="csY10" fmla="*/ 361022 h 707886"/>
              <a:gd name="csX11" fmla="*/ 0 w 2236510"/>
              <a:gd name="csY11" fmla="*/ 0 h 7078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236510" h="707886" fill="none" extrusionOk="0">
                <a:moveTo>
                  <a:pt x="0" y="0"/>
                </a:moveTo>
                <a:cubicBezTo>
                  <a:pt x="174448" y="-26687"/>
                  <a:pt x="345942" y="45337"/>
                  <a:pt x="536762" y="0"/>
                </a:cubicBezTo>
                <a:cubicBezTo>
                  <a:pt x="727582" y="-45337"/>
                  <a:pt x="916907" y="30054"/>
                  <a:pt x="1095890" y="0"/>
                </a:cubicBezTo>
                <a:cubicBezTo>
                  <a:pt x="1274873" y="-30054"/>
                  <a:pt x="1520849" y="7364"/>
                  <a:pt x="1677383" y="0"/>
                </a:cubicBezTo>
                <a:cubicBezTo>
                  <a:pt x="1833917" y="-7364"/>
                  <a:pt x="1958244" y="37478"/>
                  <a:pt x="2236510" y="0"/>
                </a:cubicBezTo>
                <a:cubicBezTo>
                  <a:pt x="2247247" y="155474"/>
                  <a:pt x="2202519" y="185064"/>
                  <a:pt x="2236510" y="361022"/>
                </a:cubicBezTo>
                <a:cubicBezTo>
                  <a:pt x="2270501" y="536980"/>
                  <a:pt x="2221883" y="615804"/>
                  <a:pt x="2236510" y="707886"/>
                </a:cubicBezTo>
                <a:cubicBezTo>
                  <a:pt x="1972899" y="752186"/>
                  <a:pt x="1920848" y="706097"/>
                  <a:pt x="1632652" y="707886"/>
                </a:cubicBezTo>
                <a:cubicBezTo>
                  <a:pt x="1344456" y="709675"/>
                  <a:pt x="1172918" y="686203"/>
                  <a:pt x="1028795" y="707886"/>
                </a:cubicBezTo>
                <a:cubicBezTo>
                  <a:pt x="884672" y="729569"/>
                  <a:pt x="476084" y="626416"/>
                  <a:pt x="0" y="707886"/>
                </a:cubicBezTo>
                <a:cubicBezTo>
                  <a:pt x="-31422" y="550980"/>
                  <a:pt x="18244" y="531591"/>
                  <a:pt x="0" y="361022"/>
                </a:cubicBezTo>
                <a:cubicBezTo>
                  <a:pt x="-18244" y="190453"/>
                  <a:pt x="42094" y="113176"/>
                  <a:pt x="0" y="0"/>
                </a:cubicBezTo>
                <a:close/>
              </a:path>
              <a:path w="2236510" h="707886" stroke="0" extrusionOk="0">
                <a:moveTo>
                  <a:pt x="0" y="0"/>
                </a:moveTo>
                <a:cubicBezTo>
                  <a:pt x="198657" y="-17475"/>
                  <a:pt x="427943" y="46657"/>
                  <a:pt x="536762" y="0"/>
                </a:cubicBezTo>
                <a:cubicBezTo>
                  <a:pt x="645581" y="-46657"/>
                  <a:pt x="851566" y="39426"/>
                  <a:pt x="1028795" y="0"/>
                </a:cubicBezTo>
                <a:cubicBezTo>
                  <a:pt x="1206024" y="-39426"/>
                  <a:pt x="1441337" y="3904"/>
                  <a:pt x="1632652" y="0"/>
                </a:cubicBezTo>
                <a:cubicBezTo>
                  <a:pt x="1823967" y="-3904"/>
                  <a:pt x="1937262" y="37758"/>
                  <a:pt x="2236510" y="0"/>
                </a:cubicBezTo>
                <a:cubicBezTo>
                  <a:pt x="2240846" y="96030"/>
                  <a:pt x="2227177" y="207511"/>
                  <a:pt x="2236510" y="346864"/>
                </a:cubicBezTo>
                <a:cubicBezTo>
                  <a:pt x="2245843" y="486217"/>
                  <a:pt x="2198552" y="609750"/>
                  <a:pt x="2236510" y="707886"/>
                </a:cubicBezTo>
                <a:cubicBezTo>
                  <a:pt x="2019817" y="770731"/>
                  <a:pt x="1916796" y="670039"/>
                  <a:pt x="1677383" y="707886"/>
                </a:cubicBezTo>
                <a:cubicBezTo>
                  <a:pt x="1437970" y="745733"/>
                  <a:pt x="1241011" y="705235"/>
                  <a:pt x="1073525" y="707886"/>
                </a:cubicBezTo>
                <a:cubicBezTo>
                  <a:pt x="906039" y="710537"/>
                  <a:pt x="796021" y="664107"/>
                  <a:pt x="581493" y="707886"/>
                </a:cubicBezTo>
                <a:cubicBezTo>
                  <a:pt x="366965" y="751665"/>
                  <a:pt x="130769" y="645107"/>
                  <a:pt x="0" y="707886"/>
                </a:cubicBezTo>
                <a:cubicBezTo>
                  <a:pt x="-5718" y="580285"/>
                  <a:pt x="18102" y="462545"/>
                  <a:pt x="0" y="353943"/>
                </a:cubicBezTo>
                <a:cubicBezTo>
                  <a:pt x="-18102" y="245341"/>
                  <a:pt x="32002" y="163086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altLang="zh-TW">
                <a:solidFill>
                  <a:schemeClr val="tx1"/>
                </a:solidFill>
              </a:rPr>
              <a:t>DMZ</a:t>
            </a: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C2DE1CFE-1D78-ACCA-B015-826D4FE6DE2F}"/>
              </a:ext>
            </a:extLst>
          </p:cNvPr>
          <p:cNvSpPr txBox="1"/>
          <p:nvPr/>
        </p:nvSpPr>
        <p:spPr>
          <a:xfrm>
            <a:off x="8569491" y="1158331"/>
            <a:ext cx="2236510" cy="707886"/>
          </a:xfrm>
          <a:custGeom>
            <a:avLst/>
            <a:gdLst>
              <a:gd name="csX0" fmla="*/ 0 w 2236510"/>
              <a:gd name="csY0" fmla="*/ 0 h 707886"/>
              <a:gd name="csX1" fmla="*/ 536762 w 2236510"/>
              <a:gd name="csY1" fmla="*/ 0 h 707886"/>
              <a:gd name="csX2" fmla="*/ 1095890 w 2236510"/>
              <a:gd name="csY2" fmla="*/ 0 h 707886"/>
              <a:gd name="csX3" fmla="*/ 1677383 w 2236510"/>
              <a:gd name="csY3" fmla="*/ 0 h 707886"/>
              <a:gd name="csX4" fmla="*/ 2236510 w 2236510"/>
              <a:gd name="csY4" fmla="*/ 0 h 707886"/>
              <a:gd name="csX5" fmla="*/ 2236510 w 2236510"/>
              <a:gd name="csY5" fmla="*/ 361022 h 707886"/>
              <a:gd name="csX6" fmla="*/ 2236510 w 2236510"/>
              <a:gd name="csY6" fmla="*/ 707886 h 707886"/>
              <a:gd name="csX7" fmla="*/ 1632652 w 2236510"/>
              <a:gd name="csY7" fmla="*/ 707886 h 707886"/>
              <a:gd name="csX8" fmla="*/ 1028795 w 2236510"/>
              <a:gd name="csY8" fmla="*/ 707886 h 707886"/>
              <a:gd name="csX9" fmla="*/ 0 w 2236510"/>
              <a:gd name="csY9" fmla="*/ 707886 h 707886"/>
              <a:gd name="csX10" fmla="*/ 0 w 2236510"/>
              <a:gd name="csY10" fmla="*/ 361022 h 707886"/>
              <a:gd name="csX11" fmla="*/ 0 w 2236510"/>
              <a:gd name="csY11" fmla="*/ 0 h 7078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236510" h="707886" fill="none" extrusionOk="0">
                <a:moveTo>
                  <a:pt x="0" y="0"/>
                </a:moveTo>
                <a:cubicBezTo>
                  <a:pt x="174448" y="-26687"/>
                  <a:pt x="345942" y="45337"/>
                  <a:pt x="536762" y="0"/>
                </a:cubicBezTo>
                <a:cubicBezTo>
                  <a:pt x="727582" y="-45337"/>
                  <a:pt x="916907" y="30054"/>
                  <a:pt x="1095890" y="0"/>
                </a:cubicBezTo>
                <a:cubicBezTo>
                  <a:pt x="1274873" y="-30054"/>
                  <a:pt x="1520849" y="7364"/>
                  <a:pt x="1677383" y="0"/>
                </a:cubicBezTo>
                <a:cubicBezTo>
                  <a:pt x="1833917" y="-7364"/>
                  <a:pt x="1958244" y="37478"/>
                  <a:pt x="2236510" y="0"/>
                </a:cubicBezTo>
                <a:cubicBezTo>
                  <a:pt x="2247247" y="155474"/>
                  <a:pt x="2202519" y="185064"/>
                  <a:pt x="2236510" y="361022"/>
                </a:cubicBezTo>
                <a:cubicBezTo>
                  <a:pt x="2270501" y="536980"/>
                  <a:pt x="2221883" y="615804"/>
                  <a:pt x="2236510" y="707886"/>
                </a:cubicBezTo>
                <a:cubicBezTo>
                  <a:pt x="1972899" y="752186"/>
                  <a:pt x="1920848" y="706097"/>
                  <a:pt x="1632652" y="707886"/>
                </a:cubicBezTo>
                <a:cubicBezTo>
                  <a:pt x="1344456" y="709675"/>
                  <a:pt x="1172918" y="686203"/>
                  <a:pt x="1028795" y="707886"/>
                </a:cubicBezTo>
                <a:cubicBezTo>
                  <a:pt x="884672" y="729569"/>
                  <a:pt x="476084" y="626416"/>
                  <a:pt x="0" y="707886"/>
                </a:cubicBezTo>
                <a:cubicBezTo>
                  <a:pt x="-31422" y="550980"/>
                  <a:pt x="18244" y="531591"/>
                  <a:pt x="0" y="361022"/>
                </a:cubicBezTo>
                <a:cubicBezTo>
                  <a:pt x="-18244" y="190453"/>
                  <a:pt x="42094" y="113176"/>
                  <a:pt x="0" y="0"/>
                </a:cubicBezTo>
                <a:close/>
              </a:path>
              <a:path w="2236510" h="707886" stroke="0" extrusionOk="0">
                <a:moveTo>
                  <a:pt x="0" y="0"/>
                </a:moveTo>
                <a:cubicBezTo>
                  <a:pt x="198657" y="-17475"/>
                  <a:pt x="427943" y="46657"/>
                  <a:pt x="536762" y="0"/>
                </a:cubicBezTo>
                <a:cubicBezTo>
                  <a:pt x="645581" y="-46657"/>
                  <a:pt x="851566" y="39426"/>
                  <a:pt x="1028795" y="0"/>
                </a:cubicBezTo>
                <a:cubicBezTo>
                  <a:pt x="1206024" y="-39426"/>
                  <a:pt x="1441337" y="3904"/>
                  <a:pt x="1632652" y="0"/>
                </a:cubicBezTo>
                <a:cubicBezTo>
                  <a:pt x="1823967" y="-3904"/>
                  <a:pt x="1937262" y="37758"/>
                  <a:pt x="2236510" y="0"/>
                </a:cubicBezTo>
                <a:cubicBezTo>
                  <a:pt x="2240846" y="96030"/>
                  <a:pt x="2227177" y="207511"/>
                  <a:pt x="2236510" y="346864"/>
                </a:cubicBezTo>
                <a:cubicBezTo>
                  <a:pt x="2245843" y="486217"/>
                  <a:pt x="2198552" y="609750"/>
                  <a:pt x="2236510" y="707886"/>
                </a:cubicBezTo>
                <a:cubicBezTo>
                  <a:pt x="2019817" y="770731"/>
                  <a:pt x="1916796" y="670039"/>
                  <a:pt x="1677383" y="707886"/>
                </a:cubicBezTo>
                <a:cubicBezTo>
                  <a:pt x="1437970" y="745733"/>
                  <a:pt x="1241011" y="705235"/>
                  <a:pt x="1073525" y="707886"/>
                </a:cubicBezTo>
                <a:cubicBezTo>
                  <a:pt x="906039" y="710537"/>
                  <a:pt x="796021" y="664107"/>
                  <a:pt x="581493" y="707886"/>
                </a:cubicBezTo>
                <a:cubicBezTo>
                  <a:pt x="366965" y="751665"/>
                  <a:pt x="130769" y="645107"/>
                  <a:pt x="0" y="707886"/>
                </a:cubicBezTo>
                <a:cubicBezTo>
                  <a:pt x="-5718" y="580285"/>
                  <a:pt x="18102" y="462545"/>
                  <a:pt x="0" y="353943"/>
                </a:cubicBezTo>
                <a:cubicBezTo>
                  <a:pt x="-18102" y="245341"/>
                  <a:pt x="32002" y="163086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altLang="zh-TW">
                <a:solidFill>
                  <a:schemeClr val="tx1"/>
                </a:solidFill>
              </a:rPr>
              <a:t>INTRA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3FFCE54-3B2F-8968-55EE-5B7391CE2336}"/>
              </a:ext>
            </a:extLst>
          </p:cNvPr>
          <p:cNvCxnSpPr>
            <a:cxnSpLocks/>
            <a:stCxn id="46" idx="3"/>
            <a:endCxn id="18" idx="1"/>
          </p:cNvCxnSpPr>
          <p:nvPr/>
        </p:nvCxnSpPr>
        <p:spPr>
          <a:xfrm>
            <a:off x="7556339" y="3144976"/>
            <a:ext cx="1764804" cy="1968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98F821E-A00A-FCEE-65F7-9970BEB2A757}"/>
              </a:ext>
            </a:extLst>
          </p:cNvPr>
          <p:cNvSpPr txBox="1"/>
          <p:nvPr/>
        </p:nvSpPr>
        <p:spPr>
          <a:xfrm>
            <a:off x="9321143" y="2810715"/>
            <a:ext cx="2236511" cy="70788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000" b="1">
                <a:solidFill>
                  <a:schemeClr val="bg1"/>
                </a:solidFill>
              </a:rPr>
              <a:t>DB</a:t>
            </a:r>
            <a:endParaRPr lang="en-US" altLang="zh-TW" sz="4000" b="1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8389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時程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7D7B0A1-C150-AF13-FFCE-3E96B2D69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219106"/>
              </p:ext>
            </p:extLst>
          </p:nvPr>
        </p:nvGraphicFramePr>
        <p:xfrm>
          <a:off x="2914351" y="2437256"/>
          <a:ext cx="7557003" cy="2298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7003">
                  <a:extLst>
                    <a:ext uri="{9D8B030D-6E8A-4147-A177-3AD203B41FA5}">
                      <a16:colId xmlns:a16="http://schemas.microsoft.com/office/drawing/2014/main" val="1099702609"/>
                    </a:ext>
                  </a:extLst>
                </a:gridCol>
              </a:tblGrid>
              <a:tr h="27083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2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SA</a:t>
                      </a:r>
                      <a:r>
                        <a:rPr lang="zh-TW" altLang="en-US" sz="2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                </a:t>
                      </a:r>
                      <a:r>
                        <a:rPr lang="en-US" altLang="zh-TW" sz="2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:11/4 ~ 11/15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2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DEV               :11/15 ~ 1/3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2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SIT</a:t>
                      </a:r>
                      <a:r>
                        <a:rPr lang="zh-TW" altLang="en-US" sz="2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                </a:t>
                      </a:r>
                      <a:r>
                        <a:rPr lang="en-US" altLang="zh-TW" sz="2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: 01/6~01/10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56104"/>
                  </a:ext>
                </a:extLst>
              </a:tr>
              <a:tr h="270838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zh-TW" sz="1800" b="1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930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52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R&amp;R</a:t>
            </a:r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23D791F-A553-D2BD-5DD9-2639D4E482EF}"/>
              </a:ext>
            </a:extLst>
          </p:cNvPr>
          <p:cNvSpPr txBox="1"/>
          <p:nvPr/>
        </p:nvSpPr>
        <p:spPr>
          <a:xfrm>
            <a:off x="3963629" y="1718520"/>
            <a:ext cx="6157450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800" b="1">
                <a:solidFill>
                  <a:schemeClr val="accent5">
                    <a:lumMod val="50000"/>
                  </a:schemeClr>
                </a:solidFill>
              </a:rPr>
              <a:t>SA</a:t>
            </a:r>
            <a:r>
              <a:rPr lang="zh-TW" altLang="en-US" sz="2800" b="1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TW" sz="2800" b="1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zh-TW" altLang="en-US" sz="2800" b="1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TW" sz="2800" b="1">
                <a:solidFill>
                  <a:schemeClr val="accent5">
                    <a:lumMod val="50000"/>
                  </a:schemeClr>
                </a:solidFill>
              </a:rPr>
              <a:t>Jason</a:t>
            </a:r>
            <a:r>
              <a:rPr lang="zh-TW" altLang="en-US" sz="2800" b="1">
                <a:solidFill>
                  <a:schemeClr val="accent5">
                    <a:lumMod val="50000"/>
                  </a:schemeClr>
                </a:solidFill>
              </a:rPr>
              <a:t> ，</a:t>
            </a:r>
            <a:r>
              <a:rPr lang="en-US" altLang="zh-TW" sz="2800" b="1">
                <a:solidFill>
                  <a:schemeClr val="accent5">
                    <a:lumMod val="50000"/>
                  </a:schemeClr>
                </a:solidFill>
              </a:rPr>
              <a:t>Eason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0D2D13D-0425-110B-0EA9-BF858E832C53}"/>
              </a:ext>
            </a:extLst>
          </p:cNvPr>
          <p:cNvSpPr txBox="1"/>
          <p:nvPr/>
        </p:nvSpPr>
        <p:spPr>
          <a:xfrm>
            <a:off x="3963629" y="2377355"/>
            <a:ext cx="6157450" cy="1954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800" b="1">
                <a:solidFill>
                  <a:schemeClr val="accent5">
                    <a:lumMod val="50000"/>
                  </a:schemeClr>
                </a:solidFill>
              </a:rPr>
              <a:t>SD : Brian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800" b="1">
                <a:solidFill>
                  <a:schemeClr val="accent5">
                    <a:lumMod val="50000"/>
                  </a:schemeClr>
                </a:solidFill>
              </a:rPr>
              <a:t>PG</a:t>
            </a:r>
            <a:r>
              <a:rPr lang="zh-TW" altLang="en-US" sz="2800" b="1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TW" sz="2800" b="1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zh-TW" altLang="en-US" sz="2800" b="1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TW" sz="2800" b="1">
                <a:solidFill>
                  <a:schemeClr val="bg1">
                    <a:lumMod val="50000"/>
                  </a:schemeClr>
                </a:solidFill>
              </a:rPr>
              <a:t>Michael </a:t>
            </a:r>
            <a:r>
              <a:rPr lang="zh-TW" altLang="en-US" sz="2800" b="1">
                <a:solidFill>
                  <a:schemeClr val="bg1">
                    <a:lumMod val="50000"/>
                  </a:schemeClr>
                </a:solidFill>
              </a:rPr>
              <a:t>， </a:t>
            </a:r>
            <a:r>
              <a:rPr lang="en-US" altLang="zh-TW" sz="2800" b="1">
                <a:solidFill>
                  <a:schemeClr val="bg1">
                    <a:lumMod val="50000"/>
                  </a:schemeClr>
                </a:solidFill>
              </a:rPr>
              <a:t>Aaron </a:t>
            </a:r>
            <a:br>
              <a:rPr lang="en-US" altLang="zh-TW" sz="2800" b="1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TW" sz="2800" b="1">
                <a:solidFill>
                  <a:schemeClr val="bg1">
                    <a:lumMod val="50000"/>
                  </a:schemeClr>
                </a:solidFill>
              </a:rPr>
              <a:t>        </a:t>
            </a:r>
            <a:r>
              <a:rPr lang="zh-TW" altLang="en-US" sz="2800" b="1">
                <a:solidFill>
                  <a:schemeClr val="bg1">
                    <a:lumMod val="50000"/>
                  </a:schemeClr>
                </a:solidFill>
              </a:rPr>
              <a:t>新人</a:t>
            </a:r>
            <a:endParaRPr lang="en-US" altLang="zh-TW" sz="2800" b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4188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2">
            <a:extLst>
              <a:ext uri="{FF2B5EF4-FFF2-40B4-BE49-F238E27FC236}">
                <a16:creationId xmlns:a16="http://schemas.microsoft.com/office/drawing/2014/main" id="{6AC96062-D8A1-A64C-5F01-AE42B83A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專案時程</a:t>
            </a: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C7FD70B6-E8CF-E00B-B407-172119421CE6}"/>
              </a:ext>
            </a:extLst>
          </p:cNvPr>
          <p:cNvCxnSpPr>
            <a:cxnSpLocks/>
          </p:cNvCxnSpPr>
          <p:nvPr/>
        </p:nvCxnSpPr>
        <p:spPr>
          <a:xfrm>
            <a:off x="736800" y="2780146"/>
            <a:ext cx="10841182" cy="0"/>
          </a:xfrm>
          <a:prstGeom prst="straightConnector1">
            <a:avLst/>
          </a:prstGeom>
          <a:ln w="984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1D7F61CA-4AAA-13AF-21EE-D5CAB8972846}"/>
              </a:ext>
            </a:extLst>
          </p:cNvPr>
          <p:cNvSpPr/>
          <p:nvPr/>
        </p:nvSpPr>
        <p:spPr>
          <a:xfrm>
            <a:off x="1370545" y="2564146"/>
            <a:ext cx="432000" cy="432000"/>
          </a:xfrm>
          <a:prstGeom prst="ellipse">
            <a:avLst/>
          </a:prstGeom>
          <a:solidFill>
            <a:srgbClr val="00B050"/>
          </a:solidFill>
          <a:ln>
            <a:solidFill>
              <a:srgbClr val="BF5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B684511-9622-75C8-DB22-E78B4B102072}"/>
              </a:ext>
            </a:extLst>
          </p:cNvPr>
          <p:cNvSpPr/>
          <p:nvPr/>
        </p:nvSpPr>
        <p:spPr>
          <a:xfrm>
            <a:off x="3265124" y="2564146"/>
            <a:ext cx="432000" cy="432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BF5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562A86F-9B22-BD7A-E7AC-D81428CBC067}"/>
              </a:ext>
            </a:extLst>
          </p:cNvPr>
          <p:cNvSpPr/>
          <p:nvPr/>
        </p:nvSpPr>
        <p:spPr>
          <a:xfrm>
            <a:off x="5464762" y="2536437"/>
            <a:ext cx="432000" cy="43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BF5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8156A58-84B9-CB51-1339-B8A836A2FEE0}"/>
              </a:ext>
            </a:extLst>
          </p:cNvPr>
          <p:cNvSpPr/>
          <p:nvPr/>
        </p:nvSpPr>
        <p:spPr>
          <a:xfrm>
            <a:off x="7416273" y="2536437"/>
            <a:ext cx="432000" cy="43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BF5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A113D8C1-2215-37C3-7701-7177DA684015}"/>
              </a:ext>
            </a:extLst>
          </p:cNvPr>
          <p:cNvSpPr/>
          <p:nvPr/>
        </p:nvSpPr>
        <p:spPr>
          <a:xfrm>
            <a:off x="9632473" y="2536437"/>
            <a:ext cx="432000" cy="43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BF5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F90F913-A6DD-A7D5-F1DB-DC77D82861CA}"/>
              </a:ext>
            </a:extLst>
          </p:cNvPr>
          <p:cNvSpPr txBox="1"/>
          <p:nvPr/>
        </p:nvSpPr>
        <p:spPr>
          <a:xfrm>
            <a:off x="948081" y="2003850"/>
            <a:ext cx="1276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9/13</a:t>
            </a:r>
          </a:p>
          <a:p>
            <a:pPr algn="ctr"/>
            <a:endParaRPr lang="zh-TW" altLang="en-US" b="1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F9CEF76-1F07-157D-290A-E5C1628077EE}"/>
              </a:ext>
            </a:extLst>
          </p:cNvPr>
          <p:cNvSpPr txBox="1"/>
          <p:nvPr/>
        </p:nvSpPr>
        <p:spPr>
          <a:xfrm>
            <a:off x="2405385" y="3145333"/>
            <a:ext cx="21514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Infra </a:t>
            </a:r>
          </a:p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系統環境架構研討</a:t>
            </a:r>
            <a:endParaRPr lang="en-US" altLang="zh-TW" b="1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b="1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 / SA</a:t>
            </a:r>
          </a:p>
          <a:p>
            <a:pPr algn="ctr"/>
            <a:endParaRPr lang="zh-TW" altLang="en-US" b="1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49EF5B4-CB07-D752-01A2-7098CD293B36}"/>
              </a:ext>
            </a:extLst>
          </p:cNvPr>
          <p:cNvSpPr txBox="1"/>
          <p:nvPr/>
        </p:nvSpPr>
        <p:spPr>
          <a:xfrm>
            <a:off x="5042298" y="1982868"/>
            <a:ext cx="12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2025/1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0FEF7B6-6777-8C1B-6A35-CC791DA71EE1}"/>
              </a:ext>
            </a:extLst>
          </p:cNvPr>
          <p:cNvSpPr txBox="1"/>
          <p:nvPr/>
        </p:nvSpPr>
        <p:spPr>
          <a:xfrm>
            <a:off x="2826069" y="2003850"/>
            <a:ext cx="12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12/3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5DA4362-D603-B6CE-6339-1DB9BDB536C6}"/>
              </a:ext>
            </a:extLst>
          </p:cNvPr>
          <p:cNvSpPr txBox="1"/>
          <p:nvPr/>
        </p:nvSpPr>
        <p:spPr>
          <a:xfrm>
            <a:off x="948081" y="3149050"/>
            <a:ext cx="1276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KickOff</a:t>
            </a:r>
            <a:endParaRPr lang="en-US" altLang="zh-TW" b="1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zh-TW" altLang="en-US" b="1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7AAD7F9-F665-A1C8-AC19-EB9C9F233620}"/>
              </a:ext>
            </a:extLst>
          </p:cNvPr>
          <p:cNvSpPr txBox="1"/>
          <p:nvPr/>
        </p:nvSpPr>
        <p:spPr>
          <a:xfrm>
            <a:off x="5043850" y="3145333"/>
            <a:ext cx="12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DEV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DADC3F5-CE7A-4CFE-3FB9-B774B5DAD7B8}"/>
              </a:ext>
            </a:extLst>
          </p:cNvPr>
          <p:cNvSpPr txBox="1"/>
          <p:nvPr/>
        </p:nvSpPr>
        <p:spPr>
          <a:xfrm>
            <a:off x="7041514" y="1984536"/>
            <a:ext cx="12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2025/5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DB6FCFD-31B1-A6E8-86DC-2E1B60A3C4EE}"/>
              </a:ext>
            </a:extLst>
          </p:cNvPr>
          <p:cNvSpPr txBox="1"/>
          <p:nvPr/>
        </p:nvSpPr>
        <p:spPr>
          <a:xfrm>
            <a:off x="7041513" y="3128275"/>
            <a:ext cx="12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SIT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D7355C4-9BC5-B988-9C3F-39227FAD4185}"/>
              </a:ext>
            </a:extLst>
          </p:cNvPr>
          <p:cNvSpPr txBox="1"/>
          <p:nvPr/>
        </p:nvSpPr>
        <p:spPr>
          <a:xfrm>
            <a:off x="9136515" y="1978815"/>
            <a:ext cx="12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2025/6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9562E80-6E28-537A-4F50-814AF8355F58}"/>
              </a:ext>
            </a:extLst>
          </p:cNvPr>
          <p:cNvSpPr txBox="1"/>
          <p:nvPr/>
        </p:nvSpPr>
        <p:spPr>
          <a:xfrm>
            <a:off x="9210009" y="3096009"/>
            <a:ext cx="12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UAT</a:t>
            </a:r>
          </a:p>
        </p:txBody>
      </p:sp>
    </p:spTree>
    <p:extLst>
      <p:ext uri="{BB962C8B-B14F-4D97-AF65-F5344CB8AC3E}">
        <p14:creationId xmlns:p14="http://schemas.microsoft.com/office/powerpoint/2010/main" val="3846360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網站基本資料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44184-A827-6010-9A8F-F2D70B83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1690445"/>
            <a:ext cx="10717121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4334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網站目錄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6F7331D-DAB8-139A-C231-9C6039C3C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5115"/>
            <a:ext cx="12192000" cy="176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15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網頁基本資料維護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BA08AC-314D-9B6F-CA92-2DED3F8A8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6439"/>
            <a:ext cx="12192000" cy="298512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E343844-3883-D67B-7167-D239509B83B7}"/>
              </a:ext>
            </a:extLst>
          </p:cNvPr>
          <p:cNvSpPr txBox="1"/>
          <p:nvPr/>
        </p:nvSpPr>
        <p:spPr>
          <a:xfrm>
            <a:off x="7479103" y="1100138"/>
            <a:ext cx="4528867" cy="700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功能區塊</a:t>
            </a:r>
            <a:endParaRPr lang="en-US" altLang="zh-TW" sz="1400" b="1">
              <a:solidFill>
                <a:schemeClr val="accent5">
                  <a:lumMod val="50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新版 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 修改 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 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設計  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TW" altLang="en-US" sz="1400" b="1">
                <a:solidFill>
                  <a:schemeClr val="accent6">
                    <a:lumMod val="75000"/>
                  </a:schemeClr>
                </a:solidFill>
              </a:rPr>
              <a:t>預覽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TW" altLang="en-US" sz="1400" b="1">
                <a:solidFill>
                  <a:srgbClr val="AF511F"/>
                </a:solidFill>
              </a:rPr>
              <a:t>送審 </a:t>
            </a:r>
            <a:r>
              <a:rPr lang="en-US" altLang="zh-TW" sz="1400" b="1">
                <a:solidFill>
                  <a:srgbClr val="AF511F"/>
                </a:solidFill>
              </a:rPr>
              <a:t>/</a:t>
            </a:r>
            <a:r>
              <a:rPr lang="zh-TW" altLang="en-US" sz="1400" b="1">
                <a:solidFill>
                  <a:srgbClr val="AF511F"/>
                </a:solidFill>
              </a:rPr>
              <a:t> 通過 </a:t>
            </a:r>
            <a:r>
              <a:rPr lang="en-US" altLang="zh-TW" sz="1400" b="1">
                <a:solidFill>
                  <a:srgbClr val="AF511F"/>
                </a:solidFill>
              </a:rPr>
              <a:t>/</a:t>
            </a:r>
            <a:r>
              <a:rPr lang="zh-TW" altLang="en-US" sz="1400" b="1">
                <a:solidFill>
                  <a:srgbClr val="AF511F"/>
                </a:solidFill>
              </a:rPr>
              <a:t> 駁回 </a:t>
            </a:r>
            <a:r>
              <a:rPr lang="en-US" altLang="zh-TW" sz="1400" b="1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TW" altLang="en-US" sz="1400" b="1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TW" altLang="en-US" sz="1400" b="1">
                <a:solidFill>
                  <a:schemeClr val="bg1">
                    <a:lumMod val="50000"/>
                  </a:schemeClr>
                </a:solidFill>
              </a:rPr>
              <a:t>發佈靜態 </a:t>
            </a:r>
            <a:endParaRPr lang="en-US" altLang="zh-TW" sz="1400" b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9841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網頁基本資料維護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新版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修改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DD97E1-CC3B-5718-50A8-FB519A75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948" y="993142"/>
            <a:ext cx="8569411" cy="565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306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網頁基本資料維護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設計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E8DCFD-C365-5B5E-6A58-1555A82F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601" y="1090286"/>
            <a:ext cx="5534797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214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網頁基本資料維護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設計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編輯元件資料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DD2731B-2CBE-B2EB-2BAF-33CDA7827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3176"/>
            <a:ext cx="10515600" cy="55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0497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網頁基本資料維護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設計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編輯元件資料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DD2731B-2CBE-B2EB-2BAF-33CDA7827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3176"/>
            <a:ext cx="10515600" cy="55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157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B80FE11-2500-62D1-2F41-E01E722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後台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網頁基本資料維護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設計 </a:t>
            </a: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zh-TW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編輯元件資料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DD2731B-2CBE-B2EB-2BAF-33CDA7827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3176"/>
            <a:ext cx="10515600" cy="55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90159"/>
      </p:ext>
    </p:extLst>
  </p:cSld>
  <p:clrMapOvr>
    <a:masterClrMapping/>
  </p:clrMapOvr>
</p:sld>
</file>

<file path=ppt/theme/theme1.xml><?xml version="1.0" encoding="utf-8"?>
<a:theme xmlns:a="http://schemas.openxmlformats.org/drawingml/2006/main" name="1台灣大哥大簡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6B54988516AD4289741B1754E9892E" ma:contentTypeVersion="3" ma:contentTypeDescription="Create a new document." ma:contentTypeScope="" ma:versionID="932c5a32ecc9908f7fa198fb1708f42b">
  <xsd:schema xmlns:xsd="http://www.w3.org/2001/XMLSchema" xmlns:xs="http://www.w3.org/2001/XMLSchema" xmlns:p="http://schemas.microsoft.com/office/2006/metadata/properties" xmlns:ns3="090422c1-93d7-4774-b327-835450e838b3" targetNamespace="http://schemas.microsoft.com/office/2006/metadata/properties" ma:root="true" ma:fieldsID="5a05a5db72ea507a252b48add233f331" ns3:_="">
    <xsd:import namespace="090422c1-93d7-4774-b327-835450e838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0422c1-93d7-4774-b327-835450e838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22CF83-DC6E-43E5-BCCE-44A7250577C8}">
  <ds:schemaRefs>
    <ds:schemaRef ds:uri="090422c1-93d7-4774-b327-835450e838b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40E13A8-99B3-430F-ABD3-64A9E79DFC4D}">
  <ds:schemaRefs>
    <ds:schemaRef ds:uri="090422c1-93d7-4774-b327-835450e838b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5574D7B-B5E7-4795-A2F7-BD052FEEF7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3" baseType="lpstr">
      <vt:lpstr>1台灣大哥大簡報</vt:lpstr>
      <vt:lpstr>PowerPoint Presentation</vt:lpstr>
      <vt:lpstr>Infra 系統環境架構說明 </vt:lpstr>
      <vt:lpstr>系統環境架構 </vt:lpstr>
      <vt:lpstr>系統環境架構 </vt:lpstr>
      <vt:lpstr>UC</vt:lpstr>
      <vt:lpstr>ERM</vt:lpstr>
      <vt:lpstr>ERM</vt:lpstr>
      <vt:lpstr>ERM</vt:lpstr>
      <vt:lpstr>後台管理</vt:lpstr>
      <vt:lpstr>後台 &gt; 登入</vt:lpstr>
      <vt:lpstr>後台 &gt; 登入</vt:lpstr>
      <vt:lpstr>後台 &gt; 系統管理 &gt; CD基本設定檔 </vt:lpstr>
      <vt:lpstr>後台 &gt; 系統管理 &gt;帳號管理    </vt:lpstr>
      <vt:lpstr>後台 &gt; 系統管理 &gt;維運單位管理    </vt:lpstr>
      <vt:lpstr>後台 &gt; 系統管理 &gt;帳號登入紀錄    </vt:lpstr>
      <vt:lpstr>後台 &gt; 系統管理 &gt; 後台目錄管理 </vt:lpstr>
      <vt:lpstr>後台 &gt; 系統管理 &gt;帳號目錄管理 </vt:lpstr>
      <vt:lpstr>後台 &gt; 系統管理 &gt;資料庫可視化</vt:lpstr>
      <vt:lpstr>後台 &gt; 網站基礎設定 &gt; Template管理 </vt:lpstr>
      <vt:lpstr>後台 &gt;網站基礎設定 &gt;網站基本資料  </vt:lpstr>
      <vt:lpstr>後台 &gt; 網站基礎設定 &gt;元件管理   </vt:lpstr>
      <vt:lpstr>後台 &gt; 密碼變更 &gt;密碼變更   </vt:lpstr>
      <vt:lpstr>後台 &gt; 網頁管理&gt; 網站選單管理</vt:lpstr>
      <vt:lpstr>後台 &gt; 網頁管理&gt; 網站頁面管理 (1) 新增/列表/查詢</vt:lpstr>
      <vt:lpstr>後台 &gt; 網頁管理&gt; 網站頁面管理 (2) 內容修改頁面</vt:lpstr>
      <vt:lpstr>後台 &gt; 網頁管理&gt; 網站頁面管理 (3)複製 </vt:lpstr>
      <vt:lpstr>後台 &gt; 網頁管理&gt; 網站頁面管理 (3-1) 元件規劃</vt:lpstr>
      <vt:lpstr>後台 &gt; 網頁管理&gt; 網站頁面管理 (3-2) 元件規劃-新增元件資料區 </vt:lpstr>
      <vt:lpstr>後台 &gt; 網頁管理&gt; 網站頁面管理 (4) 新版</vt:lpstr>
      <vt:lpstr>後台 &gt; 網頁管理&gt; 網站頁面管理 (5) 送審</vt:lpstr>
      <vt:lpstr>後台 &gt; 網頁管理&gt; 網站頁面管理 (6) 退回 / 通過 </vt:lpstr>
      <vt:lpstr>後台 &gt; 網頁管理&gt; 網站頁面管理 (7) 預覽</vt:lpstr>
      <vt:lpstr>PowerPoint Presentation</vt:lpstr>
      <vt:lpstr>PowerPoint Presentation</vt:lpstr>
      <vt:lpstr>活動頁面管理區塊</vt:lpstr>
      <vt:lpstr>後台 &gt; 網頁管理&gt; 活動頁面管理(1)新增/列表/查詢</vt:lpstr>
      <vt:lpstr>後台 &gt; 網頁管理&gt;活動頁面管理(2) 內容修改頁面(portal_website_event) )</vt:lpstr>
      <vt:lpstr>後台 &gt; 網頁管理&gt;活動頁面管理(3) 內容上稿</vt:lpstr>
      <vt:lpstr>後台 &gt; 網頁管理&gt;活動頁面管理(4) 送審</vt:lpstr>
      <vt:lpstr>後台 &gt; 網頁管理&gt;活動頁面管理(6) 預覽</vt:lpstr>
      <vt:lpstr>共用管理機制 &gt;文件資料管理</vt:lpstr>
      <vt:lpstr>後台 &gt; 共用管理機制 &gt; 文件類型管理</vt:lpstr>
      <vt:lpstr>後台 &gt;共用管理機制 &gt; 文件資料管理</vt:lpstr>
      <vt:lpstr>後台 &gt; 共用管理機制 &gt;貼標管理   </vt:lpstr>
      <vt:lpstr>後台 &gt; 共用管理機制 &gt;最新消息管理    </vt:lpstr>
      <vt:lpstr>後台 &gt; 共用管理機制 &gt;文章資料管理    </vt:lpstr>
      <vt:lpstr>後台 &gt; 共用管理機制 &gt;訊息發送資料    </vt:lpstr>
      <vt:lpstr>後台 &gt; 共用管理機制 &gt;活動資訊管理     </vt:lpstr>
      <vt:lpstr>後台 &gt; 共用管理機制 &gt;活動留資表單設定      </vt:lpstr>
      <vt:lpstr>後台 &gt; 共用管理機制 &gt;活動留資資料管理      </vt:lpstr>
      <vt:lpstr>JOB</vt:lpstr>
      <vt:lpstr>JOB 01– 通過審核4判斷有效時間後更新為上架狀態</vt:lpstr>
      <vt:lpstr>JOB 02– 將status=5且目前日期已失效更新為9</vt:lpstr>
      <vt:lpstr>JOB 03 – 刪除大於5個版本的頁面 NAS資料</vt:lpstr>
      <vt:lpstr>JOB 04–活動頁面資料將通過審核4判斷有效時間後更新為上架狀態</vt:lpstr>
      <vt:lpstr>JOB 05–活動頁面資料將status=5且目前日期已失效更新為9</vt:lpstr>
      <vt:lpstr>JOB 06 – 直接刪除已失效且大於60天的活動頁面</vt:lpstr>
      <vt:lpstr>JOB 07 – 移除已刪除且大於90天的文件檔案資料</vt:lpstr>
      <vt:lpstr>JOB 08 – 註記刪除90天未登入系統的帳號</vt:lpstr>
      <vt:lpstr>JOB-09 –發送訊息(單筆發送)</vt:lpstr>
      <vt:lpstr>JOB-10 UC 3.5.10 發送活動留資清單給PM </vt:lpstr>
      <vt:lpstr>JOB-11 UC 3.5.11 NAS house keeping (清除NAS上的無效檔案或資料) </vt:lpstr>
      <vt:lpstr>JOB 12 UC 3.5.12 每日將有效帳號與SSO確認是否有效 無效自動刪除</vt:lpstr>
      <vt:lpstr>JOB 13 UC 3.5.13 JOB 80天無登入或已開帳號日的為主 自動M+通知  哪天會刪除帳號 </vt:lpstr>
      <vt:lpstr>JOB 14 UC 3.5.14 自動檢測機制</vt:lpstr>
      <vt:lpstr>JOB 15 UC 3.5.15 自動清除job_log執行紀錄</vt:lpstr>
      <vt:lpstr>Api/web自動監控</vt:lpstr>
      <vt:lpstr>自動監控ERM    </vt:lpstr>
      <vt:lpstr>後台 &gt; 系統管理 &gt; UC 3.4.2.13 系統檢測主檔     </vt:lpstr>
      <vt:lpstr>後台 &gt; 系統管理 &gt; UC 3.4.2.14 系統檢測報表      </vt:lpstr>
      <vt:lpstr>後台 &gt; 系統管理 &gt; UC 3.4.2.15 系統檢測報表明細      </vt:lpstr>
      <vt:lpstr>ELK </vt:lpstr>
      <vt:lpstr>ELK</vt:lpstr>
      <vt:lpstr>預覽 </vt:lpstr>
      <vt:lpstr>PROD 預覽</vt:lpstr>
      <vt:lpstr>404</vt:lpstr>
      <vt:lpstr>404/系統錯誤預設頁面</vt:lpstr>
      <vt:lpstr>其他參考</vt:lpstr>
      <vt:lpstr>後台 &gt; XXX&gt; XXXX</vt:lpstr>
      <vt:lpstr>建立 彈性的 Portal 管理架構</vt:lpstr>
      <vt:lpstr>架構/範疇</vt:lpstr>
      <vt:lpstr>時程</vt:lpstr>
      <vt:lpstr>R&amp;R</vt:lpstr>
      <vt:lpstr>專案時程</vt:lpstr>
      <vt:lpstr>後台-網站基本資料</vt:lpstr>
      <vt:lpstr>後台 – 網站目錄</vt:lpstr>
      <vt:lpstr>後台 – 網頁基本資料維護</vt:lpstr>
      <vt:lpstr>後台 – 網頁基本資料維護 – 新版 / 修改</vt:lpstr>
      <vt:lpstr>後台 – 網頁基本資料維護 – 設計</vt:lpstr>
      <vt:lpstr>後台 – 網頁基本資料維護 – 設計 – 編輯元件資料</vt:lpstr>
      <vt:lpstr>後台 – 網頁基本資料維護 – 設計 – 編輯元件資料</vt:lpstr>
      <vt:lpstr>後台 – 網頁基本資料維護 – 設計 – 編輯元件資料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EasonTsai@taiwanmobile.com</dc:creator>
  <cp:revision>1</cp:revision>
  <dcterms:created xsi:type="dcterms:W3CDTF">2018-03-14T21:15:12Z</dcterms:created>
  <dcterms:modified xsi:type="dcterms:W3CDTF">2026-04-08T08:01:32Z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0x010100F16B54988516AD4289741B1754E9892E</vt:lpwstr>
  </property>
</Properties>
</file>